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d07d7df294460" /><Relationship Type="http://schemas.openxmlformats.org/officeDocument/2006/relationships/extended-properties" Target="/docProps/app.xml" Id="R5045a7895f7b4ce4" /><Relationship Type="http://schemas.openxmlformats.org/officeDocument/2006/relationships/officeDocument" Target="/ppt/presentation.xml" Id="R210405d1ed6343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9b132482c8437b"/>
  </p:sldMasterIdLst>
  <p:notesMasterIdLst>
    <p:notesMasterId xmlns:r="http://schemas.openxmlformats.org/officeDocument/2006/relationships" r:id="R79229519a2c94b53"/>
  </p:notesMasterIdLst>
  <p:sldIdLst>
    <p:sldId xmlns:r="http://schemas.openxmlformats.org/officeDocument/2006/relationships" id="256" r:id="Rc2d5cc4edf7d4db0"/>
    <p:sldId xmlns:r="http://schemas.openxmlformats.org/officeDocument/2006/relationships" id="257" r:id="Rb5ac8cf3cd3c4f31"/>
    <p:sldId xmlns:r="http://schemas.openxmlformats.org/officeDocument/2006/relationships" id="258" r:id="Rd62b573f6f3d4ba1"/>
    <p:sldId xmlns:r="http://schemas.openxmlformats.org/officeDocument/2006/relationships" id="259" r:id="R0a0e18e3e3094325"/>
    <p:sldId xmlns:r="http://schemas.openxmlformats.org/officeDocument/2006/relationships" id="260" r:id="Rf632f30a49d64f3e"/>
    <p:sldId xmlns:r="http://schemas.openxmlformats.org/officeDocument/2006/relationships" id="261" r:id="R2d99e68b5eaa47ac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6d07020c824824" /><Relationship Type="http://schemas.openxmlformats.org/officeDocument/2006/relationships/slideMaster" Target="/ppt/slideMasters/slideMaster1.xml" Id="R369b132482c8437b" /><Relationship Type="http://schemas.openxmlformats.org/officeDocument/2006/relationships/notesMaster" Target="/ppt/notesMasters/notesMaster1.xml" Id="R79229519a2c94b53" /><Relationship Type="http://schemas.openxmlformats.org/officeDocument/2006/relationships/presProps" Target="/ppt/presProps.xml" Id="R7750e597948a462a" /><Relationship Type="http://schemas.openxmlformats.org/officeDocument/2006/relationships/viewProps" Target="/ppt/viewProps.xml" Id="R52b8b599fae1455a" /><Relationship Type="http://schemas.openxmlformats.org/officeDocument/2006/relationships/tableStyles" Target="/ppt/tableStyles.xml" Id="R3be386da1b734504" /><Relationship Type="http://schemas.openxmlformats.org/officeDocument/2006/relationships/slide" Target="/ppt/slides/slide1.xml" Id="Rc2d5cc4edf7d4db0" /><Relationship Type="http://schemas.openxmlformats.org/officeDocument/2006/relationships/slide" Target="/ppt/slides/slide2.xml" Id="Rb5ac8cf3cd3c4f31" /><Relationship Type="http://schemas.openxmlformats.org/officeDocument/2006/relationships/slide" Target="/ppt/slides/slide3.xml" Id="Rd62b573f6f3d4ba1" /><Relationship Type="http://schemas.openxmlformats.org/officeDocument/2006/relationships/slide" Target="/ppt/slides/slide4.xml" Id="R0a0e18e3e3094325" /><Relationship Type="http://schemas.openxmlformats.org/officeDocument/2006/relationships/slide" Target="/ppt/slides/slide5.xml" Id="Rf632f30a49d64f3e" /><Relationship Type="http://schemas.openxmlformats.org/officeDocument/2006/relationships/slide" Target="/ppt/slides/slide6.xml" Id="R2d99e68b5eaa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35cc0f2358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deDoc Teal">
  <a:themeElements>
    <a:clrScheme name="CodeDoc Teal">
      <a:dk1>
        <a:srgbClr val="1B2A2F"/>
      </a:dk1>
      <a:lt1>
        <a:srgbClr val="FFFFFF"/>
      </a:lt1>
      <a:dk2>
        <a:srgbClr val="0B3C49"/>
      </a:dk2>
      <a:lt2>
        <a:srgbClr val="EAF4F4"/>
      </a:lt2>
      <a:accent1>
        <a:srgbClr val="028090"/>
      </a:accent1>
      <a:accent2>
        <a:srgbClr val="02C39A"/>
      </a:accent2>
      <a:accent3>
        <a:srgbClr val="F2A541"/>
      </a:accent3>
      <a:accent4>
        <a:srgbClr val="C8553D"/>
      </a:accent4>
      <a:accent5>
        <a:srgbClr val="4F5B66"/>
      </a:accent5>
      <a:accent6>
        <a:srgbClr val="00A896"/>
      </a:accent6>
      <a:hlink>
        <a:srgbClr val="028090"/>
      </a:hlink>
      <a:folHlink>
        <a:srgbClr val="4F5B66"/>
      </a:folHlink>
    </a:clrScheme>
    <a:fontScheme name="CodeDo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deDoc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1caea38a61400f" /><Relationship Type="http://schemas.openxmlformats.org/officeDocument/2006/relationships/notesMaster" Target="/ppt/notesMasters/notesMaster1.xml" Id="Rc395ec04c875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283986730494c" /><Relationship Type="http://schemas.openxmlformats.org/officeDocument/2006/relationships/notesMaster" Target="/ppt/notesMasters/notesMaster1.xml" Id="R3318727e3a8142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9f2d15aded4dd2" /><Relationship Type="http://schemas.openxmlformats.org/officeDocument/2006/relationships/notesMaster" Target="/ppt/notesMasters/notesMaster1.xml" Id="R567a3a3f5805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b1005eb10441ca" /><Relationship Type="http://schemas.openxmlformats.org/officeDocument/2006/relationships/notesMaster" Target="/ppt/notesMasters/notesMaster1.xml" Id="R5c4c775f27594f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4ebd0700994bb3" /><Relationship Type="http://schemas.openxmlformats.org/officeDocument/2006/relationships/notesMaster" Target="/ppt/notesMasters/notesMaster1.xml" Id="R293c1b4daa8d41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86988bfd96416a" /><Relationship Type="http://schemas.openxmlformats.org/officeDocument/2006/relationships/notesMaster" Target="/ppt/notesMasters/notesMaster1.xml" Id="R0794475af67546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Financial News Sentiment Analysis Using FinBERT. Akshat Agarwal, 202401100100028, CS-5A. Faculty: Kriti Sharma. KIET Group of Institutions, Ghaziabad. Live app: https://financial-sentiment-akshatog.streamlit.app/ GitHub: https://github.com/akshatog/financial-sentiment-finbert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FinBERT uses BERT-base with a sequence-classification head. This project does not fine-tune FinBERT. Source: https://huggingface.co/ProsusAI/finbert and its configuration.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https://huggingface.co/datasets/takala/financial_phrasebank . Raw 4,846 rows; six matching duplicates removed; four conflicting-label rows quarantined. Clean 4,836 rows. Seed 42 splits: 3,385 / 725 / 726, with zero normalized overlap. C=2 selected on validation macro F1. Evidence: outputs/dataset_audit.json and models/baseline_metadata.json.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come from outputs/evaluation.json. Majority class is selected from training labels only. The conventional baseline uses an untouched test partition. FinBERT was fine-tuned on Financial PhraseBank, so its diagnostic score is not an independent result or fair unseen-data ranking.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 training histories limit score comparisons. Independent human review of data/review/candidates.csv remains pending. No independent accuracy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4 mapping: BERT, self-attention, tokenization, inference and application integration. The conventional baseline is trained using supervised learning. Live app: https://financial-sentiment-akshatog.streamlit.app/ GitHub: https://github.com/akshatog/financial-sentiment-finbert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51242136a43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51224635546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80af9a4034f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7d9dc300c43d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DAR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840BE7-FE90-4ADA-A9A4-A9898257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</p:sp>
    </p:spTree>
  </p:cSld>
</p:sldLayout>
</file>

<file path=ppt/slideLayouts/slideLayout3.xml><?xml version="1.0" encoding="utf-8"?>
<p:sldLayout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292E6FF-F57B-4AFF-9CD9-2B486C8B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E70E3AC-C4FC-42FF-9350-7E38F700E3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3024D4-303B-499E-AD87-65B34AF2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51108B-6921-47E4-9F4C-FF769C90F9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B8D4D8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1004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f0f57931c49b4" /><Relationship Type="http://schemas.openxmlformats.org/officeDocument/2006/relationships/slideLayout" Target="/ppt/slideLayouts/slideLayout1.xml" Id="R7356fbc9e0b94cdc" /><Relationship Type="http://schemas.openxmlformats.org/officeDocument/2006/relationships/slideLayout" Target="/ppt/slideLayouts/slideLayout2.xml" Id="R327295529a934e29" /><Relationship Type="http://schemas.openxmlformats.org/officeDocument/2006/relationships/slideLayout" Target="/ppt/slideLayouts/slideLayout3.xml" Id="R2b004cc3ec2e4a65" /><Relationship Type="http://schemas.openxmlformats.org/officeDocument/2006/relationships/slideLayout" Target="/ppt/slideLayouts/slideLayout4.xml" Id="R7aeabc6030e04eb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33091D-1321-4F2E-A43F-10E029552EE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6fbc9e0b94cdc"/>
    <p:sldLayoutId xmlns:r="http://schemas.openxmlformats.org/officeDocument/2006/relationships" id="2147483650" r:id="R327295529a934e29"/>
    <p:sldLayoutId xmlns:r="http://schemas.openxmlformats.org/officeDocument/2006/relationships" id="2147483651" r:id="R2b004cc3ec2e4a65"/>
    <p:sldLayoutId xmlns:r="http://schemas.openxmlformats.org/officeDocument/2006/relationships" id="2147483652" r:id="R7aeabc6030e04eb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deDoc Teal">
  <a:themeElements>
    <a:clrScheme name="CodeDoc Teal">
      <a:dk1>
        <a:srgbClr val="1B2A2F"/>
      </a:dk1>
      <a:lt1>
        <a:srgbClr val="FFFFFF"/>
      </a:lt1>
      <a:dk2>
        <a:srgbClr val="0B3C49"/>
      </a:dk2>
      <a:lt2>
        <a:srgbClr val="EAF4F4"/>
      </a:lt2>
      <a:accent1>
        <a:srgbClr val="028090"/>
      </a:accent1>
      <a:accent2>
        <a:srgbClr val="02C39A"/>
      </a:accent2>
      <a:accent3>
        <a:srgbClr val="F2A541"/>
      </a:accent3>
      <a:accent4>
        <a:srgbClr val="C8553D"/>
      </a:accent4>
      <a:accent5>
        <a:srgbClr val="4F5B66"/>
      </a:accent5>
      <a:accent6>
        <a:srgbClr val="00A896"/>
      </a:accent6>
      <a:hlink>
        <a:srgbClr val="028090"/>
      </a:hlink>
      <a:folHlink>
        <a:srgbClr val="4F5B66"/>
      </a:folHlink>
    </a:clrScheme>
    <a:fontScheme name="CodeDo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deDoc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01f40bb4fa4717" /><Relationship Type="http://schemas.openxmlformats.org/officeDocument/2006/relationships/notesSlide" Target="/ppt/notesSlides/notesSlide1.xml" Id="R1465d468449e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d1bf470bb643e4" /><Relationship Type="http://schemas.openxmlformats.org/officeDocument/2006/relationships/notesSlide" Target="/ppt/notesSlides/notesSlide2.xml" Id="R8efd0e73bcdf42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2bd1136ec041e1" /><Relationship Type="http://schemas.openxmlformats.org/officeDocument/2006/relationships/notesSlide" Target="/ppt/notesSlides/notesSlide3.xml" Id="R7a0eb4a42991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dee2f92593430a" /><Relationship Type="http://schemas.openxmlformats.org/officeDocument/2006/relationships/notesSlide" Target="/ppt/notesSlides/notesSlide4.xml" Id="R3799a996ed09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83658badf845c1" /><Relationship Type="http://schemas.openxmlformats.org/officeDocument/2006/relationships/notesSlide" Target="/ppt/notesSlides/notesSlide5.xml" Id="Rcf5bb7a7c32945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2a4892c52824fda" /><Relationship Type="http://schemas.openxmlformats.org/officeDocument/2006/relationships/hyperlink" Target="https://financial-sentiment-akshatog.streamlit.app/" TargetMode="External" Id="R7cbf56b4d4654db3" /><Relationship Type="http://schemas.openxmlformats.org/officeDocument/2006/relationships/notesSlide" Target="/ppt/notesSlides/notesSlide6.xml" Id="R5f4046a4dd9b48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FD334D-6C6F-4547-9194-565D03D3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38404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l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Financial News</a:t>
            </a:r>
            <a:endParaRPr sz="4800"/>
          </a:p>
          <a:p xmlns:a="http://schemas.openxmlformats.org/drawingml/2006/main">
            <a:pPr marL="0" indent="0" algn="l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Sentiment Analysis</a:t>
            </a:r>
            <a:endParaRPr sz="4800"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3487B30-9D7D-4B5E-AAB9-97E95FA1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3840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accent2"/>
                </a:solidFill>
              </a:rPr>
              <a:t>Using FinBERT</a:t>
            </a:r>
            <a:endParaRPr sz="2200"/>
          </a:p>
        </p:txBody>
      </p:sp>
      <p:sp>
        <p:nvSpPr>
          <p:cNvPr id="4" name="IntroCard1">
            <a:extLst xmlns:a="http://schemas.openxmlformats.org/drawingml/2006/main">
              <a:ext uri="{FF2B5EF4-FFF2-40B4-BE49-F238E27FC236}">
                <a16:creationId xmlns:a16="http://schemas.microsoft.com/office/drawing/2014/main" id="{053ECDFF-BAB0-4164-B1DB-A77CFAC1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0292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5" name="IntroText1">
            <a:extLst xmlns:a="http://schemas.openxmlformats.org/drawingml/2006/main">
              <a:ext uri="{FF2B5EF4-FFF2-40B4-BE49-F238E27FC236}">
                <a16:creationId xmlns:a16="http://schemas.microsoft.com/office/drawing/2014/main" id="{0891CC08-D547-472F-BCA3-2CE0B4B1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7607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Task: </a:t>
            </a:r>
            <a:r>
              <a:rPr sz="1400">
                <a:solidFill>
                  <a:schemeClr val="bg1"/>
                </a:solidFill>
              </a:rPr>
              <a:t>Classifies short English financial text as positive, negative or neutral.</a:t>
            </a:r>
            <a:endParaRPr sz="1400"/>
          </a:p>
        </p:txBody>
      </p:sp>
      <p:sp>
        <p:nvSpPr>
          <p:cNvPr id="6" name="IntroCard2">
            <a:extLst xmlns:a="http://schemas.openxmlformats.org/drawingml/2006/main">
              <a:ext uri="{FF2B5EF4-FFF2-40B4-BE49-F238E27FC236}">
                <a16:creationId xmlns:a16="http://schemas.microsoft.com/office/drawing/2014/main" id="{BFF7FF86-6762-4F29-B0DC-DC6A4715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55448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7" name="IntroText2">
            <a:extLst xmlns:a="http://schemas.openxmlformats.org/drawingml/2006/main">
              <a:ext uri="{FF2B5EF4-FFF2-40B4-BE49-F238E27FC236}">
                <a16:creationId xmlns:a16="http://schemas.microsoft.com/office/drawing/2014/main" id="{1B4D781B-6A96-4B95-805C-9C2EDB57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2763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Model: </a:t>
            </a:r>
            <a:r>
              <a:rPr sz="1400">
                <a:solidFill>
                  <a:schemeClr val="bg1"/>
                </a:solidFill>
              </a:rPr>
              <a:t>Pretrained FinBERT, with a separately trained TF-IDF + logistic regression baseline.</a:t>
            </a:r>
            <a:endParaRPr sz="1400"/>
          </a:p>
        </p:txBody>
      </p:sp>
      <p:sp>
        <p:nvSpPr>
          <p:cNvPr id="8" name="IntroCard3">
            <a:extLst xmlns:a="http://schemas.openxmlformats.org/drawingml/2006/main">
              <a:ext uri="{FF2B5EF4-FFF2-40B4-BE49-F238E27FC236}">
                <a16:creationId xmlns:a16="http://schemas.microsoft.com/office/drawing/2014/main" id="{ABE17F41-3BB6-4FA8-B8E2-80BE671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0604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9" name="IntroText3">
            <a:extLst xmlns:a="http://schemas.openxmlformats.org/drawingml/2006/main">
              <a:ext uri="{FF2B5EF4-FFF2-40B4-BE49-F238E27FC236}">
                <a16:creationId xmlns:a16="http://schemas.microsoft.com/office/drawing/2014/main" id="{36859CBF-CB8C-48F8-AD1E-320DCFE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919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Stack: </a:t>
            </a:r>
            <a:r>
              <a:rPr sz="1400">
                <a:solidFill>
                  <a:schemeClr val="bg1"/>
                </a:solidFill>
              </a:rPr>
              <a:t>Python, Transformers, PyTorch, scikit-learn and Streamlit.</a:t>
            </a:r>
            <a:endParaRPr sz="1400"/>
          </a:p>
        </p:txBody>
      </p:sp>
      <p:sp>
        <p:nvSpPr>
          <p:cNvPr id="10" name="IntroCard4">
            <a:extLst xmlns:a="http://schemas.openxmlformats.org/drawingml/2006/main">
              <a:ext uri="{FF2B5EF4-FFF2-40B4-BE49-F238E27FC236}">
                <a16:creationId xmlns:a16="http://schemas.microsoft.com/office/drawing/2014/main" id="{5AB65858-3398-499C-AE07-57863BBC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402336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11" name="IntroText4">
            <a:extLst xmlns:a="http://schemas.openxmlformats.org/drawingml/2006/main">
              <a:ext uri="{FF2B5EF4-FFF2-40B4-BE49-F238E27FC236}">
                <a16:creationId xmlns:a16="http://schemas.microsoft.com/office/drawing/2014/main" id="{9A9C8D8F-4A4C-42B7-AC68-08DF0ADB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30752"/>
            <a:ext cx="36576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2"/>
                </a:solidFill>
              </a:rPr>
              <a:t>Objective: </a:t>
            </a:r>
            <a:r>
              <a:rPr sz="1400">
                <a:solidFill>
                  <a:schemeClr val="bg1"/>
                </a:solidFill>
              </a:rPr>
              <a:t>Build a usable sentiment app and evaluate its results with clear training-data limitations.</a:t>
            </a:r>
            <a:endParaRPr sz="1400"/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BFB99-9ABF-4FB1-8A45-667A16E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384048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Akshat Agarwal</a:t>
            </a:r>
          </a:p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 No. 202401100100028, CS-5A</a:t>
            </a:r>
          </a:p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Faculty: Kriti Sharma</a:t>
            </a:r>
          </a:p>
          <a:p xmlns:a="http://schemas.openxmlformats.org/drawingml/2006/main"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KIET Group of Institutions, Ghaziabad</a:t>
            </a:r>
          </a:p>
        </p:txBody>
      </p:sp>
    </p:spTree>
    <p:extLst>
      <p:ext uri="{BB962C8B-B14F-4D97-AF65-F5344CB8AC3E}">
        <p14:creationId xmlns:p14="http://schemas.microsoft.com/office/powerpoint/2010/main" val="1824890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EA9B43-9833-4DBD-8ED5-8ECA066E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How the Transformer Works</a:t>
            </a:r>
            <a:endParaRPr sz="3400"/>
          </a:p>
        </p:txBody>
      </p:sp>
      <p:sp>
        <p:nvSpPr>
          <p:cNvPr id="3" name="FlowBox1">
            <a:extLst xmlns:a="http://schemas.openxmlformats.org/drawingml/2006/main">
              <a:ext uri="{FF2B5EF4-FFF2-40B4-BE49-F238E27FC236}">
                <a16:creationId xmlns:a16="http://schemas.microsoft.com/office/drawing/2014/main" id="{67BF9B48-745E-4BB2-977F-C2A07CE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3C49"/>
          </a:solidFill>
        </p:spPr>
      </p:sp>
      <p:sp>
        <p:nvSpPr>
          <p:cNvPr id="4" name="FlowText1">
            <a:extLst xmlns:a="http://schemas.openxmlformats.org/drawingml/2006/main">
              <a:ext uri="{FF2B5EF4-FFF2-40B4-BE49-F238E27FC236}">
                <a16:creationId xmlns:a16="http://schemas.microsoft.com/office/drawing/2014/main" id="{6F5EFDC6-3ADF-44B9-9D48-D3A1F324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Financial Text</a:t>
            </a:r>
            <a:endParaRPr sz="1400"/>
          </a:p>
        </p:txBody>
      </p:sp>
      <p:sp>
        <p:nvSpPr>
          <p:cNvPr id="5" name="FlowArrow1">
            <a:extLst xmlns:a="http://schemas.openxmlformats.org/drawingml/2006/main">
              <a:ext uri="{FF2B5EF4-FFF2-40B4-BE49-F238E27FC236}">
                <a16:creationId xmlns:a16="http://schemas.microsoft.com/office/drawing/2014/main" id="{972B9DB0-BE05-42E0-B72A-713366C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6" name="FlowBox2">
            <a:extLst xmlns:a="http://schemas.openxmlformats.org/drawingml/2006/main">
              <a:ext uri="{FF2B5EF4-FFF2-40B4-BE49-F238E27FC236}">
                <a16:creationId xmlns:a16="http://schemas.microsoft.com/office/drawing/2014/main" id="{0B688A17-3F95-4DB6-8B77-CAEA3546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7" name="FlowText2">
            <a:extLst xmlns:a="http://schemas.openxmlformats.org/drawingml/2006/main">
              <a:ext uri="{FF2B5EF4-FFF2-40B4-BE49-F238E27FC236}">
                <a16:creationId xmlns:a16="http://schemas.microsoft.com/office/drawing/2014/main" id="{9691CDB4-A2BB-4187-86EB-A3745D05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704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Tokenization</a:t>
            </a:r>
            <a:endParaRPr sz="1400"/>
          </a:p>
        </p:txBody>
      </p:sp>
      <p:sp>
        <p:nvSpPr>
          <p:cNvPr id="8" name="FlowArrow2">
            <a:extLst xmlns:a="http://schemas.openxmlformats.org/drawingml/2006/main">
              <a:ext uri="{FF2B5EF4-FFF2-40B4-BE49-F238E27FC236}">
                <a16:creationId xmlns:a16="http://schemas.microsoft.com/office/drawing/2014/main" id="{FE3BE046-815B-4E7B-859F-1CE14097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9" name="FlowBox3">
            <a:extLst xmlns:a="http://schemas.openxmlformats.org/drawingml/2006/main">
              <a:ext uri="{FF2B5EF4-FFF2-40B4-BE49-F238E27FC236}">
                <a16:creationId xmlns:a16="http://schemas.microsoft.com/office/drawing/2014/main" id="{D4C80A5C-0736-4D29-9762-AA6E6BDC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FlowText3">
            <a:extLst xmlns:a="http://schemas.openxmlformats.org/drawingml/2006/main">
              <a:ext uri="{FF2B5EF4-FFF2-40B4-BE49-F238E27FC236}">
                <a16:creationId xmlns:a16="http://schemas.microsoft.com/office/drawing/2014/main" id="{391A241D-CF1C-44F7-89B3-37F861A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BERT Encoder</a:t>
            </a:r>
            <a:endParaRPr sz="1400"/>
          </a:p>
        </p:txBody>
      </p:sp>
      <p:sp>
        <p:nvSpPr>
          <p:cNvPr id="11" name="FlowArrow3">
            <a:extLst xmlns:a="http://schemas.openxmlformats.org/drawingml/2006/main">
              <a:ext uri="{FF2B5EF4-FFF2-40B4-BE49-F238E27FC236}">
                <a16:creationId xmlns:a16="http://schemas.microsoft.com/office/drawing/2014/main" id="{52600E4A-75DF-4ABE-B948-734EC5E9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12" name="FlowBox4">
            <a:extLst xmlns:a="http://schemas.openxmlformats.org/drawingml/2006/main">
              <a:ext uri="{FF2B5EF4-FFF2-40B4-BE49-F238E27FC236}">
                <a16:creationId xmlns:a16="http://schemas.microsoft.com/office/drawing/2014/main" id="{31BE3D46-7F95-49C7-831A-DC159BCB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3" name="FlowText4">
            <a:extLst xmlns:a="http://schemas.openxmlformats.org/drawingml/2006/main">
              <a:ext uri="{FF2B5EF4-FFF2-40B4-BE49-F238E27FC236}">
                <a16:creationId xmlns:a16="http://schemas.microsoft.com/office/drawing/2014/main" id="{283AED6D-4FCC-4B3E-B632-F3E21FF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Classification Head</a:t>
            </a:r>
            <a:endParaRPr sz="1400"/>
          </a:p>
        </p:txBody>
      </p:sp>
      <p:sp>
        <p:nvSpPr>
          <p:cNvPr id="14" name="FlowArrow4">
            <a:extLst xmlns:a="http://schemas.openxmlformats.org/drawingml/2006/main">
              <a:ext uri="{FF2B5EF4-FFF2-40B4-BE49-F238E27FC236}">
                <a16:creationId xmlns:a16="http://schemas.microsoft.com/office/drawing/2014/main" id="{D2F7AB04-7E3B-46C5-88A2-46B6479E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1417320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15" name="FlowBox5">
            <a:extLst xmlns:a="http://schemas.openxmlformats.org/drawingml/2006/main">
              <a:ext uri="{FF2B5EF4-FFF2-40B4-BE49-F238E27FC236}">
                <a16:creationId xmlns:a16="http://schemas.microsoft.com/office/drawing/2014/main" id="{479D278E-F07C-48D6-95C0-72F4D5C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188720"/>
            <a:ext cx="141732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3C49"/>
          </a:solidFill>
        </p:spPr>
      </p:sp>
      <p:sp>
        <p:nvSpPr>
          <p:cNvPr id="16" name="FlowText5">
            <a:extLst xmlns:a="http://schemas.openxmlformats.org/drawingml/2006/main">
              <a:ext uri="{FF2B5EF4-FFF2-40B4-BE49-F238E27FC236}">
                <a16:creationId xmlns:a16="http://schemas.microsoft.com/office/drawing/2014/main" id="{4D64A42A-E768-4E5A-89C1-FA360CB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188720"/>
            <a:ext cx="13258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Sentiment Label</a:t>
            </a:r>
            <a:endParaRPr sz="1400"/>
          </a:p>
        </p:txBody>
      </p:sp>
      <p:sp>
        <p:nvSpPr>
          <p:cNvPr id="17" name="StepCard1">
            <a:extLst xmlns:a="http://schemas.openxmlformats.org/drawingml/2006/main">
              <a:ext uri="{FF2B5EF4-FFF2-40B4-BE49-F238E27FC236}">
                <a16:creationId xmlns:a16="http://schemas.microsoft.com/office/drawing/2014/main" id="{FB590864-C535-4BC7-8AF5-7C097194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884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18" name="StepText1">
            <a:extLst xmlns:a="http://schemas.openxmlformats.org/drawingml/2006/main">
              <a:ext uri="{FF2B5EF4-FFF2-40B4-BE49-F238E27FC236}">
                <a16:creationId xmlns:a16="http://schemas.microsoft.com/office/drawing/2014/main" id="{1CE9218D-5222-48CA-A24B-3E9EB5AF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2286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Tokenization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Converts financial text into WordPiece token IDs.</a:t>
            </a:r>
            <a:endParaRPr sz="1600"/>
          </a:p>
        </p:txBody>
      </p:sp>
      <p:sp>
        <p:nvSpPr>
          <p:cNvPr id="19" name="StepCard2">
            <a:extLst xmlns:a="http://schemas.openxmlformats.org/drawingml/2006/main">
              <a:ext uri="{FF2B5EF4-FFF2-40B4-BE49-F238E27FC236}">
                <a16:creationId xmlns:a16="http://schemas.microsoft.com/office/drawing/2014/main" id="{4C404532-EEC1-45A1-8522-2BD482F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4884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0" name="StepText2">
            <a:extLst xmlns:a="http://schemas.openxmlformats.org/drawingml/2006/main">
              <a:ext uri="{FF2B5EF4-FFF2-40B4-BE49-F238E27FC236}">
                <a16:creationId xmlns:a16="http://schemas.microsoft.com/office/drawing/2014/main" id="{EC458E48-55EE-46DF-AAB3-8E0FE268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286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Encoder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Uses self-attention to represent words in their surrounding context.</a:t>
            </a:r>
            <a:endParaRPr sz="1600"/>
          </a:p>
        </p:txBody>
      </p:sp>
      <p:sp>
        <p:nvSpPr>
          <p:cNvPr id="21" name="StepCard3">
            <a:extLst xmlns:a="http://schemas.openxmlformats.org/drawingml/2006/main">
              <a:ext uri="{FF2B5EF4-FFF2-40B4-BE49-F238E27FC236}">
                <a16:creationId xmlns:a16="http://schemas.microsoft.com/office/drawing/2014/main" id="{48A0E3D3-894B-4588-AF5F-6A37A554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4884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2" name="StepText3">
            <a:extLst xmlns:a="http://schemas.openxmlformats.org/drawingml/2006/main">
              <a:ext uri="{FF2B5EF4-FFF2-40B4-BE49-F238E27FC236}">
                <a16:creationId xmlns:a16="http://schemas.microsoft.com/office/drawing/2014/main" id="{9C54A209-7999-493F-B5C6-B4C750BF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86000"/>
            <a:ext cx="2286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Classification head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Maps the encoded statement to three sentiment logits.</a:t>
            </a:r>
            <a:endParaRPr sz="1600"/>
          </a:p>
        </p:txBody>
      </p:sp>
      <p:sp>
        <p:nvSpPr>
          <p:cNvPr id="23" name="StepCard4">
            <a:extLst xmlns:a="http://schemas.openxmlformats.org/drawingml/2006/main">
              <a:ext uri="{FF2B5EF4-FFF2-40B4-BE49-F238E27FC236}">
                <a16:creationId xmlns:a16="http://schemas.microsoft.com/office/drawing/2014/main" id="{5AEF5009-7A92-4C55-A4D9-0BC1821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402336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4" name="StepText4">
            <a:extLst xmlns:a="http://schemas.openxmlformats.org/drawingml/2006/main">
              <a:ext uri="{FF2B5EF4-FFF2-40B4-BE49-F238E27FC236}">
                <a16:creationId xmlns:a16="http://schemas.microsoft.com/office/drawing/2014/main" id="{C3353E66-B836-4243-AC4A-F1264AF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Pretrained weights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FinBERT already used PhraseBank in fine-tuning. We perform inference without further fine-tuning.</a:t>
            </a:r>
            <a:endParaRPr sz="1600"/>
          </a:p>
        </p:txBody>
      </p:sp>
      <p:sp>
        <p:nvSpPr>
          <p:cNvPr id="25" name="StepCard5">
            <a:extLst xmlns:a="http://schemas.openxmlformats.org/drawingml/2006/main">
              <a:ext uri="{FF2B5EF4-FFF2-40B4-BE49-F238E27FC236}">
                <a16:creationId xmlns:a16="http://schemas.microsoft.com/office/drawing/2014/main" id="{1D3BFE58-FE5A-476B-B385-AA8748E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11880"/>
            <a:ext cx="402336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26" name="StepText5">
            <a:extLst xmlns:a="http://schemas.openxmlformats.org/drawingml/2006/main">
              <a:ext uri="{FF2B5EF4-FFF2-40B4-BE49-F238E27FC236}">
                <a16:creationId xmlns:a16="http://schemas.microsoft.com/office/drawing/2014/main" id="{29F85205-E0EB-4816-9C12-594D9AB9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4904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tx2"/>
                </a:solidFill>
              </a:rPr>
              <a:t>Inference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chemeClr val="tx1"/>
                </a:solidFill>
              </a:rPr>
              <a:t>Softmax produces three model scores. The highest named score selects the sentiment label.</a:t>
            </a:r>
            <a:endParaRPr sz="160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3CECE1-6C33-4064-A056-813B1A815CB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89563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4C088D-72BD-450F-9560-163BED62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Training Pipeline: Three Model Routes</a:t>
            </a:r>
            <a:endParaRPr sz="3400"/>
          </a:p>
        </p:txBody>
      </p:sp>
      <p:graphicFrame>
        <p:nvGraphicFramePr>
          <p:cNvPr id="4" name="ExperimentTable">
            <a:extLst xmlns:a="http://schemas.openxmlformats.org/drawingml/2006/main">
              <a:ext uri="{FF2B5EF4-FFF2-40B4-BE49-F238E27FC236}">
                <a16:creationId xmlns:a16="http://schemas.microsoft.com/office/drawing/2014/main" id="{7194ACA2-3DA5-49EE-A72C-7054B5597BD0}"/>
              </a:ext>
            </a:extLst>
          </p:cNvPr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2194560"/>
                <a:gridCol w="23774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Majority baseline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TF-IDF + logistic regression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Pretrained FinBERT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Representation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Class frequency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Word unigrams + bigrams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Contextual BERT features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Training here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Training-label counts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3,385 training rows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No project fine-tuning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Selection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Neutral majority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 = 2 on 725 validation rows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Published checkpoint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Main purpose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Simple reference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Trained baseline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Main application model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ChangeCard1">
            <a:extLst xmlns:a="http://schemas.openxmlformats.org/drawingml/2006/main">
              <a:ext uri="{FF2B5EF4-FFF2-40B4-BE49-F238E27FC236}">
                <a16:creationId xmlns:a16="http://schemas.microsoft.com/office/drawing/2014/main" id="{531B6F37-267F-4932-B88E-6D96D5EB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40233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5" name="ChangeText1">
            <a:extLst xmlns:a="http://schemas.openxmlformats.org/drawingml/2006/main">
              <a:ext uri="{FF2B5EF4-FFF2-40B4-BE49-F238E27FC236}">
                <a16:creationId xmlns:a16="http://schemas.microsoft.com/office/drawing/2014/main" id="{AC6A8DE3-5B5C-4D19-A995-235EA4B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73552"/>
            <a:ext cx="3657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chemeClr val="tx2"/>
                </a:solidFill>
              </a:rPr>
              <a:t>Majority to trained baseline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>
                <a:solidFill>
                  <a:schemeClr val="tx1"/>
                </a:solidFill>
              </a:rPr>
              <a:t>Learns word patterns from labeled data. The TF-IDF vocabulary fits on the training partition only.</a:t>
            </a:r>
            <a:endParaRPr sz="1400"/>
          </a:p>
        </p:txBody>
      </p:sp>
      <p:sp>
        <p:nvSpPr>
          <p:cNvPr id="6" name="ChangeCard2">
            <a:extLst xmlns:a="http://schemas.openxmlformats.org/drawingml/2006/main">
              <a:ext uri="{FF2B5EF4-FFF2-40B4-BE49-F238E27FC236}">
                <a16:creationId xmlns:a16="http://schemas.microsoft.com/office/drawing/2014/main" id="{CA5D9B68-D102-471F-8E70-861CE0C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54680"/>
            <a:ext cx="40233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7" name="ChangeText2">
            <a:extLst xmlns:a="http://schemas.openxmlformats.org/drawingml/2006/main">
              <a:ext uri="{FF2B5EF4-FFF2-40B4-BE49-F238E27FC236}">
                <a16:creationId xmlns:a16="http://schemas.microsoft.com/office/drawing/2014/main" id="{AA6451B8-20D3-48C9-97C9-54F1EE4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73552"/>
            <a:ext cx="3657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 b="1">
                <a:solidFill>
                  <a:schemeClr val="tx2"/>
                </a:solidFill>
              </a:rPr>
              <a:t>Baseline to FinBERT</a:t>
            </a:r>
            <a:endParaRPr sz="14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400">
                <a:solidFill>
                  <a:schemeClr val="tx1"/>
                </a:solidFill>
              </a:rPr>
              <a:t>Uses contextual pretrained representations. Its original PhraseBank exposure changes how we interpret the score.</a:t>
            </a:r>
            <a:endParaRPr sz="1400"/>
          </a:p>
        </p:txBody>
      </p:sp>
      <p:sp>
        <p:nvSpPr>
          <p:cNvPr id="8" name="Footnote">
            <a:extLst xmlns:a="http://schemas.openxmlformats.org/drawingml/2006/main">
              <a:ext uri="{FF2B5EF4-FFF2-40B4-BE49-F238E27FC236}">
                <a16:creationId xmlns:a16="http://schemas.microsoft.com/office/drawing/2014/main" id="{C3DC6734-F3CE-4B13-B4ED-53AB27A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chemeClr val="accent5"/>
                </a:solidFill>
              </a:rPr>
              <a:t>PhraseBank: 4,836 clean rows. Train / validation / test: 3,385 / 725 / 726. Seed 42.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E620319-2344-47FB-B2BE-F01B06ED12A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487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63295C-10C5-46F6-8307-A55CE7BC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Evaluation Results and Comparison</a:t>
            </a:r>
            <a:endParaRPr sz="3400"/>
          </a:p>
        </p:txBody>
      </p:sp>
      <p:sp>
        <p:nvSpPr>
          <p:cNvPr id="3" name="ResultCard1">
            <a:extLst xmlns:a="http://schemas.openxmlformats.org/drawingml/2006/main">
              <a:ext uri="{FF2B5EF4-FFF2-40B4-BE49-F238E27FC236}">
                <a16:creationId xmlns:a16="http://schemas.microsoft.com/office/drawing/2014/main" id="{09664018-59CF-45DD-8C44-CFFCC722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6032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6EAEC"/>
          </a:solidFill>
        </p:spPr>
      </p:sp>
      <p:sp>
        <p:nvSpPr>
          <p:cNvPr id="4" name="ResultName1">
            <a:extLst xmlns:a="http://schemas.openxmlformats.org/drawingml/2006/main">
              <a:ext uri="{FF2B5EF4-FFF2-40B4-BE49-F238E27FC236}">
                <a16:creationId xmlns:a16="http://schemas.microsoft.com/office/drawing/2014/main" id="{B77D4F20-5BD4-4725-A034-F4F78623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618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4F5B66"/>
                </a:solidFill>
              </a:rPr>
              <a:t>Majority baseline</a:t>
            </a:r>
            <a:endParaRPr sz="1400"/>
          </a:p>
        </p:txBody>
      </p:sp>
      <p:sp>
        <p:nvSpPr>
          <p:cNvPr id="5" name="RougeStat1">
            <a:extLst xmlns:a="http://schemas.openxmlformats.org/drawingml/2006/main">
              <a:ext uri="{FF2B5EF4-FFF2-40B4-BE49-F238E27FC236}">
                <a16:creationId xmlns:a16="http://schemas.microsoft.com/office/drawing/2014/main" id="{2954B619-87E9-4711-A22D-C8CD3EA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F5B66"/>
                </a:solidFill>
              </a:rPr>
              <a:t>Accuracy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4F5B66"/>
                </a:solidFill>
              </a:rPr>
              <a:t>59.37%</a:t>
            </a:r>
            <a:endParaRPr sz="1100"/>
          </a:p>
        </p:txBody>
      </p:sp>
      <p:sp>
        <p:nvSpPr>
          <p:cNvPr id="6" name="BleuStat1">
            <a:extLst xmlns:a="http://schemas.openxmlformats.org/drawingml/2006/main">
              <a:ext uri="{FF2B5EF4-FFF2-40B4-BE49-F238E27FC236}">
                <a16:creationId xmlns:a16="http://schemas.microsoft.com/office/drawing/2014/main" id="{CE6DC699-BD34-4F71-8F3E-496B2AE5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F5B66"/>
                </a:solidFill>
              </a:rPr>
              <a:t>Macro F1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4F5B66"/>
                </a:solidFill>
              </a:rPr>
              <a:t>24.83%</a:t>
            </a:r>
            <a:endParaRPr sz="1100"/>
          </a:p>
        </p:txBody>
      </p:sp>
      <p:sp>
        <p:nvSpPr>
          <p:cNvPr id="7" name="ResultTag1">
            <a:extLst xmlns:a="http://schemas.openxmlformats.org/drawingml/2006/main">
              <a:ext uri="{FF2B5EF4-FFF2-40B4-BE49-F238E27FC236}">
                <a16:creationId xmlns:a16="http://schemas.microsoft.com/office/drawing/2014/main" id="{2F6250AE-8B34-4CCD-96B0-0F57152D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1945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ResultTagText1">
            <a:extLst xmlns:a="http://schemas.openxmlformats.org/drawingml/2006/main">
              <a:ext uri="{FF2B5EF4-FFF2-40B4-BE49-F238E27FC236}">
                <a16:creationId xmlns:a16="http://schemas.microsoft.com/office/drawing/2014/main" id="{BEC1FDC8-94E2-4D55-80C4-324A9885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B2A2F"/>
                </a:solidFill>
              </a:rPr>
              <a:t>Simple reference</a:t>
            </a:r>
            <a:endParaRPr sz="1100"/>
          </a:p>
        </p:txBody>
      </p:sp>
      <p:sp>
        <p:nvSpPr>
          <p:cNvPr id="9" name="ResultCard2">
            <a:extLst xmlns:a="http://schemas.openxmlformats.org/drawingml/2006/main">
              <a:ext uri="{FF2B5EF4-FFF2-40B4-BE49-F238E27FC236}">
                <a16:creationId xmlns:a16="http://schemas.microsoft.com/office/drawing/2014/main" id="{283372BE-B59C-49B8-B2F8-530A8AC8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43000"/>
            <a:ext cx="256032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ResultName2">
            <a:extLst xmlns:a="http://schemas.openxmlformats.org/drawingml/2006/main">
              <a:ext uri="{FF2B5EF4-FFF2-40B4-BE49-F238E27FC236}">
                <a16:creationId xmlns:a16="http://schemas.microsoft.com/office/drawing/2014/main" id="{5BFCC15F-2DC9-4E5F-BEFD-5A18E1A2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2618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</a:rPr>
              <a:t>Trained TF-IDF + LR</a:t>
            </a:r>
            <a:endParaRPr sz="1400"/>
          </a:p>
        </p:txBody>
      </p:sp>
      <p:sp>
        <p:nvSpPr>
          <p:cNvPr id="11" name="RougeStat2">
            <a:extLst xmlns:a="http://schemas.openxmlformats.org/drawingml/2006/main">
              <a:ext uri="{FF2B5EF4-FFF2-40B4-BE49-F238E27FC236}">
                <a16:creationId xmlns:a16="http://schemas.microsoft.com/office/drawing/2014/main" id="{D19FC7C1-5C73-4B43-A9A3-37764737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Accuracy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</a:rPr>
              <a:t>75.76%</a:t>
            </a:r>
            <a:endParaRPr sz="1100"/>
          </a:p>
        </p:txBody>
      </p:sp>
      <p:sp>
        <p:nvSpPr>
          <p:cNvPr id="12" name="BleuStat2">
            <a:extLst xmlns:a="http://schemas.openxmlformats.org/drawingml/2006/main">
              <a:ext uri="{FF2B5EF4-FFF2-40B4-BE49-F238E27FC236}">
                <a16:creationId xmlns:a16="http://schemas.microsoft.com/office/drawing/2014/main" id="{635ABA7D-409F-46ED-ABC9-688D80C7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Macro F1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</a:rPr>
              <a:t>71.94%</a:t>
            </a:r>
            <a:endParaRPr sz="1100"/>
          </a:p>
        </p:txBody>
      </p:sp>
      <p:sp>
        <p:nvSpPr>
          <p:cNvPr id="13" name="ResultTag2">
            <a:extLst xmlns:a="http://schemas.openxmlformats.org/drawingml/2006/main">
              <a:ext uri="{FF2B5EF4-FFF2-40B4-BE49-F238E27FC236}">
                <a16:creationId xmlns:a16="http://schemas.microsoft.com/office/drawing/2014/main" id="{F8CE8488-8D7D-4AAC-9BE9-92735833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606040"/>
            <a:ext cx="21945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ResultTagText2">
            <a:extLst xmlns:a="http://schemas.openxmlformats.org/drawingml/2006/main">
              <a:ext uri="{FF2B5EF4-FFF2-40B4-BE49-F238E27FC236}">
                <a16:creationId xmlns:a16="http://schemas.microsoft.com/office/drawing/2014/main" id="{A731E9FB-435A-4AC4-804E-1F04D7A9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606040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3C49"/>
                </a:solidFill>
              </a:rPr>
              <a:t>Held-out test result</a:t>
            </a:r>
            <a:endParaRPr sz="1100"/>
          </a:p>
        </p:txBody>
      </p:sp>
      <p:sp>
        <p:nvSpPr>
          <p:cNvPr id="15" name="ResultCard3">
            <a:extLst xmlns:a="http://schemas.openxmlformats.org/drawingml/2006/main">
              <a:ext uri="{FF2B5EF4-FFF2-40B4-BE49-F238E27FC236}">
                <a16:creationId xmlns:a16="http://schemas.microsoft.com/office/drawing/2014/main" id="{28A117D3-5B64-49E8-94C8-FC8B18A5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43000"/>
            <a:ext cx="256032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16" name="ResultName3">
            <a:extLst xmlns:a="http://schemas.openxmlformats.org/drawingml/2006/main">
              <a:ext uri="{FF2B5EF4-FFF2-40B4-BE49-F238E27FC236}">
                <a16:creationId xmlns:a16="http://schemas.microsoft.com/office/drawing/2014/main" id="{BE6619BF-83FD-41F6-85C4-57F03439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618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3C49"/>
                </a:solidFill>
              </a:rPr>
              <a:t>Pretrained FinBERT</a:t>
            </a:r>
            <a:endParaRPr sz="1400"/>
          </a:p>
        </p:txBody>
      </p:sp>
      <p:sp>
        <p:nvSpPr>
          <p:cNvPr id="17" name="RougeStat3">
            <a:extLst xmlns:a="http://schemas.openxmlformats.org/drawingml/2006/main">
              <a:ext uri="{FF2B5EF4-FFF2-40B4-BE49-F238E27FC236}">
                <a16:creationId xmlns:a16="http://schemas.microsoft.com/office/drawing/2014/main" id="{3906CEA2-D7EA-46ED-867A-3AD6CE40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B3C49"/>
                </a:solidFill>
              </a:rPr>
              <a:t>Accuracy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3C49"/>
                </a:solidFill>
              </a:rPr>
              <a:t>88.15%</a:t>
            </a:r>
            <a:endParaRPr sz="1100"/>
          </a:p>
        </p:txBody>
      </p:sp>
      <p:sp>
        <p:nvSpPr>
          <p:cNvPr id="18" name="BleuStat3">
            <a:extLst xmlns:a="http://schemas.openxmlformats.org/drawingml/2006/main">
              <a:ext uri="{FF2B5EF4-FFF2-40B4-BE49-F238E27FC236}">
                <a16:creationId xmlns:a16="http://schemas.microsoft.com/office/drawing/2014/main" id="{C08DF732-5F84-4263-B21F-FD7F05D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645920"/>
            <a:ext cx="1097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B3C49"/>
                </a:solidFill>
              </a:rPr>
              <a:t>Macro F1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3C49"/>
                </a:solidFill>
              </a:rPr>
              <a:t>87.51%</a:t>
            </a:r>
            <a:endParaRPr sz="1100"/>
          </a:p>
        </p:txBody>
      </p:sp>
      <p:sp>
        <p:nvSpPr>
          <p:cNvPr id="19" name="ResultTag3">
            <a:extLst xmlns:a="http://schemas.openxmlformats.org/drawingml/2006/main">
              <a:ext uri="{FF2B5EF4-FFF2-40B4-BE49-F238E27FC236}">
                <a16:creationId xmlns:a16="http://schemas.microsoft.com/office/drawing/2014/main" id="{1FA3170E-C64D-48C0-86F0-4E559F3D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21945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2A541"/>
          </a:solidFill>
        </p:spPr>
      </p:sp>
      <p:sp>
        <p:nvSpPr>
          <p:cNvPr id="20" name="ResultTagText3">
            <a:extLst xmlns:a="http://schemas.openxmlformats.org/drawingml/2006/main">
              <a:ext uri="{FF2B5EF4-FFF2-40B4-BE49-F238E27FC236}">
                <a16:creationId xmlns:a16="http://schemas.microsoft.com/office/drawing/2014/main" id="{9DCAEB4E-59D6-4C97-8176-DF42F657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3C49"/>
                </a:solidFill>
              </a:rPr>
              <a:t>Prior-exposure diagnostic</a:t>
            </a:r>
            <a:endParaRPr sz="1100"/>
          </a:p>
        </p:txBody>
      </p:sp>
      <p:sp>
        <p:nvSpPr>
          <p:cNvPr id="2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54A05767-8763-4968-AD34-4C6747F8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 b="1">
                <a:solidFill>
                  <a:schemeClr val="tx1"/>
                </a:solidFill>
              </a:rPr>
              <a:t>Majority baseline: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>
                <a:solidFill>
                  <a:schemeClr val="tx1"/>
                </a:solidFill>
              </a:rPr>
              <a:t>predicts neutral for every sentence, showing the effect of class imbalance.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 b="1">
                <a:solidFill>
                  <a:schemeClr val="tx1"/>
                </a:solidFill>
              </a:rPr>
              <a:t>Trained baseline: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>
                <a:solidFill>
                  <a:schemeClr val="tx1"/>
                </a:solidFill>
              </a:rPr>
              <a:t>the 726 test rows were excluded from vocabulary fitting, training and model selection.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 b="1">
                <a:solidFill>
                  <a:schemeClr val="tx1"/>
                </a:solidFill>
              </a:rPr>
              <a:t>FinBERT: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>
                <a:solidFill>
                  <a:schemeClr val="tx1"/>
                </a:solidFill>
              </a:rPr>
              <a:t>original training included PhraseBank, so this is a diagnostic rather than a fair unseen-data comparison.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BB00618-5181-4B1D-B90C-85AB9D02470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3180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DBA25-E354-467A-93C5-2622CD2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tx2"/>
                </a:solidFill>
              </a:rPr>
              <a:t>Model Choice and Training Exposure</a:t>
            </a:r>
            <a:endParaRPr sz="3400"/>
          </a:p>
        </p:txBody>
      </p:sp>
      <p:graphicFrame>
        <p:nvGraphicFramePr>
          <p:cNvPr id="6" name="OutputComparisonTable">
            <a:extLst xmlns:a="http://schemas.openxmlformats.org/drawingml/2006/main">
              <a:ext uri="{FF2B5EF4-FFF2-40B4-BE49-F238E27FC236}">
                <a16:creationId xmlns:a16="http://schemas.microsoft.com/office/drawing/2014/main" id="{753AA829-8427-4F9E-B256-F61164EC954B}"/>
              </a:ext>
            </a:extLst>
          </p:cNvPr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Trained TF-IDF + LR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Pretrained FinBERT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Representation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Word-frequency n-grams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Contextual BERT features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Training here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Fitted on saved training split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No project fine-tuning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PhraseBank exposure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Only our training partition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Checkpoint trained on PhraseBank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Evaluation role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Held-out test measurement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Diagnostic with prior exposure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Known limitations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Limited context representation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B2A2F"/>
                          </a:solidFill>
                          <a:latin typeface="Calibri"/>
                          <a:ea typeface="Calibri"/>
                          <a:cs typeface="Calibri"/>
                        </a:rPr>
                        <a:t>Overlap limits generalization claims</a:t>
                      </a:r>
                      <a:endParaRPr sz="1200"/>
                    </a:p>
                  </a:txBody>
                  <a:tcPr marL="91440" marR="91440" marT="36576" marB="36576" anchor="ctr">
                    <a:lnL w="6350" cmpd="sng">
                      <a:solidFill>
                        <a:srgbClr val="C9DCDD"/>
                      </a:solidFill>
                      <a:prstDash val="solid"/>
                    </a:lnL>
                    <a:lnR w="6350" cmpd="sng">
                      <a:solidFill>
                        <a:srgbClr val="C9DCDD"/>
                      </a:solidFill>
                      <a:prstDash val="solid"/>
                    </a:lnR>
                    <a:lnT w="6350" cmpd="sng">
                      <a:solidFill>
                        <a:srgbClr val="C9DCDD"/>
                      </a:solidFill>
                      <a:prstDash val="solid"/>
                    </a:lnT>
                    <a:lnB w="6350" cmpd="sng">
                      <a:solidFill>
                        <a:srgbClr val="C9DC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KeyObservationCard">
            <a:extLst xmlns:a="http://schemas.openxmlformats.org/drawingml/2006/main">
              <a:ext uri="{FF2B5EF4-FFF2-40B4-BE49-F238E27FC236}">
                <a16:creationId xmlns:a16="http://schemas.microsoft.com/office/drawing/2014/main" id="{D6F7BB49-8591-4804-994D-C9AFB691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822960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4"/>
          </a:solidFill>
        </p:spPr>
      </p:sp>
      <p:sp>
        <p:nvSpPr>
          <p:cNvPr id="5" name="KeyObservation">
            <a:extLst xmlns:a="http://schemas.openxmlformats.org/drawingml/2006/main">
              <a:ext uri="{FF2B5EF4-FFF2-40B4-BE49-F238E27FC236}">
                <a16:creationId xmlns:a16="http://schemas.microsoft.com/office/drawing/2014/main" id="{E3B5796A-B253-48F8-9E13-A80B26BD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904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Key observation: </a:t>
            </a:r>
            <a:r>
              <a:rPr sz="1400">
                <a:solidFill>
                  <a:schemeClr val="tx1"/>
                </a:solidFill>
              </a:rPr>
              <a:t>a higher diagnostic score does not prove better generalization when training histories differ. New human-reviewed examples are needed for an independent comparison.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71502A9-E3EC-4954-B073-0C4FB8B024A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4F5B6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4832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E7F302-0776-44D0-8BED-C329413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chemeClr val="bg1"/>
                </a:solidFill>
              </a:rPr>
              <a:t>Conclusion and Unit Mapping</a:t>
            </a:r>
            <a:endParaRPr sz="3400"/>
          </a:p>
        </p:txBody>
      </p:sp>
      <p:sp>
        <p:nvSpPr>
          <p:cNvPr id="3" name="ConceptsPanel">
            <a:extLst xmlns:a="http://schemas.openxmlformats.org/drawingml/2006/main">
              <a:ext uri="{FF2B5EF4-FFF2-40B4-BE49-F238E27FC236}">
                <a16:creationId xmlns:a16="http://schemas.microsoft.com/office/drawing/2014/main" id="{C7FBBAD1-9105-4688-BAEA-EE45CD96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66160" cy="352044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4" name="ConceptsText">
            <a:extLst xmlns:a="http://schemas.openxmlformats.org/drawingml/2006/main">
              <a:ext uri="{FF2B5EF4-FFF2-40B4-BE49-F238E27FC236}">
                <a16:creationId xmlns:a16="http://schemas.microsoft.com/office/drawing/2014/main" id="{A7BAD0FF-288B-4F7D-B97F-B647A3C4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0160"/>
            <a:ext cx="3154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600" b="1">
                <a:solidFill>
                  <a:schemeClr val="accent2"/>
                </a:solidFill>
              </a:rPr>
              <a:t>Concepts demonstrated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Transformer encoder architecture and self-attention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WordPiece tokenization and pretrained inference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Supervised baseline training and validation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Accuracy, macro F1 and confusion matrices</a:t>
            </a:r>
            <a:endParaRPr sz="16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chemeClr val="bg1"/>
                </a:solidFill>
              </a:rPr>
              <a:t>Streamlit integration for text and CSV analysis</a:t>
            </a:r>
            <a:endParaRPr sz="1600"/>
          </a:p>
        </p:txBody>
      </p:sp>
      <p:sp>
        <p:nvSpPr>
          <p:cNvPr id="5" name="ConclusionPanel">
            <a:extLst xmlns:a="http://schemas.openxmlformats.org/drawingml/2006/main">
              <a:ext uri="{FF2B5EF4-FFF2-40B4-BE49-F238E27FC236}">
                <a16:creationId xmlns:a16="http://schemas.microsoft.com/office/drawing/2014/main" id="{12F890C6-D835-477C-AE4D-AE35646F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143000"/>
            <a:ext cx="4480560" cy="201168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6" name="ConclusionText">
            <a:extLst xmlns:a="http://schemas.openxmlformats.org/drawingml/2006/main">
              <a:ext uri="{FF2B5EF4-FFF2-40B4-BE49-F238E27FC236}">
                <a16:creationId xmlns:a16="http://schemas.microsoft.com/office/drawing/2014/main" id="{25BDDBB2-2DF1-4EDD-9134-A4B269BE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261872"/>
            <a:ext cx="4114800" cy="1783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accent2"/>
                </a:solidFill>
              </a:rPr>
              <a:t>Conclusion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The app applies pretrained FinBERT and a student-trained baseline. The baseline reaches 75.76% held-out accuracy. FinBERT's 88.15% PhraseBank score is a prior-exposure diagnostic.</a:t>
            </a:r>
            <a:endParaRPr sz="1600"/>
          </a:p>
        </p:txBody>
      </p:sp>
      <p:sp>
        <p:nvSpPr>
          <p:cNvPr id="7" name="FuturePanel">
            <a:extLst xmlns:a="http://schemas.openxmlformats.org/drawingml/2006/main">
              <a:ext uri="{FF2B5EF4-FFF2-40B4-BE49-F238E27FC236}">
                <a16:creationId xmlns:a16="http://schemas.microsoft.com/office/drawing/2014/main" id="{D043241F-AE26-4F70-9D0B-E9445213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291840"/>
            <a:ext cx="4480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chemeClr val="bg1">
              <a:alpha val="12000"/>
            </a:schemeClr>
          </a:solidFill>
        </p:spPr>
      </p:sp>
      <p:sp>
        <p:nvSpPr>
          <p:cNvPr id="8" name="FutureText">
            <a:extLst xmlns:a="http://schemas.openxmlformats.org/drawingml/2006/main">
              <a:ext uri="{FF2B5EF4-FFF2-40B4-BE49-F238E27FC236}">
                <a16:creationId xmlns:a16="http://schemas.microsoft.com/office/drawing/2014/main" id="{DC67C11F-C791-4EE8-A843-CAFD719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83280"/>
            <a:ext cx="4114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chemeClr val="accent3"/>
                </a:solidFill>
              </a:rPr>
              <a:t>Future scope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Complete human review of 30 new candidate sentences. Explore mixed sentiment and score calibration.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  <a:hlinkClick xmlns:r="http://schemas.openxmlformats.org/officeDocument/2006/relationships" r:id="R7cbf56b4d4654db3"/>
              </a:rPr>
              <a:t>Live demo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57A8A13-5111-4EF8-A4D5-0A6D8E17FCC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B8D4D8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129165"/>
      </p:ext>
    </p:extLst>
  </p:cSld>
</p:sld>
</file>

<file path=ppt/theme/theme1.xml><?xml version="1.0" encoding="utf-8"?>
<a:theme xmlns:a="http://schemas.openxmlformats.org/drawingml/2006/main" name="CodeDoc Teal">
  <a:themeElements>
    <a:clrScheme name="CodeDoc Teal">
      <a:dk1>
        <a:srgbClr val="1B2A2F"/>
      </a:dk1>
      <a:lt1>
        <a:srgbClr val="FFFFFF"/>
      </a:lt1>
      <a:dk2>
        <a:srgbClr val="0B3C49"/>
      </a:dk2>
      <a:lt2>
        <a:srgbClr val="EAF4F4"/>
      </a:lt2>
      <a:accent1>
        <a:srgbClr val="028090"/>
      </a:accent1>
      <a:accent2>
        <a:srgbClr val="02C39A"/>
      </a:accent2>
      <a:accent3>
        <a:srgbClr val="F2A541"/>
      </a:accent3>
      <a:accent4>
        <a:srgbClr val="C8553D"/>
      </a:accent4>
      <a:accent5>
        <a:srgbClr val="4F5B66"/>
      </a:accent5>
      <a:accent6>
        <a:srgbClr val="00A896"/>
      </a:accent6>
      <a:hlink>
        <a:srgbClr val="028090"/>
      </a:hlink>
      <a:folHlink>
        <a:srgbClr val="4F5B66"/>
      </a:folHlink>
    </a:clrScheme>
    <a:fontScheme name="CodeDo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deDoc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2026-10-29T07:32:08.1230000Z</dcterms:created>
  <dcterms:modified xsi:type="dcterms:W3CDTF">2026-10-29T07:32:08.1230000Z</dcterms:modified>
</coreProperties>
</file>