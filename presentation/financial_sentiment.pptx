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07bb3fa3a504c06" /><Relationship Type="http://schemas.openxmlformats.org/officeDocument/2006/relationships/extended-properties" Target="/docProps/app.xml" Id="Re1faae97a2f84d13" /><Relationship Type="http://schemas.openxmlformats.org/officeDocument/2006/relationships/officeDocument" Target="/ppt/presentation.xml" Id="Rc069d02cd0f24cb8" /></Relationships>
</file>

<file path=ppt/presentation.xml><?xml version="1.0" encoding="utf-8"?>
<p:presentation xmlns:p="http://schemas.openxmlformats.org/presentationml/2006/main">
  <p:sldMasterIdLst>
    <p:sldMasterId xmlns:r="http://schemas.openxmlformats.org/officeDocument/2006/relationships" id="2147483648" r:id="Rbc1ad41b88fd4441"/>
  </p:sldMasterIdLst>
  <p:notesMasterIdLst>
    <p:notesMasterId xmlns:r="http://schemas.openxmlformats.org/officeDocument/2006/relationships" r:id="R0a681eaad9434d23"/>
  </p:notesMasterIdLst>
  <p:sldIdLst>
    <p:sldId xmlns:r="http://schemas.openxmlformats.org/officeDocument/2006/relationships" id="256" r:id="Rd1b29829f1af48e3"/>
    <p:sldId xmlns:r="http://schemas.openxmlformats.org/officeDocument/2006/relationships" id="257" r:id="R80b4975beeda4396"/>
    <p:sldId xmlns:r="http://schemas.openxmlformats.org/officeDocument/2006/relationships" id="258" r:id="Rc1dcab4226484a1f"/>
    <p:sldId xmlns:r="http://schemas.openxmlformats.org/officeDocument/2006/relationships" id="259" r:id="R38e1ea60bc154f19"/>
    <p:sldId xmlns:r="http://schemas.openxmlformats.org/officeDocument/2006/relationships" id="260" r:id="R34172d307fb34e4d"/>
    <p:sldId xmlns:r="http://schemas.openxmlformats.org/officeDocument/2006/relationships" id="261" r:id="R5fad472f3a934d9b"/>
    <p:sldId xmlns:r="http://schemas.openxmlformats.org/officeDocument/2006/relationships" id="262" r:id="R27f9527ab39c493f"/>
    <p:sldId xmlns:r="http://schemas.openxmlformats.org/officeDocument/2006/relationships" id="263" r:id="R619c01de03114590"/>
    <p:sldId xmlns:r="http://schemas.openxmlformats.org/officeDocument/2006/relationships" id="264" r:id="R22d0f7bb48024c3c"/>
    <p:sldId xmlns:r="http://schemas.openxmlformats.org/officeDocument/2006/relationships" id="265" r:id="R48d8b82c3dd340b0"/>
    <p:sldId xmlns:r="http://schemas.openxmlformats.org/officeDocument/2006/relationships" id="266" r:id="R13411ddd9a2b4710"/>
    <p:sldId xmlns:r="http://schemas.openxmlformats.org/officeDocument/2006/relationships" id="267" r:id="Rbe412fdbf314498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5516897374645be" /><Relationship Type="http://schemas.openxmlformats.org/officeDocument/2006/relationships/slideMaster" Target="/ppt/slideMasters/slideMaster1.xml" Id="Rbc1ad41b88fd4441" /><Relationship Type="http://schemas.openxmlformats.org/officeDocument/2006/relationships/notesMaster" Target="/ppt/notesMasters/notesMaster1.xml" Id="R0a681eaad9434d23" /><Relationship Type="http://schemas.openxmlformats.org/officeDocument/2006/relationships/presProps" Target="/ppt/presProps.xml" Id="Rbfb323824b2b405e" /><Relationship Type="http://schemas.openxmlformats.org/officeDocument/2006/relationships/tableStyles" Target="/ppt/tableStyles.xml" Id="R874cdb4ae6d14809" /><Relationship Type="http://schemas.openxmlformats.org/officeDocument/2006/relationships/slide" Target="/ppt/slides/slide1.xml" Id="Rd1b29829f1af48e3" /><Relationship Type="http://schemas.openxmlformats.org/officeDocument/2006/relationships/slide" Target="/ppt/slides/slide2.xml" Id="R80b4975beeda4396" /><Relationship Type="http://schemas.openxmlformats.org/officeDocument/2006/relationships/slide" Target="/ppt/slides/slide3.xml" Id="Rc1dcab4226484a1f" /><Relationship Type="http://schemas.openxmlformats.org/officeDocument/2006/relationships/slide" Target="/ppt/slides/slide4.xml" Id="R38e1ea60bc154f19" /><Relationship Type="http://schemas.openxmlformats.org/officeDocument/2006/relationships/slide" Target="/ppt/slides/slide5.xml" Id="R34172d307fb34e4d" /><Relationship Type="http://schemas.openxmlformats.org/officeDocument/2006/relationships/slide" Target="/ppt/slides/slide6.xml" Id="R5fad472f3a934d9b" /><Relationship Type="http://schemas.openxmlformats.org/officeDocument/2006/relationships/slide" Target="/ppt/slides/slide7.xml" Id="R27f9527ab39c493f" /><Relationship Type="http://schemas.openxmlformats.org/officeDocument/2006/relationships/slide" Target="/ppt/slides/slide8.xml" Id="R619c01de03114590" /><Relationship Type="http://schemas.openxmlformats.org/officeDocument/2006/relationships/slide" Target="/ppt/slides/slide9.xml" Id="R22d0f7bb48024c3c" /><Relationship Type="http://schemas.openxmlformats.org/officeDocument/2006/relationships/slide" Target="/ppt/slides/slide10.xml" Id="R48d8b82c3dd340b0" /><Relationship Type="http://schemas.openxmlformats.org/officeDocument/2006/relationships/slide" Target="/ppt/slides/slide11.xml" Id="R13411ddd9a2b4710" /><Relationship Type="http://schemas.openxmlformats.org/officeDocument/2006/relationships/slide" Target="/ppt/slides/slide12.xml" Id="Rbe412fdbf314498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f4bc901749745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bef08d5b4684c0d" /><Relationship Type="http://schemas.openxmlformats.org/officeDocument/2006/relationships/notesMaster" Target="/ppt/notesMasters/notesMaster1.xml" Id="R8c53b1267155409d"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71d41f8ebd49a2" /><Relationship Type="http://schemas.openxmlformats.org/officeDocument/2006/relationships/notesMaster" Target="/ppt/notesMasters/notesMaster1.xml" Id="R25b91a5e34c846fc" /></Relationships>
</file>

<file path=ppt/notesSlides/_rels/notesSlide3.xml.rels>&#65279;<?xml version="1.0" encoding="utf-8"?><Relationships xmlns="http://schemas.openxmlformats.org/package/2006/relationships"><Relationship Type="http://schemas.openxmlformats.org/officeDocument/2006/relationships/slide" Target="/ppt/slides/slide3.xml" Id="R4fbb19b896ca4bdb" /><Relationship Type="http://schemas.openxmlformats.org/officeDocument/2006/relationships/notesMaster" Target="/ppt/notesMasters/notesMaster1.xml" Id="Rf8e635412b564d62" /></Relationships>
</file>

<file path=ppt/notesSlides/_rels/notesSlide4.xml.rels>&#65279;<?xml version="1.0" encoding="utf-8"?><Relationships xmlns="http://schemas.openxmlformats.org/package/2006/relationships"><Relationship Type="http://schemas.openxmlformats.org/officeDocument/2006/relationships/slide" Target="/ppt/slides/slide4.xml" Id="Rc0515c18037b425f" /><Relationship Type="http://schemas.openxmlformats.org/officeDocument/2006/relationships/notesMaster" Target="/ppt/notesMasters/notesMaster1.xml" Id="Rc6a47a1d9ea84661" /></Relationships>
</file>

<file path=ppt/notesSlides/_rels/notesSlide5.xml.rels>&#65279;<?xml version="1.0" encoding="utf-8"?><Relationships xmlns="http://schemas.openxmlformats.org/package/2006/relationships"><Relationship Type="http://schemas.openxmlformats.org/officeDocument/2006/relationships/slide" Target="/ppt/slides/slide5.xml" Id="Rdc6684c7dc3d4dfe" /><Relationship Type="http://schemas.openxmlformats.org/officeDocument/2006/relationships/notesMaster" Target="/ppt/notesMasters/notesMaster1.xml" Id="Rc37bc4f6c67c4b97" /></Relationships>
</file>

<file path=ppt/notesSlides/_rels/notesSlide6.xml.rels>&#65279;<?xml version="1.0" encoding="utf-8"?><Relationships xmlns="http://schemas.openxmlformats.org/package/2006/relationships"><Relationship Type="http://schemas.openxmlformats.org/officeDocument/2006/relationships/slide" Target="/ppt/slides/slide6.xml" Id="Rff9a3011ca5b42e7" /><Relationship Type="http://schemas.openxmlformats.org/officeDocument/2006/relationships/notesMaster" Target="/ppt/notesMasters/notesMaster1.xml" Id="R11cb5c67095b45c6" /></Relationships>
</file>

<file path=ppt/notesSlides/_rels/notesSlide7.xml.rels>&#65279;<?xml version="1.0" encoding="utf-8"?><Relationships xmlns="http://schemas.openxmlformats.org/package/2006/relationships"><Relationship Type="http://schemas.openxmlformats.org/officeDocument/2006/relationships/slide" Target="/ppt/slides/slide7.xml" Id="Rb29c6b209d714e69" /><Relationship Type="http://schemas.openxmlformats.org/officeDocument/2006/relationships/notesMaster" Target="/ppt/notesMasters/notesMaster1.xml" Id="R2590dc964b164cb1" /></Relationships>
</file>

<file path=ppt/notesSlides/_rels/notesSlide8.xml.rels>&#65279;<?xml version="1.0" encoding="utf-8"?><Relationships xmlns="http://schemas.openxmlformats.org/package/2006/relationships"><Relationship Type="http://schemas.openxmlformats.org/officeDocument/2006/relationships/slide" Target="/ppt/slides/slide8.xml" Id="Ra5e5805c1ded4cb6" /><Relationship Type="http://schemas.openxmlformats.org/officeDocument/2006/relationships/notesMaster" Target="/ppt/notesMasters/notesMaster1.xml" Id="Rda74fc649b8b4acb" /></Relationships>
</file>

<file path=ppt/notesSlides/_rels/notesSlide9.xml.rels>&#65279;<?xml version="1.0" encoding="utf-8"?><Relationships xmlns="http://schemas.openxmlformats.org/package/2006/relationships"><Relationship Type="http://schemas.openxmlformats.org/officeDocument/2006/relationships/slide" Target="/ppt/slides/slide9.xml" Id="Rf479266795b94db9" /><Relationship Type="http://schemas.openxmlformats.org/officeDocument/2006/relationships/notesMaster" Target="/ppt/notesMasters/notesMaster1.xml" Id="R0bc58223cad24f2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c3ebb2ff21c498b" /><Relationship Type="http://schemas.openxmlformats.org/officeDocument/2006/relationships/notesMaster" Target="/ppt/notesMasters/notesMaster1.xml" Id="R96b4c4b4ee734d5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e8ee0ffc4864c74" /><Relationship Type="http://schemas.openxmlformats.org/officeDocument/2006/relationships/notesMaster" Target="/ppt/notesMasters/notesMaster1.xml" Id="R76414754cd284dc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f39a1860eea4770" /><Relationship Type="http://schemas.openxmlformats.org/officeDocument/2006/relationships/notesMaster" Target="/ppt/notesMasters/notesMaster1.xml" Id="Re9688a4f83e6492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application classifies short English financial statements. The project trains the conventional baseline and uses downloaded FinBERT weights without additional transformer training. Sources: https://huggingface.co/ProsusAI/finbert ; https://huggingface.co/datasets/takala/financial_phrasebank ; https://arxiv.org/abs/1810.04805 ; https://arxiv.org/abs/1908.10063. Project evidence: outputs/dataset_audit.json, models/baseline_metadata.json, outputs/evaluation.json.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examples are self-authored demonstrations with intended interpretations. They are not independent benchmark labels. Financial sentiment concerns the statement and entity described, rather than a guaranteed market reaction.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Text and CSV input share validation and prediction logic. FinBERT loads once for reuse. The baseline stores TF-IDF and logistic regression in one fitted pipeline. Sources: https://huggingface.co/ProsusAI/finbert ; https://huggingface.co/datasets/takala/financial_phrasebank ; https://arxiv.org/abs/1810.04805 ; https://arxiv.org/abs/1908.10063. Project evidence: outputs/dataset_audit.json, models/baseline_metadata.json, outputs/evaluation.json.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raw 50Agree subset has 4,846 rows: neutral 2,879, positive 1,363 and negative 604. This chart uses the cleaned canonical rows recorded by the preparation script. The agreement threshold concerns annotators. The other agreement subsets overlap and cannot act as independent test sets. Sources: https://huggingface.co/ProsusAI/finbert ; https://huggingface.co/datasets/takala/financial_phrasebank ; https://arxiv.org/abs/1810.04805 ; https://arxiv.org/abs/1908.10063. Project evidence: outputs/dataset_audit.json, models/baseline_metadata.json, outputs/evaluation.json.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Partition counts come directly from outputs/dataset_audit.json. Preparation handles normalized duplicate text before splitting. No fitted TF-IDF vocabulary sees validation or test text. Random partitions do not establish temporal or company-level independence. Sources: https://huggingface.co/ProsusAI/finbert ; https://huggingface.co/datasets/takala/financial_phrasebank ; https://arxiv.org/abs/1810.04805 ; https://arxiv.org/abs/1908.10063. Project evidence: outputs/dataset_audit.json, models/baseline_metadata.json, outputs/evaluation.json.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FinBERT is based on BERT base, with a three-class sequence classification head. The model card reports 12 encoder layers, hidden size 768 and 12 attention heads. The project uses pretrained weights without further fine-tuning. Its model configuration supplies named label mapping. Sources: https://huggingface.co/ProsusAI/finbert ; https://huggingface.co/datasets/takala/financial_phrasebank ; https://arxiv.org/abs/1810.04805 ; https://arxiv.org/abs/1908.10063. Project evidence: outputs/dataset_audit.json, models/baseline_metadata.json, outputs/evaluation.json.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candidates fit only the training split. The project chooses C using validation macro F1, then evaluates the selected saved pipeline on the held-out test partition. Sources: https://huggingface.co/ProsusAI/finbert ; https://huggingface.co/datasets/takala/financial_phrasebank ; https://arxiv.org/abs/1810.04805 ; https://arxiv.org/abs/1908.10063. Project evidence: outputs/dataset_audit.json, models/baseline_metadata.json, outputs/evaluation.json.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demo: analyse a positive financial example, compare the baseline, then upload data/examples/demo_news.csv and download results. The CSV includes an intentionally blank row. Scores are model outputs rather than calibrated guarantees. FinBERT rejects text exceeding 512 tokenizer tokens including special tokens.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 partition: 726 examples. Both displayed models use exactly the same held-out partition. The majority predictor always returns the most common training label. Raw metrics: {"baseline":{"accuracy":0.7575757575757576,"macro_f1":0.7194077658852299},"majority":{"accuracy":0.59366391184573,"macro_f1":0.24834341688274272}}. Sources: https://huggingface.co/ProsusAI/finbert ; https://huggingface.co/datasets/takala/financial_phrasebank ; https://arxiv.org/abs/1810.04805 ; https://arxiv.org/abs/1908.10063. Project evidence: outputs/dataset_audit.json, models/baseline_metadata.json, outputs/evaluation.json.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confusion matrix uses actual labels in rows and predicted labels in columns. It comes directly from outputs/evaluation.json. Per-class performance must be considered alongside overall accuracy. Sources: https://huggingface.co/ProsusAI/finbert ; https://huggingface.co/datasets/takala/financial_phrasebank ; https://arxiv.org/abs/1810.04805 ; https://arxiv.org/abs/1908.10063. Project evidence: outputs/dataset_audit.json, models/baseline_metadata.json, outputs/evaluation.json.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ProsusAI/finbert model card explicitly states Financial PhraseBank sentiment fine-tuning. Our local split cannot establish that any PhraseBank row was unseen by the published checkpoint. Therefore this metric is a diagnostic with prior training exposure and is not a fair unseen-data comparison against the trained baseline. Sources: https://huggingface.co/ProsusAI/finbert ; https://huggingface.co/datasets/takala/financial_phrasebank ; https://arxiv.org/abs/1810.04805 ; https://arxiv.org/abs/1908.10063. Project evidence: outputs/dataset_audit.json, models/baseline_metadata.json, outputs/evaluation.json.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Future work needs independently sourced financial sentences, human labels frozen before predictions, overlap checks, and evaluation once. FinBERT weights use CC BY-NC-SA 4.0 and PhraseBank CC BY-NC-SA 3.0, according to their current cards. Original project code has a separate MIT license. Sources: https://huggingface.co/ProsusAI/finbert ; https://huggingface.co/datasets/takala/financial_phrasebank ; https://arxiv.org/abs/1810.04805 ; https://arxiv.org/abs/1908.10063. Project evidence: outputs/dataset_audit.json, models/baseline_metadata.json, outputs/evaluation.json.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ec57a6df59e41a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6a1843062bb40f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9c139048f3547c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b6cecd52d7e477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acbad9351ee46e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594e71e1f71481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1144952-CCA3-4F99-8201-5EB71F736FE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E37C86A-237C-4EAB-926E-6A9FA83F8EC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7B599A2-B0EA-4C3B-B49C-F4FED61C87F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DBE34B-5EF2-47F1-9D15-82E5E0DA7F9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9B22B39-9B8A-4F64-AB6A-31337FB20E8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E11ECCA-E53C-44B1-9139-2E4DF75583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1D05C3-25A2-4997-9093-05DF947A143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EBB4441-B259-4580-8B26-09E38294F88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426CBA0-8E73-434C-80FA-B829A573B84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2C01156-B951-4A60-83B0-2334A44ACA4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c9bcc95ff564012" /><Relationship Type="http://schemas.openxmlformats.org/officeDocument/2006/relationships/slideLayout" Target="/ppt/slideLayouts/slideLayout1.xml" Id="R7e375ab1818441d0" /><Relationship Type="http://schemas.openxmlformats.org/officeDocument/2006/relationships/slideLayout" Target="/ppt/slideLayouts/slideLayout2.xml" Id="R564e67dbbb63407e" /><Relationship Type="http://schemas.openxmlformats.org/officeDocument/2006/relationships/slideLayout" Target="/ppt/slideLayouts/slideLayout3.xml" Id="R1025f816a1754764" /><Relationship Type="http://schemas.openxmlformats.org/officeDocument/2006/relationships/slideLayout" Target="/ppt/slideLayouts/slideLayout4.xml" Id="R1ce5c52ab2a14811" /><Relationship Type="http://schemas.openxmlformats.org/officeDocument/2006/relationships/slideLayout" Target="/ppt/slideLayouts/slideLayout5.xml" Id="Rd205569e379b4dbc" /><Relationship Type="http://schemas.openxmlformats.org/officeDocument/2006/relationships/slideLayout" Target="/ppt/slideLayouts/slideLayout6.xml" Id="R64b7c26671c04a3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e375ab1818441d0"/>
    <p:sldLayoutId xmlns:r="http://schemas.openxmlformats.org/officeDocument/2006/relationships" id="2147483650" r:id="R564e67dbbb63407e"/>
    <p:sldLayoutId xmlns:r="http://schemas.openxmlformats.org/officeDocument/2006/relationships" id="2147483651" r:id="R1025f816a1754764"/>
    <p:sldLayoutId xmlns:r="http://schemas.openxmlformats.org/officeDocument/2006/relationships" id="2147483652" r:id="R1ce5c52ab2a14811"/>
    <p:sldLayoutId xmlns:r="http://schemas.openxmlformats.org/officeDocument/2006/relationships" id="2147483653" r:id="Rd205569e379b4dbc"/>
    <p:sldLayoutId xmlns:r="http://schemas.openxmlformats.org/officeDocument/2006/relationships" id="2147483654" r:id="R64b7c26671c04a3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f1055c7fe204396" /><Relationship Type="http://schemas.openxmlformats.org/officeDocument/2006/relationships/notesSlide" Target="/ppt/notesSlides/notesSlide1.xml" Id="R39fa0dd2b2f3470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1f38ba805724b59" /><Relationship Type="http://schemas.openxmlformats.org/officeDocument/2006/relationships/notesSlide" Target="/ppt/notesSlides/notesSlide2.xml" Id="R70b0bf399cb142b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c7bd32f4d9446df" /><Relationship Type="http://schemas.openxmlformats.org/officeDocument/2006/relationships/notesSlide" Target="/ppt/notesSlides/notesSlide3.xml" Id="R71bebb3092ae406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7f9e8e28c8042cb" /><Relationship Type="http://schemas.openxmlformats.org/officeDocument/2006/relationships/chart" Target="/ppt/slides/charts/chart1.xml" Id="R7db8a47bc651412d" /><Relationship Type="http://schemas.openxmlformats.org/officeDocument/2006/relationships/notesSlide" Target="/ppt/notesSlides/notesSlide4.xml" Id="R3bcfd660abf54e0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7edf1ea3edb40ee" /><Relationship Type="http://schemas.openxmlformats.org/officeDocument/2006/relationships/notesSlide" Target="/ppt/notesSlides/notesSlide5.xml" Id="Rf6a332efe5504cd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762af1c1293490f" /><Relationship Type="http://schemas.openxmlformats.org/officeDocument/2006/relationships/notesSlide" Target="/ppt/notesSlides/notesSlide6.xml" Id="Reb5f0dacfa06473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751807000f14671" /><Relationship Type="http://schemas.openxmlformats.org/officeDocument/2006/relationships/notesSlide" Target="/ppt/notesSlides/notesSlide7.xml" Id="R860c99f5346541c3" /></Relationships>
</file>

<file path=ppt/slides/_rels/slide8.xml.rels><?xml version='1.0' encoding='utf-8'?>
<ns0:Relationships xmlns:ns0="http://schemas.openxmlformats.org/package/2006/relationships"><ns0:Relationship Type="http://schemas.openxmlformats.org/officeDocument/2006/relationships/slideLayout" Target="/ppt/slideLayouts/slideLayout6.xml" Id="Rcbd31a64321143e8" /><ns0:Relationship Type="http://schemas.openxmlformats.org/officeDocument/2006/relationships/image" Target="/ppt/media/image.jpeg" Id="R6b61370d64ed45e3" /><ns0:Relationship Type="http://schemas.openxmlformats.org/officeDocument/2006/relationships/notesSlide" Target="/ppt/notesSlides/notesSlide8.xml" Id="R737c3e1dd9d34428" /><ns0:Relationship Type="http://schemas.openxmlformats.org/officeDocument/2006/relationships/hyperlink" Target="https://financial-sentiment-akshatog.streamlit.app/" TargetMode="External" Id="rId1" /></ns0: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08b3efdda5a4eaa" /><Relationship Type="http://schemas.openxmlformats.org/officeDocument/2006/relationships/chart" Target="/ppt/slides/charts/chart2.xml" Id="Rcb6218d3c6a44eb3" /><Relationship Type="http://schemas.openxmlformats.org/officeDocument/2006/relationships/notesSlide" Target="/ppt/notesSlides/notesSlide9.xml" Id="R8c383eafb6274ab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fd6ae8032ed47cc" /><Relationship Type="http://schemas.openxmlformats.org/officeDocument/2006/relationships/notesSlide" Target="/ppt/notesSlides/notesSlide10.xml" Id="R1497cf854ec844e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ab316ba66d645c3" /><Relationship Type="http://schemas.openxmlformats.org/officeDocument/2006/relationships/notesSlide" Target="/ppt/notesSlides/notesSlide11.xml" Id="R3ade1c6073ff46e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4c59aca3330487b" /><Relationship Type="http://schemas.openxmlformats.org/officeDocument/2006/relationships/notesSlide" Target="/ppt/notesSlides/notesSlide12.xml" Id="R7e7e8fe49e4348a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Clean examples</c:v>
          </c:tx>
          <c:spPr>
            <a:solidFill xmlns:a="http://schemas.openxmlformats.org/drawingml/2006/main">
              <a:srgbClr val="007C83"/>
            </a:solidFill>
          </c:spPr>
          <c:invertIfNegative val="0"/>
          <c:cat>
            <c:strRef>
              <c:f>'Chart Data'!$A$2:$A$4</c:f>
              <c:strCache>
                <c:ptCount val="3"/>
                <c:pt idx="0">
                  <c:v>Negative</c:v>
                </c:pt>
                <c:pt idx="1">
                  <c:v>Neutral</c:v>
                </c:pt>
                <c:pt idx="2">
                  <c:v>Positive</c:v>
                </c:pt>
              </c:strCache>
            </c:strRef>
          </c:cat>
          <c:val>
            <c:numRef>
              <c:f>'Chart Data'!$B$2:$B$4</c:f>
              <c:numCache>
                <c:formatCode>#,##0</c:formatCode>
                <c:ptCount val="3"/>
                <c:pt idx="0">
                  <c:v>604</c:v>
                </c:pt>
                <c:pt idx="1">
                  <c:v>2871</c:v>
                </c:pt>
                <c:pt idx="2">
                  <c:v>1361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800" b="1">
                  <a:solidFill>
                    <a:srgbClr val="172E40"/>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EDBE1"/>
            </a:solidFill>
          </a:ln>
        </c:spPr>
        <c:txPr>
          <a:bodyPr xmlns:a="http://schemas.openxmlformats.org/drawingml/2006/main" anchorCtr="1"/>
          <a:lstStyle xmlns:a="http://schemas.openxmlformats.org/drawingml/2006/main"/>
          <a:p xmlns:a="http://schemas.openxmlformats.org/drawingml/2006/main">
            <a:pPr>
              <a:defRPr sz="1875">
                <a:solidFill>
                  <a:srgbClr val="172E40"/>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CEDBE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16779"/>
                </a:solidFill>
                <a:latin typeface="Arial"/>
                <a:ea typeface="Arial"/>
                <a:cs typeface="Arial"/>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Majority baseline</c:v>
          </c:tx>
          <c:spPr>
            <a:solidFill xmlns:a="http://schemas.openxmlformats.org/drawingml/2006/main">
              <a:srgbClr val="8094A3"/>
            </a:solidFill>
          </c:spPr>
          <c:invertIfNegative val="0"/>
          <c:cat>
            <c:strRef>
              <c:f>'Chart Data'!$A$2:$A$3</c:f>
              <c:strCache>
                <c:ptCount val="2"/>
                <c:pt idx="0">
                  <c:v>Accuracy</c:v>
                </c:pt>
                <c:pt idx="1">
                  <c:v>Macro F1</c:v>
                </c:pt>
              </c:strCache>
            </c:strRef>
          </c:cat>
          <c:val>
            <c:numRef>
              <c:f>'Chart Data'!$B$2:$B$3</c:f>
              <c:numCache>
                <c:formatCode>0%</c:formatCode>
                <c:ptCount val="2"/>
                <c:pt idx="0">
                  <c:v>0.59366391</c:v>
                </c:pt>
                <c:pt idx="1">
                  <c:v>0.24834342</c:v>
                </c:pt>
              </c:numCache>
            </c:numRef>
          </c:val>
        </c:ser>
        <c:ser>
          <c:idx val="1"/>
          <c:order val="1"/>
          <c:tx>
            <c:v>TF-IDF + logistic regression</c:v>
          </c:tx>
          <c:spPr>
            <a:solidFill xmlns:a="http://schemas.openxmlformats.org/drawingml/2006/main">
              <a:srgbClr val="007C83"/>
            </a:solidFill>
          </c:spPr>
          <c:invertIfNegative val="0"/>
          <c:cat>
            <c:strRef>
              <c:f>'Chart Data'!$C$2:$C$3</c:f>
              <c:strCache>
                <c:ptCount val="2"/>
                <c:pt idx="0">
                  <c:v>Accuracy</c:v>
                </c:pt>
                <c:pt idx="1">
                  <c:v>Macro F1</c:v>
                </c:pt>
              </c:strCache>
            </c:strRef>
          </c:cat>
          <c:val>
            <c:numRef>
              <c:f>'Chart Data'!$D$2:$D$3</c:f>
              <c:numCache>
                <c:formatCode>0%</c:formatCode>
                <c:ptCount val="2"/>
                <c:pt idx="0">
                  <c:v>0.75757576</c:v>
                </c:pt>
                <c:pt idx="1">
                  <c:v>0.71940777</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75" b="1">
                  <a:solidFill>
                    <a:srgbClr val="172E40"/>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EDBE1"/>
            </a:solidFill>
          </a:ln>
        </c:spPr>
        <c:txPr>
          <a:bodyPr xmlns:a="http://schemas.openxmlformats.org/drawingml/2006/main" anchorCtr="1"/>
          <a:lstStyle xmlns:a="http://schemas.openxmlformats.org/drawingml/2006/main"/>
          <a:p xmlns:a="http://schemas.openxmlformats.org/drawingml/2006/main">
            <a:pPr>
              <a:defRPr sz="1950">
                <a:solidFill>
                  <a:srgbClr val="172E40"/>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CEDBE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16779"/>
                </a:solidFill>
                <a:latin typeface="Arial"/>
                <a:ea typeface="Arial"/>
                <a:cs typeface="Arial"/>
              </a:defRPr>
            </a:pPr>
          </a:p>
        </c:txPr>
        <c:crossAx val="48650112"/>
        <c:crossBetween val="between"/>
        <c:majorUnit val="0.2"/>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72E40"/>
              </a:solidFill>
              <a:latin typeface="Arial"/>
              <a:ea typeface="Arial"/>
              <a:cs typeface="Arial"/>
            </a:defRPr>
          </a:pPr>
        </a:p>
      </c:txPr>
    </c:legend>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12B3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3FF638B-0EB1-4950-958C-7D89D1305D96}"/>
              </a:ext>
            </a:extLst>
          </p:cNvPr>
          <p:cNvSpPr>
            <a:spLocks xmlns:a="http://schemas.openxmlformats.org/drawingml/2006/main" noGrp="1"/>
          </p:cNvSpPr>
          <p:nvPr/>
        </p:nvSpPr>
        <p:spPr>
          <a:xfrm xmlns:a="http://schemas.openxmlformats.org/drawingml/2006/main">
            <a:off x="685800" y="838200"/>
            <a:ext cx="105727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800" b="1">
                <a:solidFill>
                  <a:srgbClr val="FFFFFF"/>
                </a:solidFill>
                <a:latin typeface="Arial"/>
                <a:ea typeface="Arial"/>
                <a:cs typeface="Arial"/>
              </a:defRPr>
            </a:defPPr>
            <a:lvl1pPr>
              <a:defRPr sz="4800" b="1">
                <a:solidFill>
                  <a:srgbClr val="FFFFFF"/>
                </a:solidFill>
                <a:latin typeface="Arial"/>
                <a:ea typeface="Arial"/>
                <a:cs typeface="Arial"/>
              </a:defRPr>
            </a:lvl1pPr>
            <a:lvl2pPr>
              <a:defRPr sz="4800" b="1">
                <a:solidFill>
                  <a:srgbClr val="FFFFFF"/>
                </a:solidFill>
                <a:latin typeface="Arial"/>
                <a:ea typeface="Arial"/>
                <a:cs typeface="Arial"/>
              </a:defRPr>
            </a:lvl2pPr>
            <a:lvl3pPr>
              <a:defRPr sz="4800" b="1">
                <a:solidFill>
                  <a:srgbClr val="FFFFFF"/>
                </a:solidFill>
                <a:latin typeface="Arial"/>
                <a:ea typeface="Arial"/>
                <a:cs typeface="Arial"/>
              </a:defRPr>
            </a:lvl3pPr>
            <a:lvl4pPr>
              <a:defRPr sz="4800" b="1">
                <a:solidFill>
                  <a:srgbClr val="FFFFFF"/>
                </a:solidFill>
                <a:latin typeface="Arial"/>
                <a:ea typeface="Arial"/>
                <a:cs typeface="Arial"/>
              </a:defRPr>
            </a:lvl4pPr>
            <a:lvl5pPr>
              <a:defRPr sz="4800" b="1">
                <a:solidFill>
                  <a:srgbClr val="FFFFFF"/>
                </a:solidFill>
                <a:latin typeface="Arial"/>
                <a:ea typeface="Arial"/>
                <a:cs typeface="Arial"/>
              </a:defRPr>
            </a:lvl5pPr>
            <a:lvl6pPr>
              <a:defRPr sz="4800" b="1">
                <a:solidFill>
                  <a:srgbClr val="FFFFFF"/>
                </a:solidFill>
                <a:latin typeface="Arial"/>
                <a:ea typeface="Arial"/>
                <a:cs typeface="Arial"/>
              </a:defRPr>
            </a:lvl6pPr>
            <a:lvl7pPr>
              <a:defRPr sz="4800" b="1">
                <a:solidFill>
                  <a:srgbClr val="FFFFFF"/>
                </a:solidFill>
                <a:latin typeface="Arial"/>
                <a:ea typeface="Arial"/>
                <a:cs typeface="Arial"/>
              </a:defRPr>
            </a:lvl7pPr>
            <a:lvl8pPr>
              <a:defRPr sz="4800" b="1">
                <a:solidFill>
                  <a:srgbClr val="FFFFFF"/>
                </a:solidFill>
                <a:latin typeface="Arial"/>
                <a:ea typeface="Arial"/>
                <a:cs typeface="Arial"/>
              </a:defRPr>
            </a:lvl8pPr>
            <a:lvl9pPr>
              <a:defRPr sz="4800" b="1">
                <a:solidFill>
                  <a:srgbClr val="FFFFFF"/>
                </a:solidFill>
                <a:latin typeface="Arial"/>
                <a:ea typeface="Arial"/>
                <a:cs typeface="Arial"/>
              </a:defRPr>
            </a:lvl9pPr>
          </a:lstStyle>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Financial News</a:t>
            </a:r>
          </a:p>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Sentiment Analysis</a:t>
            </a:r>
          </a:p>
        </p:txBody>
      </p:sp>
      <p:sp>
        <p:nvSpPr>
          <p:cNvPr id="2" name="">
            <a:extLst xmlns:a="http://schemas.openxmlformats.org/drawingml/2006/main">
              <a:ext uri="{FF2B5EF4-FFF2-40B4-BE49-F238E27FC236}">
                <a16:creationId xmlns:a16="http://schemas.microsoft.com/office/drawing/2014/main" id="{86078244-E9C0-4D0B-8A58-21113B48A6F7}"/>
              </a:ext>
            </a:extLst>
          </p:cNvPr>
          <p:cNvSpPr>
            <a:spLocks xmlns:a="http://schemas.openxmlformats.org/drawingml/2006/main" noGrp="1"/>
          </p:cNvSpPr>
          <p:nvPr/>
        </p:nvSpPr>
        <p:spPr>
          <a:xfrm xmlns:a="http://schemas.openxmlformats.org/drawingml/2006/main">
            <a:off x="723900" y="3028950"/>
            <a:ext cx="1028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A6D9DC"/>
                </a:solidFill>
                <a:latin typeface="Arial"/>
                <a:ea typeface="Arial"/>
                <a:cs typeface="Arial"/>
              </a:defRPr>
            </a:defPPr>
            <a:lvl1pPr>
              <a:defRPr sz="2250" b="0">
                <a:solidFill>
                  <a:srgbClr val="A6D9DC"/>
                </a:solidFill>
                <a:latin typeface="Arial"/>
                <a:ea typeface="Arial"/>
                <a:cs typeface="Arial"/>
              </a:defRPr>
            </a:lvl1pPr>
            <a:lvl2pPr>
              <a:defRPr sz="2250" b="0">
                <a:solidFill>
                  <a:srgbClr val="A6D9DC"/>
                </a:solidFill>
                <a:latin typeface="Arial"/>
                <a:ea typeface="Arial"/>
                <a:cs typeface="Arial"/>
              </a:defRPr>
            </a:lvl2pPr>
            <a:lvl3pPr>
              <a:defRPr sz="2250" b="0">
                <a:solidFill>
                  <a:srgbClr val="A6D9DC"/>
                </a:solidFill>
                <a:latin typeface="Arial"/>
                <a:ea typeface="Arial"/>
                <a:cs typeface="Arial"/>
              </a:defRPr>
            </a:lvl3pPr>
            <a:lvl4pPr>
              <a:defRPr sz="2250" b="0">
                <a:solidFill>
                  <a:srgbClr val="A6D9DC"/>
                </a:solidFill>
                <a:latin typeface="Arial"/>
                <a:ea typeface="Arial"/>
                <a:cs typeface="Arial"/>
              </a:defRPr>
            </a:lvl4pPr>
            <a:lvl5pPr>
              <a:defRPr sz="2250" b="0">
                <a:solidFill>
                  <a:srgbClr val="A6D9DC"/>
                </a:solidFill>
                <a:latin typeface="Arial"/>
                <a:ea typeface="Arial"/>
                <a:cs typeface="Arial"/>
              </a:defRPr>
            </a:lvl5pPr>
            <a:lvl6pPr>
              <a:defRPr sz="2250" b="0">
                <a:solidFill>
                  <a:srgbClr val="A6D9DC"/>
                </a:solidFill>
                <a:latin typeface="Arial"/>
                <a:ea typeface="Arial"/>
                <a:cs typeface="Arial"/>
              </a:defRPr>
            </a:lvl6pPr>
            <a:lvl7pPr>
              <a:defRPr sz="2250" b="0">
                <a:solidFill>
                  <a:srgbClr val="A6D9DC"/>
                </a:solidFill>
                <a:latin typeface="Arial"/>
                <a:ea typeface="Arial"/>
                <a:cs typeface="Arial"/>
              </a:defRPr>
            </a:lvl7pPr>
            <a:lvl8pPr>
              <a:defRPr sz="2250" b="0">
                <a:solidFill>
                  <a:srgbClr val="A6D9DC"/>
                </a:solidFill>
                <a:latin typeface="Arial"/>
                <a:ea typeface="Arial"/>
                <a:cs typeface="Arial"/>
              </a:defRPr>
            </a:lvl8pPr>
            <a:lvl9pPr>
              <a:defRPr sz="2250" b="0">
                <a:solidFill>
                  <a:srgbClr val="A6D9DC"/>
                </a:solidFill>
                <a:latin typeface="Arial"/>
                <a:ea typeface="Arial"/>
                <a:cs typeface="Arial"/>
              </a:defRPr>
            </a:lvl9pPr>
          </a:lstStyle>
          <a:p xmlns:a="http://schemas.openxmlformats.org/drawingml/2006/main">
            <a:pPr>
              <a:defRPr sz="2250" b="0">
                <a:solidFill>
                  <a:srgbClr val="A6D9DC"/>
                </a:solidFill>
                <a:latin typeface="Arial"/>
                <a:ea typeface="Arial"/>
                <a:cs typeface="Arial"/>
              </a:defRPr>
            </a:pPr>
            <a:r>
              <a:rPr sz="2250" b="0">
                <a:solidFill>
                  <a:srgbClr val="A6D9DC"/>
                </a:solidFill>
                <a:latin typeface="Arial"/>
                <a:ea typeface="Arial"/>
                <a:cs typeface="Arial"/>
              </a:rPr>
              <a:t>FinBERT application with a trained TF-IDF baseline</a:t>
            </a:r>
          </a:p>
        </p:txBody>
      </p:sp>
      <p:sp>
        <p:nvSpPr>
          <p:cNvPr id="3" name="">
            <a:extLst xmlns:a="http://schemas.openxmlformats.org/drawingml/2006/main">
              <a:ext uri="{FF2B5EF4-FFF2-40B4-BE49-F238E27FC236}">
                <a16:creationId xmlns:a16="http://schemas.microsoft.com/office/drawing/2014/main" id="{C6F6834E-EC79-4FAF-A277-4A6F3EDCC5B9}"/>
              </a:ext>
            </a:extLst>
          </p:cNvPr>
          <p:cNvSpPr>
            <a:spLocks xmlns:a="http://schemas.openxmlformats.org/drawingml/2006/main" noGrp="1"/>
          </p:cNvSpPr>
          <p:nvPr/>
        </p:nvSpPr>
        <p:spPr>
          <a:xfrm xmlns:a="http://schemas.openxmlformats.org/drawingml/2006/main">
            <a:off x="723900" y="4010025"/>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FFFFFF"/>
                </a:solidFill>
                <a:latin typeface="Arial"/>
                <a:ea typeface="Arial"/>
                <a:cs typeface="Arial"/>
              </a:defRPr>
            </a:defPPr>
            <a:lvl1pPr>
              <a:defRPr sz="2325" b="1">
                <a:solidFill>
                  <a:srgbClr val="FFFFFF"/>
                </a:solidFill>
                <a:latin typeface="Arial"/>
                <a:ea typeface="Arial"/>
                <a:cs typeface="Arial"/>
              </a:defRPr>
            </a:lvl1pPr>
            <a:lvl2pPr>
              <a:defRPr sz="2325" b="1">
                <a:solidFill>
                  <a:srgbClr val="FFFFFF"/>
                </a:solidFill>
                <a:latin typeface="Arial"/>
                <a:ea typeface="Arial"/>
                <a:cs typeface="Arial"/>
              </a:defRPr>
            </a:lvl2pPr>
            <a:lvl3pPr>
              <a:defRPr sz="2325" b="1">
                <a:solidFill>
                  <a:srgbClr val="FFFFFF"/>
                </a:solidFill>
                <a:latin typeface="Arial"/>
                <a:ea typeface="Arial"/>
                <a:cs typeface="Arial"/>
              </a:defRPr>
            </a:lvl3pPr>
            <a:lvl4pPr>
              <a:defRPr sz="2325" b="1">
                <a:solidFill>
                  <a:srgbClr val="FFFFFF"/>
                </a:solidFill>
                <a:latin typeface="Arial"/>
                <a:ea typeface="Arial"/>
                <a:cs typeface="Arial"/>
              </a:defRPr>
            </a:lvl4pPr>
            <a:lvl5pPr>
              <a:defRPr sz="2325" b="1">
                <a:solidFill>
                  <a:srgbClr val="FFFFFF"/>
                </a:solidFill>
                <a:latin typeface="Arial"/>
                <a:ea typeface="Arial"/>
                <a:cs typeface="Arial"/>
              </a:defRPr>
            </a:lvl5pPr>
            <a:lvl6pPr>
              <a:defRPr sz="2325" b="1">
                <a:solidFill>
                  <a:srgbClr val="FFFFFF"/>
                </a:solidFill>
                <a:latin typeface="Arial"/>
                <a:ea typeface="Arial"/>
                <a:cs typeface="Arial"/>
              </a:defRPr>
            </a:lvl6pPr>
            <a:lvl7pPr>
              <a:defRPr sz="2325" b="1">
                <a:solidFill>
                  <a:srgbClr val="FFFFFF"/>
                </a:solidFill>
                <a:latin typeface="Arial"/>
                <a:ea typeface="Arial"/>
                <a:cs typeface="Arial"/>
              </a:defRPr>
            </a:lvl7pPr>
            <a:lvl8pPr>
              <a:defRPr sz="2325" b="1">
                <a:solidFill>
                  <a:srgbClr val="FFFFFF"/>
                </a:solidFill>
                <a:latin typeface="Arial"/>
                <a:ea typeface="Arial"/>
                <a:cs typeface="Arial"/>
              </a:defRPr>
            </a:lvl8pPr>
            <a:lvl9pPr>
              <a:defRPr sz="2325" b="1">
                <a:solidFill>
                  <a:srgbClr val="FFFFFF"/>
                </a:solidFill>
                <a:latin typeface="Arial"/>
                <a:ea typeface="Arial"/>
                <a:cs typeface="Arial"/>
              </a:defRPr>
            </a:lvl9pPr>
          </a:lstStyle>
          <a:p xmlns:a="http://schemas.openxmlformats.org/drawingml/2006/main">
            <a:pPr>
              <a:defRPr sz="2325" b="1">
                <a:solidFill>
                  <a:srgbClr val="FFFFFF"/>
                </a:solidFill>
                <a:latin typeface="Arial"/>
                <a:ea typeface="Arial"/>
                <a:cs typeface="Arial"/>
              </a:defRPr>
            </a:pPr>
            <a:r>
              <a:rPr sz="2325" b="1">
                <a:solidFill>
                  <a:srgbClr val="FFFFFF"/>
                </a:solidFill>
                <a:latin typeface="Arial"/>
                <a:ea typeface="Arial"/>
                <a:cs typeface="Arial"/>
              </a:rPr>
              <a:t>Akshat Agarwal</a:t>
            </a:r>
          </a:p>
        </p:txBody>
      </p:sp>
      <p:sp>
        <p:nvSpPr>
          <p:cNvPr id="4" name="">
            <a:extLst xmlns:a="http://schemas.openxmlformats.org/drawingml/2006/main">
              <a:ext uri="{FF2B5EF4-FFF2-40B4-BE49-F238E27FC236}">
                <a16:creationId xmlns:a16="http://schemas.microsoft.com/office/drawing/2014/main" id="{2A00947F-545B-48E3-8CB2-3D0DAA047A75}"/>
              </a:ext>
            </a:extLst>
          </p:cNvPr>
          <p:cNvSpPr>
            <a:spLocks xmlns:a="http://schemas.openxmlformats.org/drawingml/2006/main" noGrp="1"/>
          </p:cNvSpPr>
          <p:nvPr/>
        </p:nvSpPr>
        <p:spPr>
          <a:xfrm xmlns:a="http://schemas.openxmlformats.org/drawingml/2006/main">
            <a:off x="723900" y="44672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A6D9DC"/>
                </a:solidFill>
                <a:latin typeface="Arial"/>
                <a:ea typeface="Arial"/>
                <a:cs typeface="Arial"/>
              </a:defRPr>
            </a:defPPr>
            <a:lvl1pPr>
              <a:defRPr sz="1875" b="0">
                <a:solidFill>
                  <a:srgbClr val="A6D9DC"/>
                </a:solidFill>
                <a:latin typeface="Arial"/>
                <a:ea typeface="Arial"/>
                <a:cs typeface="Arial"/>
              </a:defRPr>
            </a:lvl1pPr>
            <a:lvl2pPr>
              <a:defRPr sz="1875" b="0">
                <a:solidFill>
                  <a:srgbClr val="A6D9DC"/>
                </a:solidFill>
                <a:latin typeface="Arial"/>
                <a:ea typeface="Arial"/>
                <a:cs typeface="Arial"/>
              </a:defRPr>
            </a:lvl2pPr>
            <a:lvl3pPr>
              <a:defRPr sz="1875" b="0">
                <a:solidFill>
                  <a:srgbClr val="A6D9DC"/>
                </a:solidFill>
                <a:latin typeface="Arial"/>
                <a:ea typeface="Arial"/>
                <a:cs typeface="Arial"/>
              </a:defRPr>
            </a:lvl3pPr>
            <a:lvl4pPr>
              <a:defRPr sz="1875" b="0">
                <a:solidFill>
                  <a:srgbClr val="A6D9DC"/>
                </a:solidFill>
                <a:latin typeface="Arial"/>
                <a:ea typeface="Arial"/>
                <a:cs typeface="Arial"/>
              </a:defRPr>
            </a:lvl4pPr>
            <a:lvl5pPr>
              <a:defRPr sz="1875" b="0">
                <a:solidFill>
                  <a:srgbClr val="A6D9DC"/>
                </a:solidFill>
                <a:latin typeface="Arial"/>
                <a:ea typeface="Arial"/>
                <a:cs typeface="Arial"/>
              </a:defRPr>
            </a:lvl5pPr>
            <a:lvl6pPr>
              <a:defRPr sz="1875" b="0">
                <a:solidFill>
                  <a:srgbClr val="A6D9DC"/>
                </a:solidFill>
                <a:latin typeface="Arial"/>
                <a:ea typeface="Arial"/>
                <a:cs typeface="Arial"/>
              </a:defRPr>
            </a:lvl6pPr>
            <a:lvl7pPr>
              <a:defRPr sz="1875" b="0">
                <a:solidFill>
                  <a:srgbClr val="A6D9DC"/>
                </a:solidFill>
                <a:latin typeface="Arial"/>
                <a:ea typeface="Arial"/>
                <a:cs typeface="Arial"/>
              </a:defRPr>
            </a:lvl7pPr>
            <a:lvl8pPr>
              <a:defRPr sz="1875" b="0">
                <a:solidFill>
                  <a:srgbClr val="A6D9DC"/>
                </a:solidFill>
                <a:latin typeface="Arial"/>
                <a:ea typeface="Arial"/>
                <a:cs typeface="Arial"/>
              </a:defRPr>
            </a:lvl8pPr>
            <a:lvl9pPr>
              <a:defRPr sz="1875" b="0">
                <a:solidFill>
                  <a:srgbClr val="A6D9DC"/>
                </a:solidFill>
                <a:latin typeface="Arial"/>
                <a:ea typeface="Arial"/>
                <a:cs typeface="Arial"/>
              </a:defRPr>
            </a:lvl9pPr>
          </a:lstStyle>
          <a:p xmlns:a="http://schemas.openxmlformats.org/drawingml/2006/main">
            <a:pPr>
              <a:defRPr sz="1875" b="0">
                <a:solidFill>
                  <a:srgbClr val="A6D9DC"/>
                </a:solidFill>
                <a:latin typeface="Arial"/>
                <a:ea typeface="Arial"/>
                <a:cs typeface="Arial"/>
              </a:defRPr>
            </a:pPr>
            <a:r>
              <a:rPr sz="1875" b="0">
                <a:solidFill>
                  <a:srgbClr val="A6D9DC"/>
                </a:solidFill>
                <a:latin typeface="Arial"/>
                <a:ea typeface="Arial"/>
                <a:cs typeface="Arial"/>
              </a:rPr>
              <a:t>Roll 202401100100028 · CS-5A</a:t>
            </a:r>
          </a:p>
        </p:txBody>
      </p:sp>
      <p:sp>
        <p:nvSpPr>
          <p:cNvPr id="5" name="">
            <a:extLst xmlns:a="http://schemas.openxmlformats.org/drawingml/2006/main">
              <a:ext uri="{FF2B5EF4-FFF2-40B4-BE49-F238E27FC236}">
                <a16:creationId xmlns:a16="http://schemas.microsoft.com/office/drawing/2014/main" id="{C9B37021-C168-46F2-897E-E5C2FE445439}"/>
              </a:ext>
            </a:extLst>
          </p:cNvPr>
          <p:cNvSpPr>
            <a:spLocks xmlns:a="http://schemas.openxmlformats.org/drawingml/2006/main" noGrp="1"/>
          </p:cNvSpPr>
          <p:nvPr/>
        </p:nvSpPr>
        <p:spPr>
          <a:xfrm xmlns:a="http://schemas.openxmlformats.org/drawingml/2006/main">
            <a:off x="723900" y="50101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FFFFF"/>
                </a:solidFill>
                <a:latin typeface="Arial"/>
                <a:ea typeface="Arial"/>
                <a:cs typeface="Arial"/>
              </a:defRPr>
            </a:defPPr>
            <a:lvl1pPr>
              <a:defRPr sz="1875" b="0">
                <a:solidFill>
                  <a:srgbClr val="FFFFFF"/>
                </a:solidFill>
                <a:latin typeface="Arial"/>
                <a:ea typeface="Arial"/>
                <a:cs typeface="Arial"/>
              </a:defRPr>
            </a:lvl1pPr>
            <a:lvl2pPr>
              <a:defRPr sz="1875" b="0">
                <a:solidFill>
                  <a:srgbClr val="FFFFFF"/>
                </a:solidFill>
                <a:latin typeface="Arial"/>
                <a:ea typeface="Arial"/>
                <a:cs typeface="Arial"/>
              </a:defRPr>
            </a:lvl2pPr>
            <a:lvl3pPr>
              <a:defRPr sz="1875" b="0">
                <a:solidFill>
                  <a:srgbClr val="FFFFFF"/>
                </a:solidFill>
                <a:latin typeface="Arial"/>
                <a:ea typeface="Arial"/>
                <a:cs typeface="Arial"/>
              </a:defRPr>
            </a:lvl3pPr>
            <a:lvl4pPr>
              <a:defRPr sz="1875" b="0">
                <a:solidFill>
                  <a:srgbClr val="FFFFFF"/>
                </a:solidFill>
                <a:latin typeface="Arial"/>
                <a:ea typeface="Arial"/>
                <a:cs typeface="Arial"/>
              </a:defRPr>
            </a:lvl4pPr>
            <a:lvl5pPr>
              <a:defRPr sz="1875" b="0">
                <a:solidFill>
                  <a:srgbClr val="FFFFFF"/>
                </a:solidFill>
                <a:latin typeface="Arial"/>
                <a:ea typeface="Arial"/>
                <a:cs typeface="Arial"/>
              </a:defRPr>
            </a:lvl5pPr>
            <a:lvl6pPr>
              <a:defRPr sz="1875" b="0">
                <a:solidFill>
                  <a:srgbClr val="FFFFFF"/>
                </a:solidFill>
                <a:latin typeface="Arial"/>
                <a:ea typeface="Arial"/>
                <a:cs typeface="Arial"/>
              </a:defRPr>
            </a:lvl6pPr>
            <a:lvl7pPr>
              <a:defRPr sz="1875" b="0">
                <a:solidFill>
                  <a:srgbClr val="FFFFFF"/>
                </a:solidFill>
                <a:latin typeface="Arial"/>
                <a:ea typeface="Arial"/>
                <a:cs typeface="Arial"/>
              </a:defRPr>
            </a:lvl7pPr>
            <a:lvl8pPr>
              <a:defRPr sz="1875" b="0">
                <a:solidFill>
                  <a:srgbClr val="FFFFFF"/>
                </a:solidFill>
                <a:latin typeface="Arial"/>
                <a:ea typeface="Arial"/>
                <a:cs typeface="Arial"/>
              </a:defRPr>
            </a:lvl8pPr>
            <a:lvl9pPr>
              <a:defRPr sz="1875" b="0">
                <a:solidFill>
                  <a:srgbClr val="FFFFFF"/>
                </a:solidFill>
                <a:latin typeface="Arial"/>
                <a:ea typeface="Arial"/>
                <a:cs typeface="Arial"/>
              </a:defRPr>
            </a:lvl9pPr>
          </a:lstStyle>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KIET Group of Institutions, Ghaziabad</a:t>
            </a:r>
          </a:p>
        </p:txBody>
      </p:sp>
      <p:sp>
        <p:nvSpPr>
          <p:cNvPr id="6" name="">
            <a:extLst xmlns:a="http://schemas.openxmlformats.org/drawingml/2006/main">
              <a:ext uri="{FF2B5EF4-FFF2-40B4-BE49-F238E27FC236}">
                <a16:creationId xmlns:a16="http://schemas.microsoft.com/office/drawing/2014/main" id="{AAA25130-811F-4BD5-9A24-67807D976141}"/>
              </a:ext>
            </a:extLst>
          </p:cNvPr>
          <p:cNvSpPr>
            <a:spLocks xmlns:a="http://schemas.openxmlformats.org/drawingml/2006/main" noGrp="1"/>
          </p:cNvSpPr>
          <p:nvPr/>
        </p:nvSpPr>
        <p:spPr>
          <a:xfrm xmlns:a="http://schemas.openxmlformats.org/drawingml/2006/main">
            <a:off x="723900" y="54578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FFFFFF"/>
                </a:solidFill>
                <a:latin typeface="Arial"/>
                <a:ea typeface="Arial"/>
                <a:cs typeface="Arial"/>
              </a:defRPr>
            </a:defPPr>
            <a:lvl1pPr>
              <a:defRPr sz="1800" b="0">
                <a:solidFill>
                  <a:srgbClr val="FFFFFF"/>
                </a:solidFill>
                <a:latin typeface="Arial"/>
                <a:ea typeface="Arial"/>
                <a:cs typeface="Arial"/>
              </a:defRPr>
            </a:lvl1pPr>
            <a:lvl2pPr>
              <a:defRPr sz="1800" b="0">
                <a:solidFill>
                  <a:srgbClr val="FFFFFF"/>
                </a:solidFill>
                <a:latin typeface="Arial"/>
                <a:ea typeface="Arial"/>
                <a:cs typeface="Arial"/>
              </a:defRPr>
            </a:lvl2pPr>
            <a:lvl3pPr>
              <a:defRPr sz="1800" b="0">
                <a:solidFill>
                  <a:srgbClr val="FFFFFF"/>
                </a:solidFill>
                <a:latin typeface="Arial"/>
                <a:ea typeface="Arial"/>
                <a:cs typeface="Arial"/>
              </a:defRPr>
            </a:lvl3pPr>
            <a:lvl4pPr>
              <a:defRPr sz="1800" b="0">
                <a:solidFill>
                  <a:srgbClr val="FFFFFF"/>
                </a:solidFill>
                <a:latin typeface="Arial"/>
                <a:ea typeface="Arial"/>
                <a:cs typeface="Arial"/>
              </a:defRPr>
            </a:lvl4pPr>
            <a:lvl5pPr>
              <a:defRPr sz="1800" b="0">
                <a:solidFill>
                  <a:srgbClr val="FFFFFF"/>
                </a:solidFill>
                <a:latin typeface="Arial"/>
                <a:ea typeface="Arial"/>
                <a:cs typeface="Arial"/>
              </a:defRPr>
            </a:lvl5pPr>
            <a:lvl6pPr>
              <a:defRPr sz="1800" b="0">
                <a:solidFill>
                  <a:srgbClr val="FFFFFF"/>
                </a:solidFill>
                <a:latin typeface="Arial"/>
                <a:ea typeface="Arial"/>
                <a:cs typeface="Arial"/>
              </a:defRPr>
            </a:lvl6pPr>
            <a:lvl7pPr>
              <a:defRPr sz="1800" b="0">
                <a:solidFill>
                  <a:srgbClr val="FFFFFF"/>
                </a:solidFill>
                <a:latin typeface="Arial"/>
                <a:ea typeface="Arial"/>
                <a:cs typeface="Arial"/>
              </a:defRPr>
            </a:lvl7pPr>
            <a:lvl8pPr>
              <a:defRPr sz="1800" b="0">
                <a:solidFill>
                  <a:srgbClr val="FFFFFF"/>
                </a:solidFill>
                <a:latin typeface="Arial"/>
                <a:ea typeface="Arial"/>
                <a:cs typeface="Arial"/>
              </a:defRPr>
            </a:lvl8pPr>
            <a:lvl9pPr>
              <a:defRPr sz="1800" b="0">
                <a:solidFill>
                  <a:srgbClr val="FFFFFF"/>
                </a:solidFill>
                <a:latin typeface="Arial"/>
                <a:ea typeface="Arial"/>
                <a:cs typeface="Arial"/>
              </a:defRPr>
            </a:lvl9pPr>
          </a:lstStyle>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Faculty: Kriti Sharma</a:t>
            </a:r>
          </a:p>
        </p:txBody>
      </p:sp>
      <p:sp>
        <p:nvSpPr>
          <p:cNvPr id="7" name="">
            <a:extLst xmlns:a="http://schemas.openxmlformats.org/drawingml/2006/main">
              <a:ext uri="{FF2B5EF4-FFF2-40B4-BE49-F238E27FC236}">
                <a16:creationId xmlns:a16="http://schemas.microsoft.com/office/drawing/2014/main" id="{2A97A42B-C7AD-4BDB-BB78-1CEDE08F06F5}"/>
              </a:ext>
            </a:extLst>
          </p:cNvPr>
          <p:cNvSpPr>
            <a:spLocks xmlns:a="http://schemas.openxmlformats.org/drawingml/2006/main" noGrp="1"/>
          </p:cNvSpPr>
          <p:nvPr/>
        </p:nvSpPr>
        <p:spPr>
          <a:xfrm xmlns:a="http://schemas.openxmlformats.org/drawingml/2006/main">
            <a:off x="723900" y="60007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A6D9DC"/>
                </a:solidFill>
                <a:latin typeface="Arial"/>
                <a:ea typeface="Arial"/>
                <a:cs typeface="Arial"/>
              </a:defRPr>
            </a:defPPr>
            <a:lvl1pPr>
              <a:defRPr sz="1800" b="0">
                <a:solidFill>
                  <a:srgbClr val="A6D9DC"/>
                </a:solidFill>
                <a:latin typeface="Arial"/>
                <a:ea typeface="Arial"/>
                <a:cs typeface="Arial"/>
              </a:defRPr>
            </a:lvl1pPr>
            <a:lvl2pPr>
              <a:defRPr sz="1800" b="0">
                <a:solidFill>
                  <a:srgbClr val="A6D9DC"/>
                </a:solidFill>
                <a:latin typeface="Arial"/>
                <a:ea typeface="Arial"/>
                <a:cs typeface="Arial"/>
              </a:defRPr>
            </a:lvl2pPr>
            <a:lvl3pPr>
              <a:defRPr sz="1800" b="0">
                <a:solidFill>
                  <a:srgbClr val="A6D9DC"/>
                </a:solidFill>
                <a:latin typeface="Arial"/>
                <a:ea typeface="Arial"/>
                <a:cs typeface="Arial"/>
              </a:defRPr>
            </a:lvl3pPr>
            <a:lvl4pPr>
              <a:defRPr sz="1800" b="0">
                <a:solidFill>
                  <a:srgbClr val="A6D9DC"/>
                </a:solidFill>
                <a:latin typeface="Arial"/>
                <a:ea typeface="Arial"/>
                <a:cs typeface="Arial"/>
              </a:defRPr>
            </a:lvl4pPr>
            <a:lvl5pPr>
              <a:defRPr sz="1800" b="0">
                <a:solidFill>
                  <a:srgbClr val="A6D9DC"/>
                </a:solidFill>
                <a:latin typeface="Arial"/>
                <a:ea typeface="Arial"/>
                <a:cs typeface="Arial"/>
              </a:defRPr>
            </a:lvl5pPr>
            <a:lvl6pPr>
              <a:defRPr sz="1800" b="0">
                <a:solidFill>
                  <a:srgbClr val="A6D9DC"/>
                </a:solidFill>
                <a:latin typeface="Arial"/>
                <a:ea typeface="Arial"/>
                <a:cs typeface="Arial"/>
              </a:defRPr>
            </a:lvl6pPr>
            <a:lvl7pPr>
              <a:defRPr sz="1800" b="0">
                <a:solidFill>
                  <a:srgbClr val="A6D9DC"/>
                </a:solidFill>
                <a:latin typeface="Arial"/>
                <a:ea typeface="Arial"/>
                <a:cs typeface="Arial"/>
              </a:defRPr>
            </a:lvl7pPr>
            <a:lvl8pPr>
              <a:defRPr sz="1800" b="0">
                <a:solidFill>
                  <a:srgbClr val="A6D9DC"/>
                </a:solidFill>
                <a:latin typeface="Arial"/>
                <a:ea typeface="Arial"/>
                <a:cs typeface="Arial"/>
              </a:defRPr>
            </a:lvl8pPr>
            <a:lvl9pPr>
              <a:defRPr sz="1800" b="0">
                <a:solidFill>
                  <a:srgbClr val="A6D9DC"/>
                </a:solidFill>
                <a:latin typeface="Arial"/>
                <a:ea typeface="Arial"/>
                <a:cs typeface="Arial"/>
              </a:defRPr>
            </a:lvl9pPr>
          </a:lstStyle>
          <a:p xmlns:a="http://schemas.openxmlformats.org/drawingml/2006/main">
            <a:pPr>
              <a:defRPr sz="1800" b="0">
                <a:solidFill>
                  <a:srgbClr val="A6D9DC"/>
                </a:solidFill>
                <a:latin typeface="Arial"/>
                <a:ea typeface="Arial"/>
                <a:cs typeface="Arial"/>
              </a:defRPr>
            </a:pPr>
            <a:r>
              <a:rPr sz="1800" b="0">
                <a:solidFill>
                  <a:srgbClr val="A6D9DC"/>
                </a:solidFill>
                <a:latin typeface="Arial"/>
                <a:ea typeface="Arial"/>
                <a:cs typeface="Arial"/>
              </a:rPr>
              <a:t>Unit 4 · Deep Learning Project</a:t>
            </a:r>
          </a:p>
        </p:txBody>
      </p:sp>
    </p:spTree>
    <p:extLst>
      <p:ext uri="{BB962C8B-B14F-4D97-AF65-F5344CB8AC3E}">
        <p14:creationId xmlns:p14="http://schemas.microsoft.com/office/powerpoint/2010/main" val="169397567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E4D7C78-344B-470A-B8DD-5EA0283360CC}"/>
              </a:ext>
            </a:extLst>
          </p:cNvPr>
          <p:cNvSpPr>
            <a:spLocks xmlns:a="http://schemas.openxmlformats.org/drawingml/2006/main" noGrp="1"/>
          </p:cNvSpPr>
          <p:nvPr/>
        </p:nvSpPr>
        <p:spPr>
          <a:xfrm xmlns:a="http://schemas.openxmlformats.org/drawingml/2006/main">
            <a:off x="685800" y="5143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2E40"/>
                </a:solidFill>
                <a:latin typeface="Arial"/>
                <a:ea typeface="Arial"/>
                <a:cs typeface="Arial"/>
              </a:defRPr>
            </a:defPPr>
            <a:lvl1pPr>
              <a:defRPr sz="3225" b="1">
                <a:solidFill>
                  <a:srgbClr val="172E40"/>
                </a:solidFill>
                <a:latin typeface="Arial"/>
                <a:ea typeface="Arial"/>
                <a:cs typeface="Arial"/>
              </a:defRPr>
            </a:lvl1pPr>
            <a:lvl2pPr>
              <a:defRPr sz="3225" b="1">
                <a:solidFill>
                  <a:srgbClr val="172E40"/>
                </a:solidFill>
                <a:latin typeface="Arial"/>
                <a:ea typeface="Arial"/>
                <a:cs typeface="Arial"/>
              </a:defRPr>
            </a:lvl2pPr>
            <a:lvl3pPr>
              <a:defRPr sz="3225" b="1">
                <a:solidFill>
                  <a:srgbClr val="172E40"/>
                </a:solidFill>
                <a:latin typeface="Arial"/>
                <a:ea typeface="Arial"/>
                <a:cs typeface="Arial"/>
              </a:defRPr>
            </a:lvl3pPr>
            <a:lvl4pPr>
              <a:defRPr sz="3225" b="1">
                <a:solidFill>
                  <a:srgbClr val="172E40"/>
                </a:solidFill>
                <a:latin typeface="Arial"/>
                <a:ea typeface="Arial"/>
                <a:cs typeface="Arial"/>
              </a:defRPr>
            </a:lvl4pPr>
            <a:lvl5pPr>
              <a:defRPr sz="3225" b="1">
                <a:solidFill>
                  <a:srgbClr val="172E40"/>
                </a:solidFill>
                <a:latin typeface="Arial"/>
                <a:ea typeface="Arial"/>
                <a:cs typeface="Arial"/>
              </a:defRPr>
            </a:lvl5pPr>
            <a:lvl6pPr>
              <a:defRPr sz="3225" b="1">
                <a:solidFill>
                  <a:srgbClr val="172E40"/>
                </a:solidFill>
                <a:latin typeface="Arial"/>
                <a:ea typeface="Arial"/>
                <a:cs typeface="Arial"/>
              </a:defRPr>
            </a:lvl6pPr>
            <a:lvl7pPr>
              <a:defRPr sz="3225" b="1">
                <a:solidFill>
                  <a:srgbClr val="172E40"/>
                </a:solidFill>
                <a:latin typeface="Arial"/>
                <a:ea typeface="Arial"/>
                <a:cs typeface="Arial"/>
              </a:defRPr>
            </a:lvl7pPr>
            <a:lvl8pPr>
              <a:defRPr sz="3225" b="1">
                <a:solidFill>
                  <a:srgbClr val="172E40"/>
                </a:solidFill>
                <a:latin typeface="Arial"/>
                <a:ea typeface="Arial"/>
                <a:cs typeface="Arial"/>
              </a:defRPr>
            </a:lvl8pPr>
            <a:lvl9pPr>
              <a:defRPr sz="3225" b="1">
                <a:solidFill>
                  <a:srgbClr val="172E40"/>
                </a:solidFill>
                <a:latin typeface="Arial"/>
                <a:ea typeface="Arial"/>
                <a:cs typeface="Arial"/>
              </a:defRPr>
            </a:lvl9pPr>
          </a:lstStyle>
          <a:p xmlns:a="http://schemas.openxmlformats.org/drawingml/2006/main">
            <a:pPr>
              <a:defRPr sz="3225" b="1">
                <a:solidFill>
                  <a:srgbClr val="172E40"/>
                </a:solidFill>
                <a:latin typeface="Arial"/>
                <a:ea typeface="Arial"/>
                <a:cs typeface="Arial"/>
              </a:defRPr>
            </a:pPr>
            <a:r>
              <a:rPr sz="3225" b="1">
                <a:solidFill>
                  <a:srgbClr val="172E40"/>
                </a:solidFill>
                <a:latin typeface="Arial"/>
                <a:ea typeface="Arial"/>
                <a:cs typeface="Arial"/>
              </a:rPr>
              <a:t>Financial sentiment classification</a:t>
            </a:r>
          </a:p>
        </p:txBody>
      </p:sp>
      <p:sp>
        <p:nvSpPr>
          <p:cNvPr id="2" name="">
            <a:extLst xmlns:a="http://schemas.openxmlformats.org/drawingml/2006/main">
              <a:ext uri="{FF2B5EF4-FFF2-40B4-BE49-F238E27FC236}">
                <a16:creationId xmlns:a16="http://schemas.microsoft.com/office/drawing/2014/main" id="{92F61894-DB18-4C46-8107-64BDEEF1987E}"/>
              </a:ext>
            </a:extLst>
          </p:cNvPr>
          <p:cNvSpPr>
            <a:spLocks xmlns:a="http://schemas.openxmlformats.org/drawingml/2006/main" noGrp="1"/>
          </p:cNvSpPr>
          <p:nvPr/>
        </p:nvSpPr>
        <p:spPr>
          <a:xfrm xmlns:a="http://schemas.openxmlformats.org/drawingml/2006/main">
            <a:off x="10972800" y="6315075"/>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16779"/>
                </a:solidFill>
                <a:latin typeface="Arial"/>
                <a:ea typeface="Arial"/>
                <a:cs typeface="Arial"/>
              </a:defRPr>
            </a:defPPr>
            <a:lvl1pPr>
              <a:defRPr sz="1275" b="0">
                <a:solidFill>
                  <a:srgbClr val="516779"/>
                </a:solidFill>
                <a:latin typeface="Arial"/>
                <a:ea typeface="Arial"/>
                <a:cs typeface="Arial"/>
              </a:defRPr>
            </a:lvl1pPr>
            <a:lvl2pPr>
              <a:defRPr sz="1275" b="0">
                <a:solidFill>
                  <a:srgbClr val="516779"/>
                </a:solidFill>
                <a:latin typeface="Arial"/>
                <a:ea typeface="Arial"/>
                <a:cs typeface="Arial"/>
              </a:defRPr>
            </a:lvl2pPr>
            <a:lvl3pPr>
              <a:defRPr sz="1275" b="0">
                <a:solidFill>
                  <a:srgbClr val="516779"/>
                </a:solidFill>
                <a:latin typeface="Arial"/>
                <a:ea typeface="Arial"/>
                <a:cs typeface="Arial"/>
              </a:defRPr>
            </a:lvl3pPr>
            <a:lvl4pPr>
              <a:defRPr sz="1275" b="0">
                <a:solidFill>
                  <a:srgbClr val="516779"/>
                </a:solidFill>
                <a:latin typeface="Arial"/>
                <a:ea typeface="Arial"/>
                <a:cs typeface="Arial"/>
              </a:defRPr>
            </a:lvl4pPr>
            <a:lvl5pPr>
              <a:defRPr sz="1275" b="0">
                <a:solidFill>
                  <a:srgbClr val="516779"/>
                </a:solidFill>
                <a:latin typeface="Arial"/>
                <a:ea typeface="Arial"/>
                <a:cs typeface="Arial"/>
              </a:defRPr>
            </a:lvl5pPr>
            <a:lvl6pPr>
              <a:defRPr sz="1275" b="0">
                <a:solidFill>
                  <a:srgbClr val="516779"/>
                </a:solidFill>
                <a:latin typeface="Arial"/>
                <a:ea typeface="Arial"/>
                <a:cs typeface="Arial"/>
              </a:defRPr>
            </a:lvl6pPr>
            <a:lvl7pPr>
              <a:defRPr sz="1275" b="0">
                <a:solidFill>
                  <a:srgbClr val="516779"/>
                </a:solidFill>
                <a:latin typeface="Arial"/>
                <a:ea typeface="Arial"/>
                <a:cs typeface="Arial"/>
              </a:defRPr>
            </a:lvl7pPr>
            <a:lvl8pPr>
              <a:defRPr sz="1275" b="0">
                <a:solidFill>
                  <a:srgbClr val="516779"/>
                </a:solidFill>
                <a:latin typeface="Arial"/>
                <a:ea typeface="Arial"/>
                <a:cs typeface="Arial"/>
              </a:defRPr>
            </a:lvl8pPr>
            <a:lvl9pPr>
              <a:defRPr sz="1275" b="0">
                <a:solidFill>
                  <a:srgbClr val="516779"/>
                </a:solidFill>
                <a:latin typeface="Arial"/>
                <a:ea typeface="Arial"/>
                <a:cs typeface="Arial"/>
              </a:defRPr>
            </a:lvl9pPr>
          </a:lstStyle>
          <a:p xmlns:a="http://schemas.openxmlformats.org/drawingml/2006/main">
            <a:pPr>
              <a:defRPr sz="1275" b="0">
                <a:solidFill>
                  <a:srgbClr val="516779"/>
                </a:solidFill>
                <a:latin typeface="Arial"/>
                <a:ea typeface="Arial"/>
                <a:cs typeface="Arial"/>
              </a:defRPr>
            </a:pPr>
            <a:r>
              <a:rPr sz="1275" b="0">
                <a:solidFill>
                  <a:srgbClr val="516779"/>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2B9D818F-2643-4A62-B46F-970AD5F6CC10}"/>
              </a:ext>
            </a:extLst>
          </p:cNvPr>
          <p:cNvSpPr>
            <a:spLocks xmlns:a="http://schemas.openxmlformats.org/drawingml/2006/main" noGrp="1"/>
          </p:cNvSpPr>
          <p:nvPr/>
        </p:nvSpPr>
        <p:spPr>
          <a:xfrm xmlns:a="http://schemas.openxmlformats.org/drawingml/2006/main">
            <a:off x="685800" y="146685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72E40"/>
                </a:solidFill>
                <a:latin typeface="Arial"/>
                <a:ea typeface="Arial"/>
                <a:cs typeface="Arial"/>
              </a:defRPr>
            </a:defPPr>
            <a:lvl1pPr>
              <a:defRPr sz="2325" b="0">
                <a:solidFill>
                  <a:srgbClr val="172E40"/>
                </a:solidFill>
                <a:latin typeface="Arial"/>
                <a:ea typeface="Arial"/>
                <a:cs typeface="Arial"/>
              </a:defRPr>
            </a:lvl1pPr>
            <a:lvl2pPr>
              <a:defRPr sz="2325" b="0">
                <a:solidFill>
                  <a:srgbClr val="172E40"/>
                </a:solidFill>
                <a:latin typeface="Arial"/>
                <a:ea typeface="Arial"/>
                <a:cs typeface="Arial"/>
              </a:defRPr>
            </a:lvl2pPr>
            <a:lvl3pPr>
              <a:defRPr sz="2325" b="0">
                <a:solidFill>
                  <a:srgbClr val="172E40"/>
                </a:solidFill>
                <a:latin typeface="Arial"/>
                <a:ea typeface="Arial"/>
                <a:cs typeface="Arial"/>
              </a:defRPr>
            </a:lvl3pPr>
            <a:lvl4pPr>
              <a:defRPr sz="2325" b="0">
                <a:solidFill>
                  <a:srgbClr val="172E40"/>
                </a:solidFill>
                <a:latin typeface="Arial"/>
                <a:ea typeface="Arial"/>
                <a:cs typeface="Arial"/>
              </a:defRPr>
            </a:lvl4pPr>
            <a:lvl5pPr>
              <a:defRPr sz="2325" b="0">
                <a:solidFill>
                  <a:srgbClr val="172E40"/>
                </a:solidFill>
                <a:latin typeface="Arial"/>
                <a:ea typeface="Arial"/>
                <a:cs typeface="Arial"/>
              </a:defRPr>
            </a:lvl5pPr>
            <a:lvl6pPr>
              <a:defRPr sz="2325" b="0">
                <a:solidFill>
                  <a:srgbClr val="172E40"/>
                </a:solidFill>
                <a:latin typeface="Arial"/>
                <a:ea typeface="Arial"/>
                <a:cs typeface="Arial"/>
              </a:defRPr>
            </a:lvl6pPr>
            <a:lvl7pPr>
              <a:defRPr sz="2325" b="0">
                <a:solidFill>
                  <a:srgbClr val="172E40"/>
                </a:solidFill>
                <a:latin typeface="Arial"/>
                <a:ea typeface="Arial"/>
                <a:cs typeface="Arial"/>
              </a:defRPr>
            </a:lvl7pPr>
            <a:lvl8pPr>
              <a:defRPr sz="2325" b="0">
                <a:solidFill>
                  <a:srgbClr val="172E40"/>
                </a:solidFill>
                <a:latin typeface="Arial"/>
                <a:ea typeface="Arial"/>
                <a:cs typeface="Arial"/>
              </a:defRPr>
            </a:lvl8pPr>
            <a:lvl9pPr>
              <a:defRPr sz="2325" b="0">
                <a:solidFill>
                  <a:srgbClr val="172E40"/>
                </a:solidFill>
                <a:latin typeface="Arial"/>
                <a:ea typeface="Arial"/>
                <a:cs typeface="Arial"/>
              </a:defRPr>
            </a:lvl9pPr>
          </a:lstStyle>
          <a:p xmlns:a="http://schemas.openxmlformats.org/drawingml/2006/main">
            <a:pPr>
              <a:defRPr sz="2325" b="0">
                <a:solidFill>
                  <a:srgbClr val="172E40"/>
                </a:solidFill>
                <a:latin typeface="Arial"/>
                <a:ea typeface="Arial"/>
                <a:cs typeface="Arial"/>
              </a:defRPr>
            </a:pPr>
            <a:r>
              <a:rPr sz="2325" b="0">
                <a:solidFill>
                  <a:srgbClr val="172E40"/>
                </a:solidFill>
                <a:latin typeface="Arial"/>
                <a:ea typeface="Arial"/>
                <a:cs typeface="Arial"/>
              </a:rPr>
              <a:t>Input: a short English financial statement</a:t>
            </a:r>
          </a:p>
          <a:p xmlns:a="http://schemas.openxmlformats.org/drawingml/2006/main">
            <a:pPr>
              <a:defRPr sz="2325" b="0">
                <a:solidFill>
                  <a:srgbClr val="172E40"/>
                </a:solidFill>
                <a:latin typeface="Arial"/>
                <a:ea typeface="Arial"/>
                <a:cs typeface="Arial"/>
              </a:defRPr>
            </a:pPr>
            <a:r>
              <a:rPr sz="2325" b="0">
                <a:solidFill>
                  <a:srgbClr val="172E40"/>
                </a:solidFill>
                <a:latin typeface="Arial"/>
                <a:ea typeface="Arial"/>
                <a:cs typeface="Arial"/>
              </a:rPr>
              <a:t>Output: positive, negative, or neutral</a:t>
            </a:r>
          </a:p>
        </p:txBody>
      </p:sp>
      <p:graphicFrame>
        <p:nvGraphicFramePr>
          <p:cNvPr id="4" name="">
            <a:extLst xmlns:a="http://schemas.openxmlformats.org/drawingml/2006/main">
              <a:ext uri="{FF2B5EF4-FFF2-40B4-BE49-F238E27FC236}">
                <a16:creationId xmlns:a16="http://schemas.microsoft.com/office/drawing/2014/main" id="{E8EA3D97-03B0-43AE-9420-6681D8ACA827}"/>
              </a:ext>
            </a:extLst>
          </p:cNvPr>
          <p:cNvGraphicFramePr/>
          <p:nvPr/>
        </p:nvGraphicFramePr>
        <p:xfrm>
          <a:off xmlns:a="http://schemas.openxmlformats.org/drawingml/2006/main" x="685800" y="2800350"/>
          <a:ext xmlns:a="http://schemas.openxmlformats.org/drawingml/2006/main" cx="10820400" cy="2609850"/>
        </p:xfrm>
        <a:graphic xmlns:a="http://schemas.openxmlformats.org/drawingml/2006/main">
          <a:graphicData uri="http://schemas.openxmlformats.org/drawingml/2006/table">
            <a:tbl>
              <a:tblPr firstRow="1" bandRow="0"/>
              <a:tblGrid>
                <a:gridCol w="8248650"/>
                <a:gridCol w="2571750"/>
              </a:tblGrid>
              <a:tr h="652463">
                <a:tc>
                  <a:txBody>
                    <a:bodyPr/>
                    <a:lstStyle/>
                    <a:p>
                      <a:r>
                        <a:rPr sz="1800" b="1">
                          <a:solidFill>
                            <a:srgbClr val="FFFFFF"/>
                          </a:solidFill>
                          <a:latin typeface="Arial"/>
                          <a:ea typeface="Arial"/>
                          <a:cs typeface="Arial"/>
                        </a:rPr>
                        <a:t>Statement</a:t>
                      </a:r>
                    </a:p>
                  </a:txBody>
                  <a:tcPr marL="152400" marR="152400" marT="123825" marB="123825" anchor="ctr">
                    <a:lnL w="9525">
                      <a:solidFill>
                        <a:srgbClr val="CEDBE1"/>
                      </a:solidFill>
                      <a:prstDash val="solid"/>
                    </a:lnL>
                    <a:lnR w="9525">
                      <a:solidFill>
                        <a:srgbClr val="CEDBE1"/>
                      </a:solidFill>
                      <a:prstDash val="solid"/>
                    </a:lnR>
                    <a:lnT w="9525">
                      <a:solidFill>
                        <a:srgbClr val="CEDBE1"/>
                      </a:solidFill>
                      <a:prstDash val="solid"/>
                    </a:lnT>
                    <a:lnB w="9525">
                      <a:solidFill>
                        <a:srgbClr val="CEDBE1"/>
                      </a:solidFill>
                      <a:prstDash val="solid"/>
                    </a:lnB>
                    <a:solidFill>
                      <a:srgbClr val="112B3D"/>
                    </a:solidFill>
                  </a:tcPr>
                </a:tc>
                <a:tc>
                  <a:txBody>
                    <a:bodyPr/>
                    <a:lstStyle/>
                    <a:p>
                      <a:r>
                        <a:rPr sz="1800" b="1">
                          <a:solidFill>
                            <a:srgbClr val="FFFFFF"/>
                          </a:solidFill>
                          <a:latin typeface="Arial"/>
                          <a:ea typeface="Arial"/>
                          <a:cs typeface="Arial"/>
                        </a:rPr>
                        <a:t>Intended sentiment</a:t>
                      </a:r>
                    </a:p>
                  </a:txBody>
                  <a:tcPr marL="152400" marR="152400" marT="123825" marB="123825" anchor="ctr">
                    <a:lnR w="9525">
                      <a:solidFill>
                        <a:srgbClr val="CEDBE1"/>
                      </a:solidFill>
                      <a:prstDash val="solid"/>
                    </a:lnR>
                    <a:lnT w="9525">
                      <a:solidFill>
                        <a:srgbClr val="CEDBE1"/>
                      </a:solidFill>
                      <a:prstDash val="solid"/>
                    </a:lnT>
                    <a:lnB w="9525">
                      <a:solidFill>
                        <a:srgbClr val="CEDBE1"/>
                      </a:solidFill>
                      <a:prstDash val="solid"/>
                    </a:lnB>
                    <a:solidFill>
                      <a:srgbClr val="112B3D"/>
                    </a:solidFill>
                  </a:tcPr>
                </a:tc>
              </a:tr>
              <a:tr h="652463">
                <a:tc>
                  <a:txBody>
                    <a:bodyPr/>
                    <a:lstStyle/>
                    <a:p>
                      <a:r>
                        <a:rPr sz="1875" b="0">
                          <a:solidFill>
                            <a:srgbClr val="172E40"/>
                          </a:solidFill>
                          <a:latin typeface="Arial"/>
                          <a:ea typeface="Arial"/>
                          <a:cs typeface="Arial"/>
                        </a:rPr>
                        <a:t>Profit increased and the outlook improved.</a:t>
                      </a:r>
                    </a:p>
                  </a:txBody>
                  <a:tcPr marL="152400" marR="152400" marT="123825" marB="123825" anchor="ctr">
                    <a:lnL w="9525">
                      <a:solidFill>
                        <a:srgbClr val="CEDBE1"/>
                      </a:solidFill>
                      <a:prstDash val="solid"/>
                    </a:lnL>
                    <a:lnR w="9525">
                      <a:solidFill>
                        <a:srgbClr val="CEDBE1"/>
                      </a:solidFill>
                      <a:prstDash val="solid"/>
                    </a:lnR>
                    <a:lnB w="9525">
                      <a:solidFill>
                        <a:srgbClr val="CEDBE1"/>
                      </a:solidFill>
                      <a:prstDash val="solid"/>
                    </a:lnB>
                    <a:solidFill>
                      <a:srgbClr val="FFFFFF"/>
                    </a:solidFill>
                  </a:tcPr>
                </a:tc>
                <a:tc>
                  <a:txBody>
                    <a:bodyPr/>
                    <a:lstStyle/>
                    <a:p>
                      <a:r>
                        <a:rPr sz="1875" b="0">
                          <a:solidFill>
                            <a:srgbClr val="172E40"/>
                          </a:solidFill>
                          <a:latin typeface="Arial"/>
                          <a:ea typeface="Arial"/>
                          <a:cs typeface="Arial"/>
                        </a:rPr>
                        <a:t>Positive</a:t>
                      </a:r>
                    </a:p>
                  </a:txBody>
                  <a:tcPr marL="152400" marR="152400" marT="123825" marB="123825" anchor="ctr">
                    <a:lnR w="9525">
                      <a:solidFill>
                        <a:srgbClr val="CEDBE1"/>
                      </a:solidFill>
                      <a:prstDash val="solid"/>
                    </a:lnR>
                    <a:lnB w="9525">
                      <a:solidFill>
                        <a:srgbClr val="CEDBE1"/>
                      </a:solidFill>
                      <a:prstDash val="solid"/>
                    </a:lnB>
                    <a:solidFill>
                      <a:srgbClr val="FFFFFF"/>
                    </a:solidFill>
                  </a:tcPr>
                </a:tc>
              </a:tr>
              <a:tr h="652463">
                <a:tc>
                  <a:txBody>
                    <a:bodyPr/>
                    <a:lstStyle/>
                    <a:p>
                      <a:r>
                        <a:rPr sz="1875" b="0">
                          <a:solidFill>
                            <a:srgbClr val="172E40"/>
                          </a:solidFill>
                          <a:latin typeface="Arial"/>
                          <a:ea typeface="Arial"/>
                          <a:cs typeface="Arial"/>
                        </a:rPr>
                        <a:t>The company expects an operating loss.</a:t>
                      </a:r>
                    </a:p>
                  </a:txBody>
                  <a:tcPr marL="152400" marR="152400" marT="123825" marB="123825" anchor="ctr">
                    <a:lnL w="9525">
                      <a:solidFill>
                        <a:srgbClr val="CEDBE1"/>
                      </a:solidFill>
                      <a:prstDash val="solid"/>
                    </a:lnL>
                    <a:lnR w="9525">
                      <a:solidFill>
                        <a:srgbClr val="CEDBE1"/>
                      </a:solidFill>
                      <a:prstDash val="solid"/>
                    </a:lnR>
                    <a:lnB w="9525">
                      <a:solidFill>
                        <a:srgbClr val="CEDBE1"/>
                      </a:solidFill>
                      <a:prstDash val="solid"/>
                    </a:lnB>
                    <a:solidFill>
                      <a:srgbClr val="FFFFFF"/>
                    </a:solidFill>
                  </a:tcPr>
                </a:tc>
                <a:tc>
                  <a:txBody>
                    <a:bodyPr/>
                    <a:lstStyle/>
                    <a:p>
                      <a:r>
                        <a:rPr sz="1875" b="0">
                          <a:solidFill>
                            <a:srgbClr val="172E40"/>
                          </a:solidFill>
                          <a:latin typeface="Arial"/>
                          <a:ea typeface="Arial"/>
                          <a:cs typeface="Arial"/>
                        </a:rPr>
                        <a:t>Negative</a:t>
                      </a:r>
                    </a:p>
                  </a:txBody>
                  <a:tcPr marL="152400" marR="152400" marT="123825" marB="123825" anchor="ctr">
                    <a:lnR w="9525">
                      <a:solidFill>
                        <a:srgbClr val="CEDBE1"/>
                      </a:solidFill>
                      <a:prstDash val="solid"/>
                    </a:lnR>
                    <a:lnB w="9525">
                      <a:solidFill>
                        <a:srgbClr val="CEDBE1"/>
                      </a:solidFill>
                      <a:prstDash val="solid"/>
                    </a:lnB>
                    <a:solidFill>
                      <a:srgbClr val="FFFFFF"/>
                    </a:solidFill>
                  </a:tcPr>
                </a:tc>
              </a:tr>
              <a:tr h="652463">
                <a:tc>
                  <a:txBody>
                    <a:bodyPr/>
                    <a:lstStyle/>
                    <a:p>
                      <a:r>
                        <a:rPr sz="1875" b="0">
                          <a:solidFill>
                            <a:srgbClr val="172E40"/>
                          </a:solidFill>
                          <a:latin typeface="Arial"/>
                          <a:ea typeface="Arial"/>
                          <a:cs typeface="Arial"/>
                        </a:rPr>
                        <a:t>The annual report will appear on Friday.</a:t>
                      </a:r>
                    </a:p>
                  </a:txBody>
                  <a:tcPr marL="152400" marR="152400" marT="123825" marB="123825" anchor="ctr">
                    <a:lnL w="9525">
                      <a:solidFill>
                        <a:srgbClr val="CEDBE1"/>
                      </a:solidFill>
                      <a:prstDash val="solid"/>
                    </a:lnL>
                    <a:lnR w="9525">
                      <a:solidFill>
                        <a:srgbClr val="CEDBE1"/>
                      </a:solidFill>
                      <a:prstDash val="solid"/>
                    </a:lnR>
                    <a:lnB w="9525">
                      <a:solidFill>
                        <a:srgbClr val="CEDBE1"/>
                      </a:solidFill>
                      <a:prstDash val="solid"/>
                    </a:lnB>
                    <a:solidFill>
                      <a:srgbClr val="FFFFFF"/>
                    </a:solidFill>
                  </a:tcPr>
                </a:tc>
                <a:tc>
                  <a:txBody>
                    <a:bodyPr/>
                    <a:lstStyle/>
                    <a:p>
                      <a:r>
                        <a:rPr sz="1875" b="0">
                          <a:solidFill>
                            <a:srgbClr val="172E40"/>
                          </a:solidFill>
                          <a:latin typeface="Arial"/>
                          <a:ea typeface="Arial"/>
                          <a:cs typeface="Arial"/>
                        </a:rPr>
                        <a:t>Neutral</a:t>
                      </a:r>
                    </a:p>
                  </a:txBody>
                  <a:tcPr marL="152400" marR="152400" marT="123825" marB="123825" anchor="ctr">
                    <a:lnR w="9525">
                      <a:solidFill>
                        <a:srgbClr val="CEDBE1"/>
                      </a:solidFill>
                      <a:prstDash val="solid"/>
                    </a:lnR>
                    <a:lnB w="9525">
                      <a:solidFill>
                        <a:srgbClr val="CEDBE1"/>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052264F-2B1D-4BC3-BDB6-C9FD20C97E7E}"/>
              </a:ext>
            </a:extLst>
          </p:cNvPr>
          <p:cNvSpPr>
            <a:spLocks xmlns:a="http://schemas.openxmlformats.org/drawingml/2006/main" noGrp="1"/>
          </p:cNvSpPr>
          <p:nvPr/>
        </p:nvSpPr>
        <p:spPr>
          <a:xfrm xmlns:a="http://schemas.openxmlformats.org/drawingml/2006/main">
            <a:off x="685800" y="5810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16779"/>
                </a:solidFill>
                <a:latin typeface="Arial"/>
                <a:ea typeface="Arial"/>
                <a:cs typeface="Arial"/>
              </a:defRPr>
            </a:defPPr>
            <a:lvl1pPr>
              <a:defRPr sz="1875" b="0">
                <a:solidFill>
                  <a:srgbClr val="516779"/>
                </a:solidFill>
                <a:latin typeface="Arial"/>
                <a:ea typeface="Arial"/>
                <a:cs typeface="Arial"/>
              </a:defRPr>
            </a:lvl1pPr>
            <a:lvl2pPr>
              <a:defRPr sz="1875" b="0">
                <a:solidFill>
                  <a:srgbClr val="516779"/>
                </a:solidFill>
                <a:latin typeface="Arial"/>
                <a:ea typeface="Arial"/>
                <a:cs typeface="Arial"/>
              </a:defRPr>
            </a:lvl2pPr>
            <a:lvl3pPr>
              <a:defRPr sz="1875" b="0">
                <a:solidFill>
                  <a:srgbClr val="516779"/>
                </a:solidFill>
                <a:latin typeface="Arial"/>
                <a:ea typeface="Arial"/>
                <a:cs typeface="Arial"/>
              </a:defRPr>
            </a:lvl3pPr>
            <a:lvl4pPr>
              <a:defRPr sz="1875" b="0">
                <a:solidFill>
                  <a:srgbClr val="516779"/>
                </a:solidFill>
                <a:latin typeface="Arial"/>
                <a:ea typeface="Arial"/>
                <a:cs typeface="Arial"/>
              </a:defRPr>
            </a:lvl4pPr>
            <a:lvl5pPr>
              <a:defRPr sz="1875" b="0">
                <a:solidFill>
                  <a:srgbClr val="516779"/>
                </a:solidFill>
                <a:latin typeface="Arial"/>
                <a:ea typeface="Arial"/>
                <a:cs typeface="Arial"/>
              </a:defRPr>
            </a:lvl5pPr>
            <a:lvl6pPr>
              <a:defRPr sz="1875" b="0">
                <a:solidFill>
                  <a:srgbClr val="516779"/>
                </a:solidFill>
                <a:latin typeface="Arial"/>
                <a:ea typeface="Arial"/>
                <a:cs typeface="Arial"/>
              </a:defRPr>
            </a:lvl6pPr>
            <a:lvl7pPr>
              <a:defRPr sz="1875" b="0">
                <a:solidFill>
                  <a:srgbClr val="516779"/>
                </a:solidFill>
                <a:latin typeface="Arial"/>
                <a:ea typeface="Arial"/>
                <a:cs typeface="Arial"/>
              </a:defRPr>
            </a:lvl7pPr>
            <a:lvl8pPr>
              <a:defRPr sz="1875" b="0">
                <a:solidFill>
                  <a:srgbClr val="516779"/>
                </a:solidFill>
                <a:latin typeface="Arial"/>
                <a:ea typeface="Arial"/>
                <a:cs typeface="Arial"/>
              </a:defRPr>
            </a:lvl8pPr>
            <a:lvl9pPr>
              <a:defRPr sz="1875" b="0">
                <a:solidFill>
                  <a:srgbClr val="516779"/>
                </a:solidFill>
                <a:latin typeface="Arial"/>
                <a:ea typeface="Arial"/>
                <a:cs typeface="Arial"/>
              </a:defRPr>
            </a:lvl9pPr>
          </a:lstStyle>
          <a:p xmlns:a="http://schemas.openxmlformats.org/drawingml/2006/main">
            <a:pPr>
              <a:defRPr sz="1875" b="0">
                <a:solidFill>
                  <a:srgbClr val="516779"/>
                </a:solidFill>
                <a:latin typeface="Arial"/>
                <a:ea typeface="Arial"/>
                <a:cs typeface="Arial"/>
              </a:defRPr>
            </a:pPr>
            <a:r>
              <a:rPr sz="1875" b="0">
                <a:solidFill>
                  <a:srgbClr val="516779"/>
                </a:solidFill>
                <a:latin typeface="Arial"/>
                <a:ea typeface="Arial"/>
                <a:cs typeface="Arial"/>
              </a:rPr>
              <a:t>Sentiment describes financial language. It does not predict stock returns.</a:t>
            </a:r>
          </a:p>
        </p:txBody>
      </p:sp>
    </p:spTree>
    <p:extLst>
      <p:ext uri="{BB962C8B-B14F-4D97-AF65-F5344CB8AC3E}">
        <p14:creationId xmlns:p14="http://schemas.microsoft.com/office/powerpoint/2010/main" val="44387377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8F202D4-51C1-40DB-8E59-3D444BA5DBF8}"/>
              </a:ext>
            </a:extLst>
          </p:cNvPr>
          <p:cNvSpPr>
            <a:spLocks xmlns:a="http://schemas.openxmlformats.org/drawingml/2006/main" noGrp="1"/>
          </p:cNvSpPr>
          <p:nvPr/>
        </p:nvSpPr>
        <p:spPr>
          <a:xfrm xmlns:a="http://schemas.openxmlformats.org/drawingml/2006/main">
            <a:off x="685800" y="5143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2E40"/>
                </a:solidFill>
                <a:latin typeface="Arial"/>
                <a:ea typeface="Arial"/>
                <a:cs typeface="Arial"/>
              </a:defRPr>
            </a:defPPr>
            <a:lvl1pPr>
              <a:defRPr sz="3225" b="1">
                <a:solidFill>
                  <a:srgbClr val="172E40"/>
                </a:solidFill>
                <a:latin typeface="Arial"/>
                <a:ea typeface="Arial"/>
                <a:cs typeface="Arial"/>
              </a:defRPr>
            </a:lvl1pPr>
            <a:lvl2pPr>
              <a:defRPr sz="3225" b="1">
                <a:solidFill>
                  <a:srgbClr val="172E40"/>
                </a:solidFill>
                <a:latin typeface="Arial"/>
                <a:ea typeface="Arial"/>
                <a:cs typeface="Arial"/>
              </a:defRPr>
            </a:lvl2pPr>
            <a:lvl3pPr>
              <a:defRPr sz="3225" b="1">
                <a:solidFill>
                  <a:srgbClr val="172E40"/>
                </a:solidFill>
                <a:latin typeface="Arial"/>
                <a:ea typeface="Arial"/>
                <a:cs typeface="Arial"/>
              </a:defRPr>
            </a:lvl3pPr>
            <a:lvl4pPr>
              <a:defRPr sz="3225" b="1">
                <a:solidFill>
                  <a:srgbClr val="172E40"/>
                </a:solidFill>
                <a:latin typeface="Arial"/>
                <a:ea typeface="Arial"/>
                <a:cs typeface="Arial"/>
              </a:defRPr>
            </a:lvl4pPr>
            <a:lvl5pPr>
              <a:defRPr sz="3225" b="1">
                <a:solidFill>
                  <a:srgbClr val="172E40"/>
                </a:solidFill>
                <a:latin typeface="Arial"/>
                <a:ea typeface="Arial"/>
                <a:cs typeface="Arial"/>
              </a:defRPr>
            </a:lvl5pPr>
            <a:lvl6pPr>
              <a:defRPr sz="3225" b="1">
                <a:solidFill>
                  <a:srgbClr val="172E40"/>
                </a:solidFill>
                <a:latin typeface="Arial"/>
                <a:ea typeface="Arial"/>
                <a:cs typeface="Arial"/>
              </a:defRPr>
            </a:lvl6pPr>
            <a:lvl7pPr>
              <a:defRPr sz="3225" b="1">
                <a:solidFill>
                  <a:srgbClr val="172E40"/>
                </a:solidFill>
                <a:latin typeface="Arial"/>
                <a:ea typeface="Arial"/>
                <a:cs typeface="Arial"/>
              </a:defRPr>
            </a:lvl7pPr>
            <a:lvl8pPr>
              <a:defRPr sz="3225" b="1">
                <a:solidFill>
                  <a:srgbClr val="172E40"/>
                </a:solidFill>
                <a:latin typeface="Arial"/>
                <a:ea typeface="Arial"/>
                <a:cs typeface="Arial"/>
              </a:defRPr>
            </a:lvl8pPr>
            <a:lvl9pPr>
              <a:defRPr sz="3225" b="1">
                <a:solidFill>
                  <a:srgbClr val="172E40"/>
                </a:solidFill>
                <a:latin typeface="Arial"/>
                <a:ea typeface="Arial"/>
                <a:cs typeface="Arial"/>
              </a:defRPr>
            </a:lvl9pPr>
          </a:lstStyle>
          <a:p xmlns:a="http://schemas.openxmlformats.org/drawingml/2006/main">
            <a:pPr>
              <a:defRPr sz="3225" b="1">
                <a:solidFill>
                  <a:srgbClr val="172E40"/>
                </a:solidFill>
                <a:latin typeface="Arial"/>
                <a:ea typeface="Arial"/>
                <a:cs typeface="Arial"/>
              </a:defRPr>
            </a:pPr>
            <a:r>
              <a:rPr sz="3225" b="1">
                <a:solidFill>
                  <a:srgbClr val="172E40"/>
                </a:solidFill>
                <a:latin typeface="Arial"/>
                <a:ea typeface="Arial"/>
                <a:cs typeface="Arial"/>
              </a:rPr>
              <a:t>Application and model roles</a:t>
            </a:r>
          </a:p>
        </p:txBody>
      </p:sp>
      <p:sp>
        <p:nvSpPr>
          <p:cNvPr id="2" name="">
            <a:extLst xmlns:a="http://schemas.openxmlformats.org/drawingml/2006/main">
              <a:ext uri="{FF2B5EF4-FFF2-40B4-BE49-F238E27FC236}">
                <a16:creationId xmlns:a16="http://schemas.microsoft.com/office/drawing/2014/main" id="{EB1A9E4C-7DAA-473B-88D6-17D826DB2964}"/>
              </a:ext>
            </a:extLst>
          </p:cNvPr>
          <p:cNvSpPr>
            <a:spLocks xmlns:a="http://schemas.openxmlformats.org/drawingml/2006/main" noGrp="1"/>
          </p:cNvSpPr>
          <p:nvPr/>
        </p:nvSpPr>
        <p:spPr>
          <a:xfrm xmlns:a="http://schemas.openxmlformats.org/drawingml/2006/main">
            <a:off x="10972800" y="6315075"/>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16779"/>
                </a:solidFill>
                <a:latin typeface="Arial"/>
                <a:ea typeface="Arial"/>
                <a:cs typeface="Arial"/>
              </a:defRPr>
            </a:defPPr>
            <a:lvl1pPr>
              <a:defRPr sz="1275" b="0">
                <a:solidFill>
                  <a:srgbClr val="516779"/>
                </a:solidFill>
                <a:latin typeface="Arial"/>
                <a:ea typeface="Arial"/>
                <a:cs typeface="Arial"/>
              </a:defRPr>
            </a:lvl1pPr>
            <a:lvl2pPr>
              <a:defRPr sz="1275" b="0">
                <a:solidFill>
                  <a:srgbClr val="516779"/>
                </a:solidFill>
                <a:latin typeface="Arial"/>
                <a:ea typeface="Arial"/>
                <a:cs typeface="Arial"/>
              </a:defRPr>
            </a:lvl2pPr>
            <a:lvl3pPr>
              <a:defRPr sz="1275" b="0">
                <a:solidFill>
                  <a:srgbClr val="516779"/>
                </a:solidFill>
                <a:latin typeface="Arial"/>
                <a:ea typeface="Arial"/>
                <a:cs typeface="Arial"/>
              </a:defRPr>
            </a:lvl3pPr>
            <a:lvl4pPr>
              <a:defRPr sz="1275" b="0">
                <a:solidFill>
                  <a:srgbClr val="516779"/>
                </a:solidFill>
                <a:latin typeface="Arial"/>
                <a:ea typeface="Arial"/>
                <a:cs typeface="Arial"/>
              </a:defRPr>
            </a:lvl4pPr>
            <a:lvl5pPr>
              <a:defRPr sz="1275" b="0">
                <a:solidFill>
                  <a:srgbClr val="516779"/>
                </a:solidFill>
                <a:latin typeface="Arial"/>
                <a:ea typeface="Arial"/>
                <a:cs typeface="Arial"/>
              </a:defRPr>
            </a:lvl5pPr>
            <a:lvl6pPr>
              <a:defRPr sz="1275" b="0">
                <a:solidFill>
                  <a:srgbClr val="516779"/>
                </a:solidFill>
                <a:latin typeface="Arial"/>
                <a:ea typeface="Arial"/>
                <a:cs typeface="Arial"/>
              </a:defRPr>
            </a:lvl6pPr>
            <a:lvl7pPr>
              <a:defRPr sz="1275" b="0">
                <a:solidFill>
                  <a:srgbClr val="516779"/>
                </a:solidFill>
                <a:latin typeface="Arial"/>
                <a:ea typeface="Arial"/>
                <a:cs typeface="Arial"/>
              </a:defRPr>
            </a:lvl7pPr>
            <a:lvl8pPr>
              <a:defRPr sz="1275" b="0">
                <a:solidFill>
                  <a:srgbClr val="516779"/>
                </a:solidFill>
                <a:latin typeface="Arial"/>
                <a:ea typeface="Arial"/>
                <a:cs typeface="Arial"/>
              </a:defRPr>
            </a:lvl8pPr>
            <a:lvl9pPr>
              <a:defRPr sz="1275" b="0">
                <a:solidFill>
                  <a:srgbClr val="516779"/>
                </a:solidFill>
                <a:latin typeface="Arial"/>
                <a:ea typeface="Arial"/>
                <a:cs typeface="Arial"/>
              </a:defRPr>
            </a:lvl9pPr>
          </a:lstStyle>
          <a:p xmlns:a="http://schemas.openxmlformats.org/drawingml/2006/main">
            <a:pPr>
              <a:defRPr sz="1275" b="0">
                <a:solidFill>
                  <a:srgbClr val="516779"/>
                </a:solidFill>
                <a:latin typeface="Arial"/>
                <a:ea typeface="Arial"/>
                <a:cs typeface="Arial"/>
              </a:defRPr>
            </a:pPr>
            <a:r>
              <a:rPr sz="1275" b="0">
                <a:solidFill>
                  <a:srgbClr val="516779"/>
                </a:solidFill>
                <a:latin typeface="Arial"/>
                <a:ea typeface="Arial"/>
                <a:cs typeface="Arial"/>
              </a:rPr>
              <a:t>03</a:t>
            </a:r>
          </a:p>
        </p:txBody>
      </p:sp>
      <p:graphicFrame>
        <p:nvGraphicFramePr>
          <p:cNvPr id="3" name="">
            <a:extLst xmlns:a="http://schemas.openxmlformats.org/drawingml/2006/main">
              <a:ext uri="{FF2B5EF4-FFF2-40B4-BE49-F238E27FC236}">
                <a16:creationId xmlns:a16="http://schemas.microsoft.com/office/drawing/2014/main" id="{B884AD54-EDE2-4090-975E-0F2A89E6DF97}"/>
              </a:ext>
            </a:extLst>
          </p:cNvPr>
          <p:cNvGraphicFramePr/>
          <p:nvPr/>
        </p:nvGraphicFramePr>
        <p:xfrm>
          <a:off xmlns:a="http://schemas.openxmlformats.org/drawingml/2006/main" x="685800" y="1571625"/>
          <a:ext xmlns:a="http://schemas.openxmlformats.org/drawingml/2006/main" cx="10820400" cy="3457575"/>
        </p:xfrm>
        <a:graphic xmlns:a="http://schemas.openxmlformats.org/drawingml/2006/main">
          <a:graphicData uri="http://schemas.openxmlformats.org/drawingml/2006/table">
            <a:tbl>
              <a:tblPr firstRow="1" bandRow="0"/>
              <a:tblGrid>
                <a:gridCol w="3048000"/>
                <a:gridCol w="7772400"/>
              </a:tblGrid>
              <a:tr h="691515">
                <a:tc>
                  <a:txBody>
                    <a:bodyPr/>
                    <a:lstStyle/>
                    <a:p>
                      <a:r>
                        <a:rPr sz="1800" b="1">
                          <a:solidFill>
                            <a:srgbClr val="FFFFFF"/>
                          </a:solidFill>
                          <a:latin typeface="Arial"/>
                          <a:ea typeface="Arial"/>
                          <a:cs typeface="Arial"/>
                        </a:rPr>
                        <a:t>Layer</a:t>
                      </a:r>
                    </a:p>
                  </a:txBody>
                  <a:tcPr marL="152400" marR="152400" marT="123825" marB="123825" anchor="ctr">
                    <a:lnL w="9525">
                      <a:solidFill>
                        <a:srgbClr val="CEDBE1"/>
                      </a:solidFill>
                      <a:prstDash val="solid"/>
                    </a:lnL>
                    <a:lnR w="9525">
                      <a:solidFill>
                        <a:srgbClr val="CEDBE1"/>
                      </a:solidFill>
                      <a:prstDash val="solid"/>
                    </a:lnR>
                    <a:lnT w="9525">
                      <a:solidFill>
                        <a:srgbClr val="CEDBE1"/>
                      </a:solidFill>
                      <a:prstDash val="solid"/>
                    </a:lnT>
                    <a:lnB w="9525">
                      <a:solidFill>
                        <a:srgbClr val="CEDBE1"/>
                      </a:solidFill>
                      <a:prstDash val="solid"/>
                    </a:lnB>
                    <a:solidFill>
                      <a:srgbClr val="112B3D"/>
                    </a:solidFill>
                  </a:tcPr>
                </a:tc>
                <a:tc>
                  <a:txBody>
                    <a:bodyPr/>
                    <a:lstStyle/>
                    <a:p>
                      <a:r>
                        <a:rPr sz="1800" b="1">
                          <a:solidFill>
                            <a:srgbClr val="FFFFFF"/>
                          </a:solidFill>
                          <a:latin typeface="Arial"/>
                          <a:ea typeface="Arial"/>
                          <a:cs typeface="Arial"/>
                        </a:rPr>
                        <a:t>Role</a:t>
                      </a:r>
                    </a:p>
                  </a:txBody>
                  <a:tcPr marL="152400" marR="152400" marT="123825" marB="123825" anchor="ctr">
                    <a:lnR w="9525">
                      <a:solidFill>
                        <a:srgbClr val="CEDBE1"/>
                      </a:solidFill>
                      <a:prstDash val="solid"/>
                    </a:lnR>
                    <a:lnT w="9525">
                      <a:solidFill>
                        <a:srgbClr val="CEDBE1"/>
                      </a:solidFill>
                      <a:prstDash val="solid"/>
                    </a:lnT>
                    <a:lnB w="9525">
                      <a:solidFill>
                        <a:srgbClr val="CEDBE1"/>
                      </a:solidFill>
                      <a:prstDash val="solid"/>
                    </a:lnB>
                    <a:solidFill>
                      <a:srgbClr val="112B3D"/>
                    </a:solidFill>
                  </a:tcPr>
                </a:tc>
              </a:tr>
              <a:tr h="691515">
                <a:tc>
                  <a:txBody>
                    <a:bodyPr/>
                    <a:lstStyle/>
                    <a:p>
                      <a:r>
                        <a:rPr sz="1875" b="0">
                          <a:solidFill>
                            <a:srgbClr val="172E40"/>
                          </a:solidFill>
                          <a:latin typeface="Arial"/>
                          <a:ea typeface="Arial"/>
                          <a:cs typeface="Arial"/>
                        </a:rPr>
                        <a:t>Streamlit interface</a:t>
                      </a:r>
                    </a:p>
                  </a:txBody>
                  <a:tcPr marL="152400" marR="152400" marT="123825" marB="123825" anchor="ctr">
                    <a:lnL w="9525">
                      <a:solidFill>
                        <a:srgbClr val="CEDBE1"/>
                      </a:solidFill>
                      <a:prstDash val="solid"/>
                    </a:lnL>
                    <a:lnR w="9525">
                      <a:solidFill>
                        <a:srgbClr val="CEDBE1"/>
                      </a:solidFill>
                      <a:prstDash val="solid"/>
                    </a:lnR>
                    <a:lnB w="9525">
                      <a:solidFill>
                        <a:srgbClr val="CEDBE1"/>
                      </a:solidFill>
                      <a:prstDash val="solid"/>
                    </a:lnB>
                    <a:solidFill>
                      <a:srgbClr val="FFFFFF"/>
                    </a:solidFill>
                  </a:tcPr>
                </a:tc>
                <a:tc>
                  <a:txBody>
                    <a:bodyPr/>
                    <a:lstStyle/>
                    <a:p>
                      <a:r>
                        <a:rPr sz="1875" b="0">
                          <a:solidFill>
                            <a:srgbClr val="172E40"/>
                          </a:solidFill>
                          <a:latin typeface="Arial"/>
                          <a:ea typeface="Arial"/>
                          <a:cs typeface="Arial"/>
                        </a:rPr>
                        <a:t>Text input, CSV upload, result inspection and export</a:t>
                      </a:r>
                    </a:p>
                  </a:txBody>
                  <a:tcPr marL="152400" marR="152400" marT="123825" marB="123825" anchor="ctr">
                    <a:lnR w="9525">
                      <a:solidFill>
                        <a:srgbClr val="CEDBE1"/>
                      </a:solidFill>
                      <a:prstDash val="solid"/>
                    </a:lnR>
                    <a:lnB w="9525">
                      <a:solidFill>
                        <a:srgbClr val="CEDBE1"/>
                      </a:solidFill>
                      <a:prstDash val="solid"/>
                    </a:lnB>
                    <a:solidFill>
                      <a:srgbClr val="FFFFFF"/>
                    </a:solidFill>
                  </a:tcPr>
                </a:tc>
              </a:tr>
              <a:tr h="691515">
                <a:tc>
                  <a:txBody>
                    <a:bodyPr/>
                    <a:lstStyle/>
                    <a:p>
                      <a:r>
                        <a:rPr sz="1875" b="0">
                          <a:solidFill>
                            <a:srgbClr val="172E40"/>
                          </a:solidFill>
                          <a:latin typeface="Arial"/>
                          <a:ea typeface="Arial"/>
                          <a:cs typeface="Arial"/>
                        </a:rPr>
                        <a:t>Shared validation</a:t>
                      </a:r>
                    </a:p>
                  </a:txBody>
                  <a:tcPr marL="152400" marR="152400" marT="123825" marB="123825" anchor="ctr">
                    <a:lnL w="9525">
                      <a:solidFill>
                        <a:srgbClr val="CEDBE1"/>
                      </a:solidFill>
                      <a:prstDash val="solid"/>
                    </a:lnL>
                    <a:lnR w="9525">
                      <a:solidFill>
                        <a:srgbClr val="CEDBE1"/>
                      </a:solidFill>
                      <a:prstDash val="solid"/>
                    </a:lnR>
                    <a:lnB w="9525">
                      <a:solidFill>
                        <a:srgbClr val="CEDBE1"/>
                      </a:solidFill>
                      <a:prstDash val="solid"/>
                    </a:lnB>
                    <a:solidFill>
                      <a:srgbClr val="FFFFFF"/>
                    </a:solidFill>
                  </a:tcPr>
                </a:tc>
                <a:tc>
                  <a:txBody>
                    <a:bodyPr/>
                    <a:lstStyle/>
                    <a:p>
                      <a:r>
                        <a:rPr sz="1875" b="0">
                          <a:solidFill>
                            <a:srgbClr val="172E40"/>
                          </a:solidFill>
                          <a:latin typeface="Arial"/>
                          <a:ea typeface="Arial"/>
                          <a:cs typeface="Arial"/>
                        </a:rPr>
                        <a:t>Blank rows, input length and named class mapping</a:t>
                      </a:r>
                    </a:p>
                  </a:txBody>
                  <a:tcPr marL="152400" marR="152400" marT="123825" marB="123825" anchor="ctr">
                    <a:lnR w="9525">
                      <a:solidFill>
                        <a:srgbClr val="CEDBE1"/>
                      </a:solidFill>
                      <a:prstDash val="solid"/>
                    </a:lnR>
                    <a:lnB w="9525">
                      <a:solidFill>
                        <a:srgbClr val="CEDBE1"/>
                      </a:solidFill>
                      <a:prstDash val="solid"/>
                    </a:lnB>
                    <a:solidFill>
                      <a:srgbClr val="FFFFFF"/>
                    </a:solidFill>
                  </a:tcPr>
                </a:tc>
              </a:tr>
              <a:tr h="691515">
                <a:tc>
                  <a:txBody>
                    <a:bodyPr/>
                    <a:lstStyle/>
                    <a:p>
                      <a:r>
                        <a:rPr sz="1875" b="0">
                          <a:solidFill>
                            <a:srgbClr val="172E40"/>
                          </a:solidFill>
                          <a:latin typeface="Arial"/>
                          <a:ea typeface="Arial"/>
                          <a:cs typeface="Arial"/>
                        </a:rPr>
                        <a:t>Pretrained FinBERT</a:t>
                      </a:r>
                    </a:p>
                  </a:txBody>
                  <a:tcPr marL="152400" marR="152400" marT="123825" marB="123825" anchor="ctr">
                    <a:lnL w="9525">
                      <a:solidFill>
                        <a:srgbClr val="CEDBE1"/>
                      </a:solidFill>
                      <a:prstDash val="solid"/>
                    </a:lnL>
                    <a:lnR w="9525">
                      <a:solidFill>
                        <a:srgbClr val="CEDBE1"/>
                      </a:solidFill>
                      <a:prstDash val="solid"/>
                    </a:lnR>
                    <a:lnB w="9525">
                      <a:solidFill>
                        <a:srgbClr val="CEDBE1"/>
                      </a:solidFill>
                      <a:prstDash val="solid"/>
                    </a:lnB>
                    <a:solidFill>
                      <a:srgbClr val="FFFFFF"/>
                    </a:solidFill>
                  </a:tcPr>
                </a:tc>
                <a:tc>
                  <a:txBody>
                    <a:bodyPr/>
                    <a:lstStyle/>
                    <a:p>
                      <a:r>
                        <a:rPr sz="1875" b="0">
                          <a:solidFill>
                            <a:srgbClr val="172E40"/>
                          </a:solidFill>
                          <a:latin typeface="Arial"/>
                          <a:ea typeface="Arial"/>
                          <a:cs typeface="Arial"/>
                        </a:rPr>
                        <a:t>Financial transformer inference with all three scores</a:t>
                      </a:r>
                    </a:p>
                  </a:txBody>
                  <a:tcPr marL="152400" marR="152400" marT="123825" marB="123825" anchor="ctr">
                    <a:lnR w="9525">
                      <a:solidFill>
                        <a:srgbClr val="CEDBE1"/>
                      </a:solidFill>
                      <a:prstDash val="solid"/>
                    </a:lnR>
                    <a:lnB w="9525">
                      <a:solidFill>
                        <a:srgbClr val="CEDBE1"/>
                      </a:solidFill>
                      <a:prstDash val="solid"/>
                    </a:lnB>
                    <a:solidFill>
                      <a:srgbClr val="FFFFFF"/>
                    </a:solidFill>
                  </a:tcPr>
                </a:tc>
              </a:tr>
              <a:tr h="691515">
                <a:tc>
                  <a:txBody>
                    <a:bodyPr/>
                    <a:lstStyle/>
                    <a:p>
                      <a:r>
                        <a:rPr sz="1875" b="0">
                          <a:solidFill>
                            <a:srgbClr val="172E40"/>
                          </a:solidFill>
                          <a:latin typeface="Arial"/>
                          <a:ea typeface="Arial"/>
                          <a:cs typeface="Arial"/>
                        </a:rPr>
                        <a:t>Trained baseline</a:t>
                      </a:r>
                    </a:p>
                  </a:txBody>
                  <a:tcPr marL="152400" marR="152400" marT="123825" marB="123825" anchor="ctr">
                    <a:lnL w="9525">
                      <a:solidFill>
                        <a:srgbClr val="CEDBE1"/>
                      </a:solidFill>
                      <a:prstDash val="solid"/>
                    </a:lnL>
                    <a:lnR w="9525">
                      <a:solidFill>
                        <a:srgbClr val="CEDBE1"/>
                      </a:solidFill>
                      <a:prstDash val="solid"/>
                    </a:lnR>
                    <a:lnB w="9525">
                      <a:solidFill>
                        <a:srgbClr val="CEDBE1"/>
                      </a:solidFill>
                      <a:prstDash val="solid"/>
                    </a:lnB>
                    <a:solidFill>
                      <a:srgbClr val="FFFFFF"/>
                    </a:solidFill>
                  </a:tcPr>
                </a:tc>
                <a:tc>
                  <a:txBody>
                    <a:bodyPr/>
                    <a:lstStyle/>
                    <a:p>
                      <a:r>
                        <a:rPr sz="1875" b="0">
                          <a:solidFill>
                            <a:srgbClr val="172E40"/>
                          </a:solidFill>
                          <a:latin typeface="Arial"/>
                          <a:ea typeface="Arial"/>
                          <a:cs typeface="Arial"/>
                        </a:rPr>
                        <a:t>TF-IDF features and logistic regression</a:t>
                      </a:r>
                    </a:p>
                  </a:txBody>
                  <a:tcPr marL="152400" marR="152400" marT="123825" marB="123825" anchor="ctr">
                    <a:lnR w="9525">
                      <a:solidFill>
                        <a:srgbClr val="CEDBE1"/>
                      </a:solidFill>
                      <a:prstDash val="solid"/>
                    </a:lnR>
                    <a:lnB w="9525">
                      <a:solidFill>
                        <a:srgbClr val="CEDBE1"/>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F2F11A4-6B82-4ADF-86A6-FECE20EB2756}"/>
              </a:ext>
            </a:extLst>
          </p:cNvPr>
          <p:cNvSpPr>
            <a:spLocks xmlns:a="http://schemas.openxmlformats.org/drawingml/2006/main" noGrp="1"/>
          </p:cNvSpPr>
          <p:nvPr/>
        </p:nvSpPr>
        <p:spPr>
          <a:xfrm xmlns:a="http://schemas.openxmlformats.org/drawingml/2006/main">
            <a:off x="685800" y="5467350"/>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C83"/>
                </a:solidFill>
                <a:latin typeface="Arial"/>
                <a:ea typeface="Arial"/>
                <a:cs typeface="Arial"/>
              </a:defRPr>
            </a:defPPr>
            <a:lvl1pPr>
              <a:defRPr sz="2175" b="1">
                <a:solidFill>
                  <a:srgbClr val="007C83"/>
                </a:solidFill>
                <a:latin typeface="Arial"/>
                <a:ea typeface="Arial"/>
                <a:cs typeface="Arial"/>
              </a:defRPr>
            </a:lvl1pPr>
            <a:lvl2pPr>
              <a:defRPr sz="2175" b="1">
                <a:solidFill>
                  <a:srgbClr val="007C83"/>
                </a:solidFill>
                <a:latin typeface="Arial"/>
                <a:ea typeface="Arial"/>
                <a:cs typeface="Arial"/>
              </a:defRPr>
            </a:lvl2pPr>
            <a:lvl3pPr>
              <a:defRPr sz="2175" b="1">
                <a:solidFill>
                  <a:srgbClr val="007C83"/>
                </a:solidFill>
                <a:latin typeface="Arial"/>
                <a:ea typeface="Arial"/>
                <a:cs typeface="Arial"/>
              </a:defRPr>
            </a:lvl3pPr>
            <a:lvl4pPr>
              <a:defRPr sz="2175" b="1">
                <a:solidFill>
                  <a:srgbClr val="007C83"/>
                </a:solidFill>
                <a:latin typeface="Arial"/>
                <a:ea typeface="Arial"/>
                <a:cs typeface="Arial"/>
              </a:defRPr>
            </a:lvl4pPr>
            <a:lvl5pPr>
              <a:defRPr sz="2175" b="1">
                <a:solidFill>
                  <a:srgbClr val="007C83"/>
                </a:solidFill>
                <a:latin typeface="Arial"/>
                <a:ea typeface="Arial"/>
                <a:cs typeface="Arial"/>
              </a:defRPr>
            </a:lvl5pPr>
            <a:lvl6pPr>
              <a:defRPr sz="2175" b="1">
                <a:solidFill>
                  <a:srgbClr val="007C83"/>
                </a:solidFill>
                <a:latin typeface="Arial"/>
                <a:ea typeface="Arial"/>
                <a:cs typeface="Arial"/>
              </a:defRPr>
            </a:lvl6pPr>
            <a:lvl7pPr>
              <a:defRPr sz="2175" b="1">
                <a:solidFill>
                  <a:srgbClr val="007C83"/>
                </a:solidFill>
                <a:latin typeface="Arial"/>
                <a:ea typeface="Arial"/>
                <a:cs typeface="Arial"/>
              </a:defRPr>
            </a:lvl7pPr>
            <a:lvl8pPr>
              <a:defRPr sz="2175" b="1">
                <a:solidFill>
                  <a:srgbClr val="007C83"/>
                </a:solidFill>
                <a:latin typeface="Arial"/>
                <a:ea typeface="Arial"/>
                <a:cs typeface="Arial"/>
              </a:defRPr>
            </a:lvl8pPr>
            <a:lvl9pPr>
              <a:defRPr sz="2175" b="1">
                <a:solidFill>
                  <a:srgbClr val="007C83"/>
                </a:solidFill>
                <a:latin typeface="Arial"/>
                <a:ea typeface="Arial"/>
                <a:cs typeface="Arial"/>
              </a:defRPr>
            </a:lvl9pPr>
          </a:lstStyle>
          <a:p xmlns:a="http://schemas.openxmlformats.org/drawingml/2006/main">
            <a:pPr>
              <a:defRPr sz="2175" b="1">
                <a:solidFill>
                  <a:srgbClr val="007C83"/>
                </a:solidFill>
                <a:latin typeface="Arial"/>
                <a:ea typeface="Arial"/>
                <a:cs typeface="Arial"/>
              </a:defRPr>
            </a:pPr>
            <a:r>
              <a:rPr sz="2175" b="1">
                <a:solidFill>
                  <a:srgbClr val="007C83"/>
                </a:solidFill>
                <a:latin typeface="Arial"/>
                <a:ea typeface="Arial"/>
                <a:cs typeface="Arial"/>
              </a:rPr>
              <a:t>Both model routes return the same named labels and result schema.</a:t>
            </a:r>
          </a:p>
        </p:txBody>
      </p:sp>
    </p:spTree>
    <p:extLst>
      <p:ext uri="{BB962C8B-B14F-4D97-AF65-F5344CB8AC3E}">
        <p14:creationId xmlns:p14="http://schemas.microsoft.com/office/powerpoint/2010/main" val="113336127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190ED2C-4DFF-4BC9-9FBE-F2A24DD17AD2}"/>
              </a:ext>
            </a:extLst>
          </p:cNvPr>
          <p:cNvSpPr>
            <a:spLocks xmlns:a="http://schemas.openxmlformats.org/drawingml/2006/main" noGrp="1"/>
          </p:cNvSpPr>
          <p:nvPr/>
        </p:nvSpPr>
        <p:spPr>
          <a:xfrm xmlns:a="http://schemas.openxmlformats.org/drawingml/2006/main">
            <a:off x="685800" y="5143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2E40"/>
                </a:solidFill>
                <a:latin typeface="Arial"/>
                <a:ea typeface="Arial"/>
                <a:cs typeface="Arial"/>
              </a:defRPr>
            </a:defPPr>
            <a:lvl1pPr>
              <a:defRPr sz="3225" b="1">
                <a:solidFill>
                  <a:srgbClr val="172E40"/>
                </a:solidFill>
                <a:latin typeface="Arial"/>
                <a:ea typeface="Arial"/>
                <a:cs typeface="Arial"/>
              </a:defRPr>
            </a:lvl1pPr>
            <a:lvl2pPr>
              <a:defRPr sz="3225" b="1">
                <a:solidFill>
                  <a:srgbClr val="172E40"/>
                </a:solidFill>
                <a:latin typeface="Arial"/>
                <a:ea typeface="Arial"/>
                <a:cs typeface="Arial"/>
              </a:defRPr>
            </a:lvl2pPr>
            <a:lvl3pPr>
              <a:defRPr sz="3225" b="1">
                <a:solidFill>
                  <a:srgbClr val="172E40"/>
                </a:solidFill>
                <a:latin typeface="Arial"/>
                <a:ea typeface="Arial"/>
                <a:cs typeface="Arial"/>
              </a:defRPr>
            </a:lvl3pPr>
            <a:lvl4pPr>
              <a:defRPr sz="3225" b="1">
                <a:solidFill>
                  <a:srgbClr val="172E40"/>
                </a:solidFill>
                <a:latin typeface="Arial"/>
                <a:ea typeface="Arial"/>
                <a:cs typeface="Arial"/>
              </a:defRPr>
            </a:lvl4pPr>
            <a:lvl5pPr>
              <a:defRPr sz="3225" b="1">
                <a:solidFill>
                  <a:srgbClr val="172E40"/>
                </a:solidFill>
                <a:latin typeface="Arial"/>
                <a:ea typeface="Arial"/>
                <a:cs typeface="Arial"/>
              </a:defRPr>
            </a:lvl5pPr>
            <a:lvl6pPr>
              <a:defRPr sz="3225" b="1">
                <a:solidFill>
                  <a:srgbClr val="172E40"/>
                </a:solidFill>
                <a:latin typeface="Arial"/>
                <a:ea typeface="Arial"/>
                <a:cs typeface="Arial"/>
              </a:defRPr>
            </a:lvl6pPr>
            <a:lvl7pPr>
              <a:defRPr sz="3225" b="1">
                <a:solidFill>
                  <a:srgbClr val="172E40"/>
                </a:solidFill>
                <a:latin typeface="Arial"/>
                <a:ea typeface="Arial"/>
                <a:cs typeface="Arial"/>
              </a:defRPr>
            </a:lvl7pPr>
            <a:lvl8pPr>
              <a:defRPr sz="3225" b="1">
                <a:solidFill>
                  <a:srgbClr val="172E40"/>
                </a:solidFill>
                <a:latin typeface="Arial"/>
                <a:ea typeface="Arial"/>
                <a:cs typeface="Arial"/>
              </a:defRPr>
            </a:lvl8pPr>
            <a:lvl9pPr>
              <a:defRPr sz="3225" b="1">
                <a:solidFill>
                  <a:srgbClr val="172E40"/>
                </a:solidFill>
                <a:latin typeface="Arial"/>
                <a:ea typeface="Arial"/>
                <a:cs typeface="Arial"/>
              </a:defRPr>
            </a:lvl9pPr>
          </a:lstStyle>
          <a:p xmlns:a="http://schemas.openxmlformats.org/drawingml/2006/main">
            <a:pPr>
              <a:defRPr sz="3225" b="1">
                <a:solidFill>
                  <a:srgbClr val="172E40"/>
                </a:solidFill>
                <a:latin typeface="Arial"/>
                <a:ea typeface="Arial"/>
                <a:cs typeface="Arial"/>
              </a:defRPr>
            </a:pPr>
            <a:r>
              <a:rPr sz="3225" b="1">
                <a:solidFill>
                  <a:srgbClr val="172E40"/>
                </a:solidFill>
                <a:latin typeface="Arial"/>
                <a:ea typeface="Arial"/>
                <a:cs typeface="Arial"/>
              </a:rPr>
              <a:t>Financial PhraseBank is imbalanced</a:t>
            </a:r>
          </a:p>
        </p:txBody>
      </p:sp>
      <p:sp>
        <p:nvSpPr>
          <p:cNvPr id="2" name="">
            <a:extLst xmlns:a="http://schemas.openxmlformats.org/drawingml/2006/main">
              <a:ext uri="{FF2B5EF4-FFF2-40B4-BE49-F238E27FC236}">
                <a16:creationId xmlns:a16="http://schemas.microsoft.com/office/drawing/2014/main" id="{C84E51BB-E6DF-4F0C-9609-167AE12F8DC1}"/>
              </a:ext>
            </a:extLst>
          </p:cNvPr>
          <p:cNvSpPr>
            <a:spLocks xmlns:a="http://schemas.openxmlformats.org/drawingml/2006/main" noGrp="1"/>
          </p:cNvSpPr>
          <p:nvPr/>
        </p:nvSpPr>
        <p:spPr>
          <a:xfrm xmlns:a="http://schemas.openxmlformats.org/drawingml/2006/main">
            <a:off x="10972800" y="6315075"/>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16779"/>
                </a:solidFill>
                <a:latin typeface="Arial"/>
                <a:ea typeface="Arial"/>
                <a:cs typeface="Arial"/>
              </a:defRPr>
            </a:defPPr>
            <a:lvl1pPr>
              <a:defRPr sz="1275" b="0">
                <a:solidFill>
                  <a:srgbClr val="516779"/>
                </a:solidFill>
                <a:latin typeface="Arial"/>
                <a:ea typeface="Arial"/>
                <a:cs typeface="Arial"/>
              </a:defRPr>
            </a:lvl1pPr>
            <a:lvl2pPr>
              <a:defRPr sz="1275" b="0">
                <a:solidFill>
                  <a:srgbClr val="516779"/>
                </a:solidFill>
                <a:latin typeface="Arial"/>
                <a:ea typeface="Arial"/>
                <a:cs typeface="Arial"/>
              </a:defRPr>
            </a:lvl2pPr>
            <a:lvl3pPr>
              <a:defRPr sz="1275" b="0">
                <a:solidFill>
                  <a:srgbClr val="516779"/>
                </a:solidFill>
                <a:latin typeface="Arial"/>
                <a:ea typeface="Arial"/>
                <a:cs typeface="Arial"/>
              </a:defRPr>
            </a:lvl3pPr>
            <a:lvl4pPr>
              <a:defRPr sz="1275" b="0">
                <a:solidFill>
                  <a:srgbClr val="516779"/>
                </a:solidFill>
                <a:latin typeface="Arial"/>
                <a:ea typeface="Arial"/>
                <a:cs typeface="Arial"/>
              </a:defRPr>
            </a:lvl4pPr>
            <a:lvl5pPr>
              <a:defRPr sz="1275" b="0">
                <a:solidFill>
                  <a:srgbClr val="516779"/>
                </a:solidFill>
                <a:latin typeface="Arial"/>
                <a:ea typeface="Arial"/>
                <a:cs typeface="Arial"/>
              </a:defRPr>
            </a:lvl5pPr>
            <a:lvl6pPr>
              <a:defRPr sz="1275" b="0">
                <a:solidFill>
                  <a:srgbClr val="516779"/>
                </a:solidFill>
                <a:latin typeface="Arial"/>
                <a:ea typeface="Arial"/>
                <a:cs typeface="Arial"/>
              </a:defRPr>
            </a:lvl6pPr>
            <a:lvl7pPr>
              <a:defRPr sz="1275" b="0">
                <a:solidFill>
                  <a:srgbClr val="516779"/>
                </a:solidFill>
                <a:latin typeface="Arial"/>
                <a:ea typeface="Arial"/>
                <a:cs typeface="Arial"/>
              </a:defRPr>
            </a:lvl7pPr>
            <a:lvl8pPr>
              <a:defRPr sz="1275" b="0">
                <a:solidFill>
                  <a:srgbClr val="516779"/>
                </a:solidFill>
                <a:latin typeface="Arial"/>
                <a:ea typeface="Arial"/>
                <a:cs typeface="Arial"/>
              </a:defRPr>
            </a:lvl8pPr>
            <a:lvl9pPr>
              <a:defRPr sz="1275" b="0">
                <a:solidFill>
                  <a:srgbClr val="516779"/>
                </a:solidFill>
                <a:latin typeface="Arial"/>
                <a:ea typeface="Arial"/>
                <a:cs typeface="Arial"/>
              </a:defRPr>
            </a:lvl9pPr>
          </a:lstStyle>
          <a:p xmlns:a="http://schemas.openxmlformats.org/drawingml/2006/main">
            <a:pPr>
              <a:defRPr sz="1275" b="0">
                <a:solidFill>
                  <a:srgbClr val="516779"/>
                </a:solidFill>
                <a:latin typeface="Arial"/>
                <a:ea typeface="Arial"/>
                <a:cs typeface="Arial"/>
              </a:defRPr>
            </a:pPr>
            <a:r>
              <a:rPr sz="1275" b="0">
                <a:solidFill>
                  <a:srgbClr val="516779"/>
                </a:solidFill>
                <a:latin typeface="Arial"/>
                <a:ea typeface="Arial"/>
                <a:cs typeface="Arial"/>
              </a:rPr>
              <a:t>04</a:t>
            </a:r>
          </a:p>
        </p:txBody>
      </p:sp>
      <p:graphicFrame>
        <p:nvGraphicFramePr>
          <p:cNvPr id="3" name="Chart">
            <a:extLst xmlns:a="http://schemas.openxmlformats.org/drawingml/2006/main">
              <a:ext uri="{FF2B5EF4-FFF2-40B4-BE49-F238E27FC236}">
                <a16:creationId xmlns:a16="http://schemas.microsoft.com/office/drawing/2014/main" id="{37B9EA29-0236-4FA5-AB20-E5476802972A}"/>
              </a:ext>
            </a:extLst>
          </p:cNvPr>
          <p:cNvGraphicFramePr/>
          <p:nvPr/>
        </p:nvGraphicFramePr>
        <p:xfrm>
          <a:off xmlns:a="http://schemas.openxmlformats.org/drawingml/2006/main" x="685800" y="1543050"/>
          <a:ext xmlns:a="http://schemas.openxmlformats.org/drawingml/2006/main" cx="7239000" cy="3962400"/>
        </p:xfrm>
        <a:graphic xmlns:a="http://schemas.openxmlformats.org/drawingml/2006/main">
          <a:graphicData uri="http://schemas.openxmlformats.org/drawingml/2006/chart">
            <c:chart xmlns:r="http://schemas.openxmlformats.org/officeDocument/2006/relationships" xmlns:c="http://schemas.openxmlformats.org/drawingml/2006/chart" r:id="R7db8a47bc651412d"/>
          </a:graphicData>
        </a:graphic>
      </p:graphicFrame>
      <p:sp>
        <p:nvSpPr>
          <p:cNvPr id="4" name="">
            <a:extLst xmlns:a="http://schemas.openxmlformats.org/drawingml/2006/main">
              <a:ext uri="{FF2B5EF4-FFF2-40B4-BE49-F238E27FC236}">
                <a16:creationId xmlns:a16="http://schemas.microsoft.com/office/drawing/2014/main" id="{8C118D55-F7E9-4DD7-A25A-548A83480021}"/>
              </a:ext>
            </a:extLst>
          </p:cNvPr>
          <p:cNvSpPr>
            <a:spLocks xmlns:a="http://schemas.openxmlformats.org/drawingml/2006/main" noGrp="1"/>
          </p:cNvSpPr>
          <p:nvPr/>
        </p:nvSpPr>
        <p:spPr>
          <a:xfrm xmlns:a="http://schemas.openxmlformats.org/drawingml/2006/main">
            <a:off x="8572500" y="1857375"/>
            <a:ext cx="276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800" b="1">
                <a:solidFill>
                  <a:srgbClr val="007C83"/>
                </a:solidFill>
                <a:latin typeface="Arial"/>
                <a:ea typeface="Arial"/>
                <a:cs typeface="Arial"/>
              </a:defRPr>
            </a:defPPr>
            <a:lvl1pPr>
              <a:defRPr sz="4800" b="1">
                <a:solidFill>
                  <a:srgbClr val="007C83"/>
                </a:solidFill>
                <a:latin typeface="Arial"/>
                <a:ea typeface="Arial"/>
                <a:cs typeface="Arial"/>
              </a:defRPr>
            </a:lvl1pPr>
            <a:lvl2pPr>
              <a:defRPr sz="4800" b="1">
                <a:solidFill>
                  <a:srgbClr val="007C83"/>
                </a:solidFill>
                <a:latin typeface="Arial"/>
                <a:ea typeface="Arial"/>
                <a:cs typeface="Arial"/>
              </a:defRPr>
            </a:lvl2pPr>
            <a:lvl3pPr>
              <a:defRPr sz="4800" b="1">
                <a:solidFill>
                  <a:srgbClr val="007C83"/>
                </a:solidFill>
                <a:latin typeface="Arial"/>
                <a:ea typeface="Arial"/>
                <a:cs typeface="Arial"/>
              </a:defRPr>
            </a:lvl3pPr>
            <a:lvl4pPr>
              <a:defRPr sz="4800" b="1">
                <a:solidFill>
                  <a:srgbClr val="007C83"/>
                </a:solidFill>
                <a:latin typeface="Arial"/>
                <a:ea typeface="Arial"/>
                <a:cs typeface="Arial"/>
              </a:defRPr>
            </a:lvl4pPr>
            <a:lvl5pPr>
              <a:defRPr sz="4800" b="1">
                <a:solidFill>
                  <a:srgbClr val="007C83"/>
                </a:solidFill>
                <a:latin typeface="Arial"/>
                <a:ea typeface="Arial"/>
                <a:cs typeface="Arial"/>
              </a:defRPr>
            </a:lvl5pPr>
            <a:lvl6pPr>
              <a:defRPr sz="4800" b="1">
                <a:solidFill>
                  <a:srgbClr val="007C83"/>
                </a:solidFill>
                <a:latin typeface="Arial"/>
                <a:ea typeface="Arial"/>
                <a:cs typeface="Arial"/>
              </a:defRPr>
            </a:lvl6pPr>
            <a:lvl7pPr>
              <a:defRPr sz="4800" b="1">
                <a:solidFill>
                  <a:srgbClr val="007C83"/>
                </a:solidFill>
                <a:latin typeface="Arial"/>
                <a:ea typeface="Arial"/>
                <a:cs typeface="Arial"/>
              </a:defRPr>
            </a:lvl7pPr>
            <a:lvl8pPr>
              <a:defRPr sz="4800" b="1">
                <a:solidFill>
                  <a:srgbClr val="007C83"/>
                </a:solidFill>
                <a:latin typeface="Arial"/>
                <a:ea typeface="Arial"/>
                <a:cs typeface="Arial"/>
              </a:defRPr>
            </a:lvl8pPr>
            <a:lvl9pPr>
              <a:defRPr sz="4800" b="1">
                <a:solidFill>
                  <a:srgbClr val="007C83"/>
                </a:solidFill>
                <a:latin typeface="Arial"/>
                <a:ea typeface="Arial"/>
                <a:cs typeface="Arial"/>
              </a:defRPr>
            </a:lvl9pPr>
          </a:lstStyle>
          <a:p xmlns:a="http://schemas.openxmlformats.org/drawingml/2006/main">
            <a:pPr>
              <a:defRPr sz="4800" b="1">
                <a:solidFill>
                  <a:srgbClr val="007C83"/>
                </a:solidFill>
                <a:latin typeface="Arial"/>
                <a:ea typeface="Arial"/>
                <a:cs typeface="Arial"/>
              </a:defRPr>
            </a:pPr>
            <a:r>
              <a:rPr sz="4800" b="1">
                <a:solidFill>
                  <a:srgbClr val="007C83"/>
                </a:solidFill>
                <a:latin typeface="Arial"/>
                <a:ea typeface="Arial"/>
                <a:cs typeface="Arial"/>
              </a:rPr>
              <a:t>4,836</a:t>
            </a:r>
          </a:p>
        </p:txBody>
      </p:sp>
      <p:sp>
        <p:nvSpPr>
          <p:cNvPr id="5" name="">
            <a:extLst xmlns:a="http://schemas.openxmlformats.org/drawingml/2006/main">
              <a:ext uri="{FF2B5EF4-FFF2-40B4-BE49-F238E27FC236}">
                <a16:creationId xmlns:a16="http://schemas.microsoft.com/office/drawing/2014/main" id="{B56E3B2E-A33E-49EC-93C3-97DC96576879}"/>
              </a:ext>
            </a:extLst>
          </p:cNvPr>
          <p:cNvSpPr>
            <a:spLocks xmlns:a="http://schemas.openxmlformats.org/drawingml/2006/main" noGrp="1"/>
          </p:cNvSpPr>
          <p:nvPr/>
        </p:nvSpPr>
        <p:spPr>
          <a:xfrm xmlns:a="http://schemas.openxmlformats.org/drawingml/2006/main">
            <a:off x="8572500" y="2686050"/>
            <a:ext cx="276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72E40"/>
                </a:solidFill>
                <a:latin typeface="Arial"/>
                <a:ea typeface="Arial"/>
                <a:cs typeface="Arial"/>
              </a:defRPr>
            </a:defPPr>
            <a:lvl1pPr>
              <a:defRPr sz="2100" b="0">
                <a:solidFill>
                  <a:srgbClr val="172E40"/>
                </a:solidFill>
                <a:latin typeface="Arial"/>
                <a:ea typeface="Arial"/>
                <a:cs typeface="Arial"/>
              </a:defRPr>
            </a:lvl1pPr>
            <a:lvl2pPr>
              <a:defRPr sz="2100" b="0">
                <a:solidFill>
                  <a:srgbClr val="172E40"/>
                </a:solidFill>
                <a:latin typeface="Arial"/>
                <a:ea typeface="Arial"/>
                <a:cs typeface="Arial"/>
              </a:defRPr>
            </a:lvl2pPr>
            <a:lvl3pPr>
              <a:defRPr sz="2100" b="0">
                <a:solidFill>
                  <a:srgbClr val="172E40"/>
                </a:solidFill>
                <a:latin typeface="Arial"/>
                <a:ea typeface="Arial"/>
                <a:cs typeface="Arial"/>
              </a:defRPr>
            </a:lvl3pPr>
            <a:lvl4pPr>
              <a:defRPr sz="2100" b="0">
                <a:solidFill>
                  <a:srgbClr val="172E40"/>
                </a:solidFill>
                <a:latin typeface="Arial"/>
                <a:ea typeface="Arial"/>
                <a:cs typeface="Arial"/>
              </a:defRPr>
            </a:lvl4pPr>
            <a:lvl5pPr>
              <a:defRPr sz="2100" b="0">
                <a:solidFill>
                  <a:srgbClr val="172E40"/>
                </a:solidFill>
                <a:latin typeface="Arial"/>
                <a:ea typeface="Arial"/>
                <a:cs typeface="Arial"/>
              </a:defRPr>
            </a:lvl5pPr>
            <a:lvl6pPr>
              <a:defRPr sz="2100" b="0">
                <a:solidFill>
                  <a:srgbClr val="172E40"/>
                </a:solidFill>
                <a:latin typeface="Arial"/>
                <a:ea typeface="Arial"/>
                <a:cs typeface="Arial"/>
              </a:defRPr>
            </a:lvl6pPr>
            <a:lvl7pPr>
              <a:defRPr sz="2100" b="0">
                <a:solidFill>
                  <a:srgbClr val="172E40"/>
                </a:solidFill>
                <a:latin typeface="Arial"/>
                <a:ea typeface="Arial"/>
                <a:cs typeface="Arial"/>
              </a:defRPr>
            </a:lvl7pPr>
            <a:lvl8pPr>
              <a:defRPr sz="2100" b="0">
                <a:solidFill>
                  <a:srgbClr val="172E40"/>
                </a:solidFill>
                <a:latin typeface="Arial"/>
                <a:ea typeface="Arial"/>
                <a:cs typeface="Arial"/>
              </a:defRPr>
            </a:lvl8pPr>
            <a:lvl9pPr>
              <a:defRPr sz="2100" b="0">
                <a:solidFill>
                  <a:srgbClr val="172E40"/>
                </a:solidFill>
                <a:latin typeface="Arial"/>
                <a:ea typeface="Arial"/>
                <a:cs typeface="Arial"/>
              </a:defRPr>
            </a:lvl9pPr>
          </a:lstStyle>
          <a:p xmlns:a="http://schemas.openxmlformats.org/drawingml/2006/main">
            <a:pPr>
              <a:defRPr sz="2100" b="0">
                <a:solidFill>
                  <a:srgbClr val="172E40"/>
                </a:solidFill>
                <a:latin typeface="Arial"/>
                <a:ea typeface="Arial"/>
                <a:cs typeface="Arial"/>
              </a:defRPr>
            </a:pPr>
            <a:r>
              <a:rPr sz="2100" b="0">
                <a:solidFill>
                  <a:srgbClr val="172E40"/>
                </a:solidFill>
                <a:latin typeface="Arial"/>
                <a:ea typeface="Arial"/>
                <a:cs typeface="Arial"/>
              </a:rPr>
              <a:t>clean examples</a:t>
            </a:r>
          </a:p>
        </p:txBody>
      </p:sp>
      <p:sp>
        <p:nvSpPr>
          <p:cNvPr id="6" name="">
            <a:extLst xmlns:a="http://schemas.openxmlformats.org/drawingml/2006/main">
              <a:ext uri="{FF2B5EF4-FFF2-40B4-BE49-F238E27FC236}">
                <a16:creationId xmlns:a16="http://schemas.microsoft.com/office/drawing/2014/main" id="{F0C9A612-B7E6-4827-88A3-21D584626ACA}"/>
              </a:ext>
            </a:extLst>
          </p:cNvPr>
          <p:cNvSpPr>
            <a:spLocks xmlns:a="http://schemas.openxmlformats.org/drawingml/2006/main" noGrp="1"/>
          </p:cNvSpPr>
          <p:nvPr/>
        </p:nvSpPr>
        <p:spPr>
          <a:xfrm xmlns:a="http://schemas.openxmlformats.org/drawingml/2006/main">
            <a:off x="8572500" y="3476625"/>
            <a:ext cx="2762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16779"/>
                </a:solidFill>
                <a:latin typeface="Arial"/>
                <a:ea typeface="Arial"/>
                <a:cs typeface="Arial"/>
              </a:defRPr>
            </a:defPPr>
            <a:lvl1pPr>
              <a:defRPr sz="1875" b="0">
                <a:solidFill>
                  <a:srgbClr val="516779"/>
                </a:solidFill>
                <a:latin typeface="Arial"/>
                <a:ea typeface="Arial"/>
                <a:cs typeface="Arial"/>
              </a:defRPr>
            </a:lvl1pPr>
            <a:lvl2pPr>
              <a:defRPr sz="1875" b="0">
                <a:solidFill>
                  <a:srgbClr val="516779"/>
                </a:solidFill>
                <a:latin typeface="Arial"/>
                <a:ea typeface="Arial"/>
                <a:cs typeface="Arial"/>
              </a:defRPr>
            </a:lvl2pPr>
            <a:lvl3pPr>
              <a:defRPr sz="1875" b="0">
                <a:solidFill>
                  <a:srgbClr val="516779"/>
                </a:solidFill>
                <a:latin typeface="Arial"/>
                <a:ea typeface="Arial"/>
                <a:cs typeface="Arial"/>
              </a:defRPr>
            </a:lvl3pPr>
            <a:lvl4pPr>
              <a:defRPr sz="1875" b="0">
                <a:solidFill>
                  <a:srgbClr val="516779"/>
                </a:solidFill>
                <a:latin typeface="Arial"/>
                <a:ea typeface="Arial"/>
                <a:cs typeface="Arial"/>
              </a:defRPr>
            </a:lvl4pPr>
            <a:lvl5pPr>
              <a:defRPr sz="1875" b="0">
                <a:solidFill>
                  <a:srgbClr val="516779"/>
                </a:solidFill>
                <a:latin typeface="Arial"/>
                <a:ea typeface="Arial"/>
                <a:cs typeface="Arial"/>
              </a:defRPr>
            </a:lvl5pPr>
            <a:lvl6pPr>
              <a:defRPr sz="1875" b="0">
                <a:solidFill>
                  <a:srgbClr val="516779"/>
                </a:solidFill>
                <a:latin typeface="Arial"/>
                <a:ea typeface="Arial"/>
                <a:cs typeface="Arial"/>
              </a:defRPr>
            </a:lvl6pPr>
            <a:lvl7pPr>
              <a:defRPr sz="1875" b="0">
                <a:solidFill>
                  <a:srgbClr val="516779"/>
                </a:solidFill>
                <a:latin typeface="Arial"/>
                <a:ea typeface="Arial"/>
                <a:cs typeface="Arial"/>
              </a:defRPr>
            </a:lvl7pPr>
            <a:lvl8pPr>
              <a:defRPr sz="1875" b="0">
                <a:solidFill>
                  <a:srgbClr val="516779"/>
                </a:solidFill>
                <a:latin typeface="Arial"/>
                <a:ea typeface="Arial"/>
                <a:cs typeface="Arial"/>
              </a:defRPr>
            </a:lvl8pPr>
            <a:lvl9pPr>
              <a:defRPr sz="1875" b="0">
                <a:solidFill>
                  <a:srgbClr val="516779"/>
                </a:solidFill>
                <a:latin typeface="Arial"/>
                <a:ea typeface="Arial"/>
                <a:cs typeface="Arial"/>
              </a:defRPr>
            </a:lvl9pPr>
          </a:lstStyle>
          <a:p xmlns:a="http://schemas.openxmlformats.org/drawingml/2006/main">
            <a:pPr>
              <a:defRPr sz="1875" b="0">
                <a:solidFill>
                  <a:srgbClr val="516779"/>
                </a:solidFill>
                <a:latin typeface="Arial"/>
                <a:ea typeface="Arial"/>
                <a:cs typeface="Arial"/>
              </a:defRPr>
            </a:pPr>
            <a:r>
              <a:rPr sz="1875" b="0">
                <a:solidFill>
                  <a:srgbClr val="516779"/>
                </a:solidFill>
                <a:latin typeface="Arial"/>
                <a:ea typeface="Arial"/>
                <a:cs typeface="Arial"/>
              </a:rPr>
              <a:t>50Agree subset</a:t>
            </a:r>
          </a:p>
          <a:p xmlns:a="http://schemas.openxmlformats.org/drawingml/2006/main">
            <a:pPr>
              <a:defRPr sz="1875" b="0">
                <a:solidFill>
                  <a:srgbClr val="516779"/>
                </a:solidFill>
                <a:latin typeface="Arial"/>
                <a:ea typeface="Arial"/>
                <a:cs typeface="Arial"/>
              </a:defRPr>
            </a:pPr>
            <a:r>
              <a:rPr sz="1875" b="0">
                <a:solidFill>
                  <a:srgbClr val="516779"/>
                </a:solidFill>
                <a:latin typeface="Arial"/>
                <a:ea typeface="Arial"/>
                <a:cs typeface="Arial"/>
              </a:rPr>
              <a:t>English financial news</a:t>
            </a:r>
          </a:p>
          <a:p xmlns:a="http://schemas.openxmlformats.org/drawingml/2006/main">
            <a:pPr>
              <a:defRPr sz="1875" b="0">
                <a:solidFill>
                  <a:srgbClr val="516779"/>
                </a:solidFill>
                <a:latin typeface="Arial"/>
                <a:ea typeface="Arial"/>
                <a:cs typeface="Arial"/>
              </a:defRPr>
            </a:pPr>
            <a:r>
              <a:rPr sz="1875" b="0">
                <a:solidFill>
                  <a:srgbClr val="516779"/>
                </a:solidFill>
                <a:latin typeface="Arial"/>
                <a:ea typeface="Arial"/>
                <a:cs typeface="Arial"/>
              </a:rPr>
              <a:t>Three sentiment labels</a:t>
            </a:r>
          </a:p>
        </p:txBody>
      </p:sp>
      <p:sp>
        <p:nvSpPr>
          <p:cNvPr id="7" name="">
            <a:extLst xmlns:a="http://schemas.openxmlformats.org/drawingml/2006/main">
              <a:ext uri="{FF2B5EF4-FFF2-40B4-BE49-F238E27FC236}">
                <a16:creationId xmlns:a16="http://schemas.microsoft.com/office/drawing/2014/main" id="{FAC515D2-D91B-4819-BB47-31E53BA465D7}"/>
              </a:ext>
            </a:extLst>
          </p:cNvPr>
          <p:cNvSpPr>
            <a:spLocks xmlns:a="http://schemas.openxmlformats.org/drawingml/2006/main" noGrp="1"/>
          </p:cNvSpPr>
          <p:nvPr/>
        </p:nvSpPr>
        <p:spPr>
          <a:xfrm xmlns:a="http://schemas.openxmlformats.org/drawingml/2006/main">
            <a:off x="685800" y="588645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16779"/>
                </a:solidFill>
                <a:latin typeface="Arial"/>
                <a:ea typeface="Arial"/>
                <a:cs typeface="Arial"/>
              </a:defRPr>
            </a:defPPr>
            <a:lvl1pPr>
              <a:defRPr sz="1875" b="0">
                <a:solidFill>
                  <a:srgbClr val="516779"/>
                </a:solidFill>
                <a:latin typeface="Arial"/>
                <a:ea typeface="Arial"/>
                <a:cs typeface="Arial"/>
              </a:defRPr>
            </a:lvl1pPr>
            <a:lvl2pPr>
              <a:defRPr sz="1875" b="0">
                <a:solidFill>
                  <a:srgbClr val="516779"/>
                </a:solidFill>
                <a:latin typeface="Arial"/>
                <a:ea typeface="Arial"/>
                <a:cs typeface="Arial"/>
              </a:defRPr>
            </a:lvl2pPr>
            <a:lvl3pPr>
              <a:defRPr sz="1875" b="0">
                <a:solidFill>
                  <a:srgbClr val="516779"/>
                </a:solidFill>
                <a:latin typeface="Arial"/>
                <a:ea typeface="Arial"/>
                <a:cs typeface="Arial"/>
              </a:defRPr>
            </a:lvl3pPr>
            <a:lvl4pPr>
              <a:defRPr sz="1875" b="0">
                <a:solidFill>
                  <a:srgbClr val="516779"/>
                </a:solidFill>
                <a:latin typeface="Arial"/>
                <a:ea typeface="Arial"/>
                <a:cs typeface="Arial"/>
              </a:defRPr>
            </a:lvl4pPr>
            <a:lvl5pPr>
              <a:defRPr sz="1875" b="0">
                <a:solidFill>
                  <a:srgbClr val="516779"/>
                </a:solidFill>
                <a:latin typeface="Arial"/>
                <a:ea typeface="Arial"/>
                <a:cs typeface="Arial"/>
              </a:defRPr>
            </a:lvl5pPr>
            <a:lvl6pPr>
              <a:defRPr sz="1875" b="0">
                <a:solidFill>
                  <a:srgbClr val="516779"/>
                </a:solidFill>
                <a:latin typeface="Arial"/>
                <a:ea typeface="Arial"/>
                <a:cs typeface="Arial"/>
              </a:defRPr>
            </a:lvl6pPr>
            <a:lvl7pPr>
              <a:defRPr sz="1875" b="0">
                <a:solidFill>
                  <a:srgbClr val="516779"/>
                </a:solidFill>
                <a:latin typeface="Arial"/>
                <a:ea typeface="Arial"/>
                <a:cs typeface="Arial"/>
              </a:defRPr>
            </a:lvl7pPr>
            <a:lvl8pPr>
              <a:defRPr sz="1875" b="0">
                <a:solidFill>
                  <a:srgbClr val="516779"/>
                </a:solidFill>
                <a:latin typeface="Arial"/>
                <a:ea typeface="Arial"/>
                <a:cs typeface="Arial"/>
              </a:defRPr>
            </a:lvl8pPr>
            <a:lvl9pPr>
              <a:defRPr sz="1875" b="0">
                <a:solidFill>
                  <a:srgbClr val="516779"/>
                </a:solidFill>
                <a:latin typeface="Arial"/>
                <a:ea typeface="Arial"/>
                <a:cs typeface="Arial"/>
              </a:defRPr>
            </a:lvl9pPr>
          </a:lstStyle>
          <a:p xmlns:a="http://schemas.openxmlformats.org/drawingml/2006/main">
            <a:pPr>
              <a:defRPr sz="1875" b="0">
                <a:solidFill>
                  <a:srgbClr val="516779"/>
                </a:solidFill>
                <a:latin typeface="Arial"/>
                <a:ea typeface="Arial"/>
                <a:cs typeface="Arial"/>
              </a:defRPr>
            </a:pPr>
            <a:r>
              <a:rPr sz="1875" b="0">
                <a:solidFill>
                  <a:srgbClr val="516779"/>
                </a:solidFill>
                <a:latin typeface="Arial"/>
                <a:ea typeface="Arial"/>
                <a:cs typeface="Arial"/>
              </a:rPr>
              <a:t>Macro F1 gives each class equal weight despite the neutral majority.</a:t>
            </a:r>
          </a:p>
        </p:txBody>
      </p:sp>
    </p:spTree>
    <p:extLst>
      <p:ext uri="{BB962C8B-B14F-4D97-AF65-F5344CB8AC3E}">
        <p14:creationId xmlns:p14="http://schemas.microsoft.com/office/powerpoint/2010/main" val="168677260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6F988F7-B1D3-47DE-9136-AC1FDF2F6A97}"/>
              </a:ext>
            </a:extLst>
          </p:cNvPr>
          <p:cNvSpPr>
            <a:spLocks xmlns:a="http://schemas.openxmlformats.org/drawingml/2006/main" noGrp="1"/>
          </p:cNvSpPr>
          <p:nvPr/>
        </p:nvSpPr>
        <p:spPr>
          <a:xfrm xmlns:a="http://schemas.openxmlformats.org/drawingml/2006/main">
            <a:off x="685800" y="5143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2E40"/>
                </a:solidFill>
                <a:latin typeface="Arial"/>
                <a:ea typeface="Arial"/>
                <a:cs typeface="Arial"/>
              </a:defRPr>
            </a:defPPr>
            <a:lvl1pPr>
              <a:defRPr sz="3225" b="1">
                <a:solidFill>
                  <a:srgbClr val="172E40"/>
                </a:solidFill>
                <a:latin typeface="Arial"/>
                <a:ea typeface="Arial"/>
                <a:cs typeface="Arial"/>
              </a:defRPr>
            </a:lvl1pPr>
            <a:lvl2pPr>
              <a:defRPr sz="3225" b="1">
                <a:solidFill>
                  <a:srgbClr val="172E40"/>
                </a:solidFill>
                <a:latin typeface="Arial"/>
                <a:ea typeface="Arial"/>
                <a:cs typeface="Arial"/>
              </a:defRPr>
            </a:lvl2pPr>
            <a:lvl3pPr>
              <a:defRPr sz="3225" b="1">
                <a:solidFill>
                  <a:srgbClr val="172E40"/>
                </a:solidFill>
                <a:latin typeface="Arial"/>
                <a:ea typeface="Arial"/>
                <a:cs typeface="Arial"/>
              </a:defRPr>
            </a:lvl3pPr>
            <a:lvl4pPr>
              <a:defRPr sz="3225" b="1">
                <a:solidFill>
                  <a:srgbClr val="172E40"/>
                </a:solidFill>
                <a:latin typeface="Arial"/>
                <a:ea typeface="Arial"/>
                <a:cs typeface="Arial"/>
              </a:defRPr>
            </a:lvl4pPr>
            <a:lvl5pPr>
              <a:defRPr sz="3225" b="1">
                <a:solidFill>
                  <a:srgbClr val="172E40"/>
                </a:solidFill>
                <a:latin typeface="Arial"/>
                <a:ea typeface="Arial"/>
                <a:cs typeface="Arial"/>
              </a:defRPr>
            </a:lvl5pPr>
            <a:lvl6pPr>
              <a:defRPr sz="3225" b="1">
                <a:solidFill>
                  <a:srgbClr val="172E40"/>
                </a:solidFill>
                <a:latin typeface="Arial"/>
                <a:ea typeface="Arial"/>
                <a:cs typeface="Arial"/>
              </a:defRPr>
            </a:lvl6pPr>
            <a:lvl7pPr>
              <a:defRPr sz="3225" b="1">
                <a:solidFill>
                  <a:srgbClr val="172E40"/>
                </a:solidFill>
                <a:latin typeface="Arial"/>
                <a:ea typeface="Arial"/>
                <a:cs typeface="Arial"/>
              </a:defRPr>
            </a:lvl7pPr>
            <a:lvl8pPr>
              <a:defRPr sz="3225" b="1">
                <a:solidFill>
                  <a:srgbClr val="172E40"/>
                </a:solidFill>
                <a:latin typeface="Arial"/>
                <a:ea typeface="Arial"/>
                <a:cs typeface="Arial"/>
              </a:defRPr>
            </a:lvl8pPr>
            <a:lvl9pPr>
              <a:defRPr sz="3225" b="1">
                <a:solidFill>
                  <a:srgbClr val="172E40"/>
                </a:solidFill>
                <a:latin typeface="Arial"/>
                <a:ea typeface="Arial"/>
                <a:cs typeface="Arial"/>
              </a:defRPr>
            </a:lvl9pPr>
          </a:lstStyle>
          <a:p xmlns:a="http://schemas.openxmlformats.org/drawingml/2006/main">
            <a:pPr>
              <a:defRPr sz="3225" b="1">
                <a:solidFill>
                  <a:srgbClr val="172E40"/>
                </a:solidFill>
                <a:latin typeface="Arial"/>
                <a:ea typeface="Arial"/>
                <a:cs typeface="Arial"/>
              </a:defRPr>
            </a:pPr>
            <a:r>
              <a:rPr sz="3225" b="1">
                <a:solidFill>
                  <a:srgbClr val="172E40"/>
                </a:solidFill>
                <a:latin typeface="Arial"/>
                <a:ea typeface="Arial"/>
                <a:cs typeface="Arial"/>
              </a:rPr>
              <a:t>Data audit and saved partitions</a:t>
            </a:r>
          </a:p>
        </p:txBody>
      </p:sp>
      <p:sp>
        <p:nvSpPr>
          <p:cNvPr id="2" name="">
            <a:extLst xmlns:a="http://schemas.openxmlformats.org/drawingml/2006/main">
              <a:ext uri="{FF2B5EF4-FFF2-40B4-BE49-F238E27FC236}">
                <a16:creationId xmlns:a16="http://schemas.microsoft.com/office/drawing/2014/main" id="{ECAE589B-6CA6-45AC-851B-6E2E32EEBA92}"/>
              </a:ext>
            </a:extLst>
          </p:cNvPr>
          <p:cNvSpPr>
            <a:spLocks xmlns:a="http://schemas.openxmlformats.org/drawingml/2006/main" noGrp="1"/>
          </p:cNvSpPr>
          <p:nvPr/>
        </p:nvSpPr>
        <p:spPr>
          <a:xfrm xmlns:a="http://schemas.openxmlformats.org/drawingml/2006/main">
            <a:off x="10972800" y="6315075"/>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16779"/>
                </a:solidFill>
                <a:latin typeface="Arial"/>
                <a:ea typeface="Arial"/>
                <a:cs typeface="Arial"/>
              </a:defRPr>
            </a:defPPr>
            <a:lvl1pPr>
              <a:defRPr sz="1275" b="0">
                <a:solidFill>
                  <a:srgbClr val="516779"/>
                </a:solidFill>
                <a:latin typeface="Arial"/>
                <a:ea typeface="Arial"/>
                <a:cs typeface="Arial"/>
              </a:defRPr>
            </a:lvl1pPr>
            <a:lvl2pPr>
              <a:defRPr sz="1275" b="0">
                <a:solidFill>
                  <a:srgbClr val="516779"/>
                </a:solidFill>
                <a:latin typeface="Arial"/>
                <a:ea typeface="Arial"/>
                <a:cs typeface="Arial"/>
              </a:defRPr>
            </a:lvl2pPr>
            <a:lvl3pPr>
              <a:defRPr sz="1275" b="0">
                <a:solidFill>
                  <a:srgbClr val="516779"/>
                </a:solidFill>
                <a:latin typeface="Arial"/>
                <a:ea typeface="Arial"/>
                <a:cs typeface="Arial"/>
              </a:defRPr>
            </a:lvl3pPr>
            <a:lvl4pPr>
              <a:defRPr sz="1275" b="0">
                <a:solidFill>
                  <a:srgbClr val="516779"/>
                </a:solidFill>
                <a:latin typeface="Arial"/>
                <a:ea typeface="Arial"/>
                <a:cs typeface="Arial"/>
              </a:defRPr>
            </a:lvl4pPr>
            <a:lvl5pPr>
              <a:defRPr sz="1275" b="0">
                <a:solidFill>
                  <a:srgbClr val="516779"/>
                </a:solidFill>
                <a:latin typeface="Arial"/>
                <a:ea typeface="Arial"/>
                <a:cs typeface="Arial"/>
              </a:defRPr>
            </a:lvl5pPr>
            <a:lvl6pPr>
              <a:defRPr sz="1275" b="0">
                <a:solidFill>
                  <a:srgbClr val="516779"/>
                </a:solidFill>
                <a:latin typeface="Arial"/>
                <a:ea typeface="Arial"/>
                <a:cs typeface="Arial"/>
              </a:defRPr>
            </a:lvl6pPr>
            <a:lvl7pPr>
              <a:defRPr sz="1275" b="0">
                <a:solidFill>
                  <a:srgbClr val="516779"/>
                </a:solidFill>
                <a:latin typeface="Arial"/>
                <a:ea typeface="Arial"/>
                <a:cs typeface="Arial"/>
              </a:defRPr>
            </a:lvl7pPr>
            <a:lvl8pPr>
              <a:defRPr sz="1275" b="0">
                <a:solidFill>
                  <a:srgbClr val="516779"/>
                </a:solidFill>
                <a:latin typeface="Arial"/>
                <a:ea typeface="Arial"/>
                <a:cs typeface="Arial"/>
              </a:defRPr>
            </a:lvl8pPr>
            <a:lvl9pPr>
              <a:defRPr sz="1275" b="0">
                <a:solidFill>
                  <a:srgbClr val="516779"/>
                </a:solidFill>
                <a:latin typeface="Arial"/>
                <a:ea typeface="Arial"/>
                <a:cs typeface="Arial"/>
              </a:defRPr>
            </a:lvl9pPr>
          </a:lstStyle>
          <a:p xmlns:a="http://schemas.openxmlformats.org/drawingml/2006/main">
            <a:pPr>
              <a:defRPr sz="1275" b="0">
                <a:solidFill>
                  <a:srgbClr val="516779"/>
                </a:solidFill>
                <a:latin typeface="Arial"/>
                <a:ea typeface="Arial"/>
                <a:cs typeface="Arial"/>
              </a:defRPr>
            </a:pPr>
            <a:r>
              <a:rPr sz="1275" b="0">
                <a:solidFill>
                  <a:srgbClr val="516779"/>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1933544C-66BC-497E-995E-9D07132C1929}"/>
              </a:ext>
            </a:extLst>
          </p:cNvPr>
          <p:cNvSpPr>
            <a:spLocks xmlns:a="http://schemas.openxmlformats.org/drawingml/2006/main" noGrp="1"/>
          </p:cNvSpPr>
          <p:nvPr/>
        </p:nvSpPr>
        <p:spPr>
          <a:xfrm xmlns:a="http://schemas.openxmlformats.org/drawingml/2006/main">
            <a:off x="685800" y="1504950"/>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72E40"/>
                </a:solidFill>
                <a:latin typeface="Arial"/>
                <a:ea typeface="Arial"/>
                <a:cs typeface="Arial"/>
              </a:defRPr>
            </a:defPPr>
            <a:lvl1pPr>
              <a:defRPr sz="2250" b="0">
                <a:solidFill>
                  <a:srgbClr val="172E40"/>
                </a:solidFill>
                <a:latin typeface="Arial"/>
                <a:ea typeface="Arial"/>
                <a:cs typeface="Arial"/>
              </a:defRPr>
            </a:lvl1pPr>
            <a:lvl2pPr>
              <a:defRPr sz="2250" b="0">
                <a:solidFill>
                  <a:srgbClr val="172E40"/>
                </a:solidFill>
                <a:latin typeface="Arial"/>
                <a:ea typeface="Arial"/>
                <a:cs typeface="Arial"/>
              </a:defRPr>
            </a:lvl2pPr>
            <a:lvl3pPr>
              <a:defRPr sz="2250" b="0">
                <a:solidFill>
                  <a:srgbClr val="172E40"/>
                </a:solidFill>
                <a:latin typeface="Arial"/>
                <a:ea typeface="Arial"/>
                <a:cs typeface="Arial"/>
              </a:defRPr>
            </a:lvl3pPr>
            <a:lvl4pPr>
              <a:defRPr sz="2250" b="0">
                <a:solidFill>
                  <a:srgbClr val="172E40"/>
                </a:solidFill>
                <a:latin typeface="Arial"/>
                <a:ea typeface="Arial"/>
                <a:cs typeface="Arial"/>
              </a:defRPr>
            </a:lvl4pPr>
            <a:lvl5pPr>
              <a:defRPr sz="2250" b="0">
                <a:solidFill>
                  <a:srgbClr val="172E40"/>
                </a:solidFill>
                <a:latin typeface="Arial"/>
                <a:ea typeface="Arial"/>
                <a:cs typeface="Arial"/>
              </a:defRPr>
            </a:lvl5pPr>
            <a:lvl6pPr>
              <a:defRPr sz="2250" b="0">
                <a:solidFill>
                  <a:srgbClr val="172E40"/>
                </a:solidFill>
                <a:latin typeface="Arial"/>
                <a:ea typeface="Arial"/>
                <a:cs typeface="Arial"/>
              </a:defRPr>
            </a:lvl6pPr>
            <a:lvl7pPr>
              <a:defRPr sz="2250" b="0">
                <a:solidFill>
                  <a:srgbClr val="172E40"/>
                </a:solidFill>
                <a:latin typeface="Arial"/>
                <a:ea typeface="Arial"/>
                <a:cs typeface="Arial"/>
              </a:defRPr>
            </a:lvl7pPr>
            <a:lvl8pPr>
              <a:defRPr sz="2250" b="0">
                <a:solidFill>
                  <a:srgbClr val="172E40"/>
                </a:solidFill>
                <a:latin typeface="Arial"/>
                <a:ea typeface="Arial"/>
                <a:cs typeface="Arial"/>
              </a:defRPr>
            </a:lvl8pPr>
            <a:lvl9pPr>
              <a:defRPr sz="2250" b="0">
                <a:solidFill>
                  <a:srgbClr val="172E40"/>
                </a:solidFill>
                <a:latin typeface="Arial"/>
                <a:ea typeface="Arial"/>
                <a:cs typeface="Arial"/>
              </a:defRPr>
            </a:lvl9pPr>
          </a:lstStyle>
          <a:p xmlns:a="http://schemas.openxmlformats.org/drawingml/2006/main">
            <a:pPr>
              <a:defRPr sz="2250" b="0">
                <a:solidFill>
                  <a:srgbClr val="172E40"/>
                </a:solidFill>
                <a:latin typeface="Arial"/>
                <a:ea typeface="Arial"/>
                <a:cs typeface="Arial"/>
              </a:defRPr>
            </a:pPr>
            <a:r>
              <a:rPr sz="2250" b="0">
                <a:solidFill>
                  <a:srgbClr val="172E40"/>
                </a:solidFill>
                <a:latin typeface="Arial"/>
                <a:ea typeface="Arial"/>
                <a:cs typeface="Arial"/>
              </a:rPr>
              <a:t>6 matching duplicate occurrences removed</a:t>
            </a:r>
          </a:p>
          <a:p xmlns:a="http://schemas.openxmlformats.org/drawingml/2006/main">
            <a:pPr>
              <a:defRPr sz="2250" b="0">
                <a:solidFill>
                  <a:srgbClr val="172E40"/>
                </a:solidFill>
                <a:latin typeface="Arial"/>
                <a:ea typeface="Arial"/>
                <a:cs typeface="Arial"/>
              </a:defRPr>
            </a:pPr>
            <a:r>
              <a:rPr sz="2250" b="0">
                <a:solidFill>
                  <a:srgbClr val="172E40"/>
                </a:solidFill>
                <a:latin typeface="Arial"/>
                <a:ea typeface="Arial"/>
                <a:cs typeface="Arial"/>
              </a:rPr>
              <a:t>4 conflicting-label rows quarantined</a:t>
            </a:r>
          </a:p>
        </p:txBody>
      </p:sp>
      <p:graphicFrame>
        <p:nvGraphicFramePr>
          <p:cNvPr id="4" name="">
            <a:extLst xmlns:a="http://schemas.openxmlformats.org/drawingml/2006/main">
              <a:ext uri="{FF2B5EF4-FFF2-40B4-BE49-F238E27FC236}">
                <a16:creationId xmlns:a16="http://schemas.microsoft.com/office/drawing/2014/main" id="{981DB394-B64E-40D2-A6D8-607E37ED8458}"/>
              </a:ext>
            </a:extLst>
          </p:cNvPr>
          <p:cNvGraphicFramePr/>
          <p:nvPr/>
        </p:nvGraphicFramePr>
        <p:xfrm>
          <a:off xmlns:a="http://schemas.openxmlformats.org/drawingml/2006/main" x="685800" y="2857500"/>
          <a:ext xmlns:a="http://schemas.openxmlformats.org/drawingml/2006/main" cx="10820400" cy="2571750"/>
        </p:xfrm>
        <a:graphic xmlns:a="http://schemas.openxmlformats.org/drawingml/2006/main">
          <a:graphicData uri="http://schemas.openxmlformats.org/drawingml/2006/table">
            <a:tbl>
              <a:tblPr firstRow="1" bandRow="0"/>
              <a:tblGrid>
                <a:gridCol w="2381250"/>
                <a:gridCol w="2286000"/>
                <a:gridCol w="6153150"/>
              </a:tblGrid>
              <a:tr h="642938">
                <a:tc>
                  <a:txBody>
                    <a:bodyPr/>
                    <a:lstStyle/>
                    <a:p>
                      <a:r>
                        <a:rPr sz="1800" b="1">
                          <a:solidFill>
                            <a:srgbClr val="FFFFFF"/>
                          </a:solidFill>
                          <a:latin typeface="Arial"/>
                          <a:ea typeface="Arial"/>
                          <a:cs typeface="Arial"/>
                        </a:rPr>
                        <a:t>Partition</a:t>
                      </a:r>
                    </a:p>
                  </a:txBody>
                  <a:tcPr marL="152400" marR="152400" marT="123825" marB="123825" anchor="ctr">
                    <a:lnL w="9525">
                      <a:solidFill>
                        <a:srgbClr val="CEDBE1"/>
                      </a:solidFill>
                      <a:prstDash val="solid"/>
                    </a:lnL>
                    <a:lnR w="9525">
                      <a:solidFill>
                        <a:srgbClr val="CEDBE1"/>
                      </a:solidFill>
                      <a:prstDash val="solid"/>
                    </a:lnR>
                    <a:lnT w="9525">
                      <a:solidFill>
                        <a:srgbClr val="CEDBE1"/>
                      </a:solidFill>
                      <a:prstDash val="solid"/>
                    </a:lnT>
                    <a:lnB w="9525">
                      <a:solidFill>
                        <a:srgbClr val="CEDBE1"/>
                      </a:solidFill>
                      <a:prstDash val="solid"/>
                    </a:lnB>
                    <a:solidFill>
                      <a:srgbClr val="112B3D"/>
                    </a:solidFill>
                  </a:tcPr>
                </a:tc>
                <a:tc>
                  <a:txBody>
                    <a:bodyPr/>
                    <a:lstStyle/>
                    <a:p>
                      <a:r>
                        <a:rPr sz="1800" b="1">
                          <a:solidFill>
                            <a:srgbClr val="FFFFFF"/>
                          </a:solidFill>
                          <a:latin typeface="Arial"/>
                          <a:ea typeface="Arial"/>
                          <a:cs typeface="Arial"/>
                        </a:rPr>
                        <a:t>Examples</a:t>
                      </a:r>
                    </a:p>
                  </a:txBody>
                  <a:tcPr marL="152400" marR="152400" marT="123825" marB="123825" anchor="ctr">
                    <a:lnR w="9525">
                      <a:solidFill>
                        <a:srgbClr val="CEDBE1"/>
                      </a:solidFill>
                      <a:prstDash val="solid"/>
                    </a:lnR>
                    <a:lnT w="9525">
                      <a:solidFill>
                        <a:srgbClr val="CEDBE1"/>
                      </a:solidFill>
                      <a:prstDash val="solid"/>
                    </a:lnT>
                    <a:lnB w="9525">
                      <a:solidFill>
                        <a:srgbClr val="CEDBE1"/>
                      </a:solidFill>
                      <a:prstDash val="solid"/>
                    </a:lnB>
                    <a:solidFill>
                      <a:srgbClr val="112B3D"/>
                    </a:solidFill>
                  </a:tcPr>
                </a:tc>
                <a:tc>
                  <a:txBody>
                    <a:bodyPr/>
                    <a:lstStyle/>
                    <a:p>
                      <a:r>
                        <a:rPr sz="1800" b="1">
                          <a:solidFill>
                            <a:srgbClr val="FFFFFF"/>
                          </a:solidFill>
                          <a:latin typeface="Arial"/>
                          <a:ea typeface="Arial"/>
                          <a:cs typeface="Arial"/>
                        </a:rPr>
                        <a:t>Purpose</a:t>
                      </a:r>
                    </a:p>
                  </a:txBody>
                  <a:tcPr marL="152400" marR="152400" marT="123825" marB="123825" anchor="ctr">
                    <a:lnR w="9525">
                      <a:solidFill>
                        <a:srgbClr val="CEDBE1"/>
                      </a:solidFill>
                      <a:prstDash val="solid"/>
                    </a:lnR>
                    <a:lnT w="9525">
                      <a:solidFill>
                        <a:srgbClr val="CEDBE1"/>
                      </a:solidFill>
                      <a:prstDash val="solid"/>
                    </a:lnT>
                    <a:lnB w="9525">
                      <a:solidFill>
                        <a:srgbClr val="CEDBE1"/>
                      </a:solidFill>
                      <a:prstDash val="solid"/>
                    </a:lnB>
                    <a:solidFill>
                      <a:srgbClr val="112B3D"/>
                    </a:solidFill>
                  </a:tcPr>
                </a:tc>
              </a:tr>
              <a:tr h="642938">
                <a:tc>
                  <a:txBody>
                    <a:bodyPr/>
                    <a:lstStyle/>
                    <a:p>
                      <a:r>
                        <a:rPr sz="1875" b="0">
                          <a:solidFill>
                            <a:srgbClr val="172E40"/>
                          </a:solidFill>
                          <a:latin typeface="Arial"/>
                          <a:ea typeface="Arial"/>
                          <a:cs typeface="Arial"/>
                        </a:rPr>
                        <a:t>Training</a:t>
                      </a:r>
                    </a:p>
                  </a:txBody>
                  <a:tcPr marL="152400" marR="152400" marT="123825" marB="123825" anchor="ctr">
                    <a:lnL w="9525">
                      <a:solidFill>
                        <a:srgbClr val="CEDBE1"/>
                      </a:solidFill>
                      <a:prstDash val="solid"/>
                    </a:lnL>
                    <a:lnR w="9525">
                      <a:solidFill>
                        <a:srgbClr val="CEDBE1"/>
                      </a:solidFill>
                      <a:prstDash val="solid"/>
                    </a:lnR>
                    <a:lnB w="9525">
                      <a:solidFill>
                        <a:srgbClr val="CEDBE1"/>
                      </a:solidFill>
                      <a:prstDash val="solid"/>
                    </a:lnB>
                    <a:solidFill>
                      <a:srgbClr val="FFFFFF"/>
                    </a:solidFill>
                  </a:tcPr>
                </a:tc>
                <a:tc>
                  <a:txBody>
                    <a:bodyPr/>
                    <a:lstStyle/>
                    <a:p>
                      <a:r>
                        <a:rPr sz="1875" b="0">
                          <a:solidFill>
                            <a:srgbClr val="172E40"/>
                          </a:solidFill>
                          <a:latin typeface="Arial"/>
                          <a:ea typeface="Arial"/>
                          <a:cs typeface="Arial"/>
                        </a:rPr>
                        <a:t>3,385</a:t>
                      </a:r>
                    </a:p>
                  </a:txBody>
                  <a:tcPr marL="152400" marR="152400" marT="123825" marB="123825" anchor="ctr">
                    <a:lnR w="9525">
                      <a:solidFill>
                        <a:srgbClr val="CEDBE1"/>
                      </a:solidFill>
                      <a:prstDash val="solid"/>
                    </a:lnR>
                    <a:lnB w="9525">
                      <a:solidFill>
                        <a:srgbClr val="CEDBE1"/>
                      </a:solidFill>
                      <a:prstDash val="solid"/>
                    </a:lnB>
                    <a:solidFill>
                      <a:srgbClr val="FFFFFF"/>
                    </a:solidFill>
                  </a:tcPr>
                </a:tc>
                <a:tc>
                  <a:txBody>
                    <a:bodyPr/>
                    <a:lstStyle/>
                    <a:p>
                      <a:r>
                        <a:rPr sz="1875" b="0">
                          <a:solidFill>
                            <a:srgbClr val="172E40"/>
                          </a:solidFill>
                          <a:latin typeface="Arial"/>
                          <a:ea typeface="Arial"/>
                          <a:cs typeface="Arial"/>
                        </a:rPr>
                        <a:t>Fit vocabulary and classifier</a:t>
                      </a:r>
                    </a:p>
                  </a:txBody>
                  <a:tcPr marL="152400" marR="152400" marT="123825" marB="123825" anchor="ctr">
                    <a:lnR w="9525">
                      <a:solidFill>
                        <a:srgbClr val="CEDBE1"/>
                      </a:solidFill>
                      <a:prstDash val="solid"/>
                    </a:lnR>
                    <a:lnB w="9525">
                      <a:solidFill>
                        <a:srgbClr val="CEDBE1"/>
                      </a:solidFill>
                      <a:prstDash val="solid"/>
                    </a:lnB>
                    <a:solidFill>
                      <a:srgbClr val="FFFFFF"/>
                    </a:solidFill>
                  </a:tcPr>
                </a:tc>
              </a:tr>
              <a:tr h="642938">
                <a:tc>
                  <a:txBody>
                    <a:bodyPr/>
                    <a:lstStyle/>
                    <a:p>
                      <a:r>
                        <a:rPr sz="1875" b="0">
                          <a:solidFill>
                            <a:srgbClr val="172E40"/>
                          </a:solidFill>
                          <a:latin typeface="Arial"/>
                          <a:ea typeface="Arial"/>
                          <a:cs typeface="Arial"/>
                        </a:rPr>
                        <a:t>Validation</a:t>
                      </a:r>
                    </a:p>
                  </a:txBody>
                  <a:tcPr marL="152400" marR="152400" marT="123825" marB="123825" anchor="ctr">
                    <a:lnL w="9525">
                      <a:solidFill>
                        <a:srgbClr val="CEDBE1"/>
                      </a:solidFill>
                      <a:prstDash val="solid"/>
                    </a:lnL>
                    <a:lnR w="9525">
                      <a:solidFill>
                        <a:srgbClr val="CEDBE1"/>
                      </a:solidFill>
                      <a:prstDash val="solid"/>
                    </a:lnR>
                    <a:lnB w="9525">
                      <a:solidFill>
                        <a:srgbClr val="CEDBE1"/>
                      </a:solidFill>
                      <a:prstDash val="solid"/>
                    </a:lnB>
                    <a:solidFill>
                      <a:srgbClr val="FFFFFF"/>
                    </a:solidFill>
                  </a:tcPr>
                </a:tc>
                <a:tc>
                  <a:txBody>
                    <a:bodyPr/>
                    <a:lstStyle/>
                    <a:p>
                      <a:r>
                        <a:rPr sz="1875" b="0">
                          <a:solidFill>
                            <a:srgbClr val="172E40"/>
                          </a:solidFill>
                          <a:latin typeface="Arial"/>
                          <a:ea typeface="Arial"/>
                          <a:cs typeface="Arial"/>
                        </a:rPr>
                        <a:t>725</a:t>
                      </a:r>
                    </a:p>
                  </a:txBody>
                  <a:tcPr marL="152400" marR="152400" marT="123825" marB="123825" anchor="ctr">
                    <a:lnR w="9525">
                      <a:solidFill>
                        <a:srgbClr val="CEDBE1"/>
                      </a:solidFill>
                      <a:prstDash val="solid"/>
                    </a:lnR>
                    <a:lnB w="9525">
                      <a:solidFill>
                        <a:srgbClr val="CEDBE1"/>
                      </a:solidFill>
                      <a:prstDash val="solid"/>
                    </a:lnB>
                    <a:solidFill>
                      <a:srgbClr val="FFFFFF"/>
                    </a:solidFill>
                  </a:tcPr>
                </a:tc>
                <a:tc>
                  <a:txBody>
                    <a:bodyPr/>
                    <a:lstStyle/>
                    <a:p>
                      <a:r>
                        <a:rPr sz="1875" b="0">
                          <a:solidFill>
                            <a:srgbClr val="172E40"/>
                          </a:solidFill>
                          <a:latin typeface="Arial"/>
                          <a:ea typeface="Arial"/>
                          <a:cs typeface="Arial"/>
                        </a:rPr>
                        <a:t>Select logistic regression settings</a:t>
                      </a:r>
                    </a:p>
                  </a:txBody>
                  <a:tcPr marL="152400" marR="152400" marT="123825" marB="123825" anchor="ctr">
                    <a:lnR w="9525">
                      <a:solidFill>
                        <a:srgbClr val="CEDBE1"/>
                      </a:solidFill>
                      <a:prstDash val="solid"/>
                    </a:lnR>
                    <a:lnB w="9525">
                      <a:solidFill>
                        <a:srgbClr val="CEDBE1"/>
                      </a:solidFill>
                      <a:prstDash val="solid"/>
                    </a:lnB>
                    <a:solidFill>
                      <a:srgbClr val="FFFFFF"/>
                    </a:solidFill>
                  </a:tcPr>
                </a:tc>
              </a:tr>
              <a:tr h="642938">
                <a:tc>
                  <a:txBody>
                    <a:bodyPr/>
                    <a:lstStyle/>
                    <a:p>
                      <a:r>
                        <a:rPr sz="1875" b="0">
                          <a:solidFill>
                            <a:srgbClr val="172E40"/>
                          </a:solidFill>
                          <a:latin typeface="Arial"/>
                          <a:ea typeface="Arial"/>
                          <a:cs typeface="Arial"/>
                        </a:rPr>
                        <a:t>Test</a:t>
                      </a:r>
                    </a:p>
                  </a:txBody>
                  <a:tcPr marL="152400" marR="152400" marT="123825" marB="123825" anchor="ctr">
                    <a:lnL w="9525">
                      <a:solidFill>
                        <a:srgbClr val="CEDBE1"/>
                      </a:solidFill>
                      <a:prstDash val="solid"/>
                    </a:lnL>
                    <a:lnR w="9525">
                      <a:solidFill>
                        <a:srgbClr val="CEDBE1"/>
                      </a:solidFill>
                      <a:prstDash val="solid"/>
                    </a:lnR>
                    <a:lnB w="9525">
                      <a:solidFill>
                        <a:srgbClr val="CEDBE1"/>
                      </a:solidFill>
                      <a:prstDash val="solid"/>
                    </a:lnB>
                    <a:solidFill>
                      <a:srgbClr val="FFFFFF"/>
                    </a:solidFill>
                  </a:tcPr>
                </a:tc>
                <a:tc>
                  <a:txBody>
                    <a:bodyPr/>
                    <a:lstStyle/>
                    <a:p>
                      <a:r>
                        <a:rPr sz="1875" b="0">
                          <a:solidFill>
                            <a:srgbClr val="172E40"/>
                          </a:solidFill>
                          <a:latin typeface="Arial"/>
                          <a:ea typeface="Arial"/>
                          <a:cs typeface="Arial"/>
                        </a:rPr>
                        <a:t>726</a:t>
                      </a:r>
                    </a:p>
                  </a:txBody>
                  <a:tcPr marL="152400" marR="152400" marT="123825" marB="123825" anchor="ctr">
                    <a:lnR w="9525">
                      <a:solidFill>
                        <a:srgbClr val="CEDBE1"/>
                      </a:solidFill>
                      <a:prstDash val="solid"/>
                    </a:lnR>
                    <a:lnB w="9525">
                      <a:solidFill>
                        <a:srgbClr val="CEDBE1"/>
                      </a:solidFill>
                      <a:prstDash val="solid"/>
                    </a:lnB>
                    <a:solidFill>
                      <a:srgbClr val="FFFFFF"/>
                    </a:solidFill>
                  </a:tcPr>
                </a:tc>
                <a:tc>
                  <a:txBody>
                    <a:bodyPr/>
                    <a:lstStyle/>
                    <a:p>
                      <a:r>
                        <a:rPr sz="1875" b="0">
                          <a:solidFill>
                            <a:srgbClr val="172E40"/>
                          </a:solidFill>
                          <a:latin typeface="Arial"/>
                          <a:ea typeface="Arial"/>
                          <a:cs typeface="Arial"/>
                        </a:rPr>
                        <a:t>Final held-out baseline metrics</a:t>
                      </a:r>
                    </a:p>
                  </a:txBody>
                  <a:tcPr marL="152400" marR="152400" marT="123825" marB="123825" anchor="ctr">
                    <a:lnR w="9525">
                      <a:solidFill>
                        <a:srgbClr val="CEDBE1"/>
                      </a:solidFill>
                      <a:prstDash val="solid"/>
                    </a:lnR>
                    <a:lnB w="9525">
                      <a:solidFill>
                        <a:srgbClr val="CEDBE1"/>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DEC6DA9-6805-4608-88A4-B15D1D7F9432}"/>
              </a:ext>
            </a:extLst>
          </p:cNvPr>
          <p:cNvSpPr>
            <a:spLocks xmlns:a="http://schemas.openxmlformats.org/drawingml/2006/main" noGrp="1"/>
          </p:cNvSpPr>
          <p:nvPr/>
        </p:nvSpPr>
        <p:spPr>
          <a:xfrm xmlns:a="http://schemas.openxmlformats.org/drawingml/2006/main">
            <a:off x="685800" y="58102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16779"/>
                </a:solidFill>
                <a:latin typeface="Arial"/>
                <a:ea typeface="Arial"/>
                <a:cs typeface="Arial"/>
              </a:defRPr>
            </a:defPPr>
            <a:lvl1pPr>
              <a:defRPr sz="1800" b="0">
                <a:solidFill>
                  <a:srgbClr val="516779"/>
                </a:solidFill>
                <a:latin typeface="Arial"/>
                <a:ea typeface="Arial"/>
                <a:cs typeface="Arial"/>
              </a:defRPr>
            </a:lvl1pPr>
            <a:lvl2pPr>
              <a:defRPr sz="1800" b="0">
                <a:solidFill>
                  <a:srgbClr val="516779"/>
                </a:solidFill>
                <a:latin typeface="Arial"/>
                <a:ea typeface="Arial"/>
                <a:cs typeface="Arial"/>
              </a:defRPr>
            </a:lvl2pPr>
            <a:lvl3pPr>
              <a:defRPr sz="1800" b="0">
                <a:solidFill>
                  <a:srgbClr val="516779"/>
                </a:solidFill>
                <a:latin typeface="Arial"/>
                <a:ea typeface="Arial"/>
                <a:cs typeface="Arial"/>
              </a:defRPr>
            </a:lvl3pPr>
            <a:lvl4pPr>
              <a:defRPr sz="1800" b="0">
                <a:solidFill>
                  <a:srgbClr val="516779"/>
                </a:solidFill>
                <a:latin typeface="Arial"/>
                <a:ea typeface="Arial"/>
                <a:cs typeface="Arial"/>
              </a:defRPr>
            </a:lvl4pPr>
            <a:lvl5pPr>
              <a:defRPr sz="1800" b="0">
                <a:solidFill>
                  <a:srgbClr val="516779"/>
                </a:solidFill>
                <a:latin typeface="Arial"/>
                <a:ea typeface="Arial"/>
                <a:cs typeface="Arial"/>
              </a:defRPr>
            </a:lvl5pPr>
            <a:lvl6pPr>
              <a:defRPr sz="1800" b="0">
                <a:solidFill>
                  <a:srgbClr val="516779"/>
                </a:solidFill>
                <a:latin typeface="Arial"/>
                <a:ea typeface="Arial"/>
                <a:cs typeface="Arial"/>
              </a:defRPr>
            </a:lvl6pPr>
            <a:lvl7pPr>
              <a:defRPr sz="1800" b="0">
                <a:solidFill>
                  <a:srgbClr val="516779"/>
                </a:solidFill>
                <a:latin typeface="Arial"/>
                <a:ea typeface="Arial"/>
                <a:cs typeface="Arial"/>
              </a:defRPr>
            </a:lvl7pPr>
            <a:lvl8pPr>
              <a:defRPr sz="1800" b="0">
                <a:solidFill>
                  <a:srgbClr val="516779"/>
                </a:solidFill>
                <a:latin typeface="Arial"/>
                <a:ea typeface="Arial"/>
                <a:cs typeface="Arial"/>
              </a:defRPr>
            </a:lvl8pPr>
            <a:lvl9pPr>
              <a:defRPr sz="1800" b="0">
                <a:solidFill>
                  <a:srgbClr val="516779"/>
                </a:solidFill>
                <a:latin typeface="Arial"/>
                <a:ea typeface="Arial"/>
                <a:cs typeface="Arial"/>
              </a:defRPr>
            </a:lvl9pPr>
          </a:lstStyle>
          <a:p xmlns:a="http://schemas.openxmlformats.org/drawingml/2006/main">
            <a:pPr>
              <a:defRPr sz="1800" b="0">
                <a:solidFill>
                  <a:srgbClr val="516779"/>
                </a:solidFill>
                <a:latin typeface="Arial"/>
                <a:ea typeface="Arial"/>
                <a:cs typeface="Arial"/>
              </a:defRPr>
            </a:pPr>
            <a:r>
              <a:rPr sz="1800" b="0">
                <a:solidFill>
                  <a:srgbClr val="516779"/>
                </a:solidFill>
                <a:latin typeface="Arial"/>
                <a:ea typeface="Arial"/>
                <a:cs typeface="Arial"/>
              </a:rPr>
              <a:t>Stratified 70/15/15 target split, seed 42. No normalized sentence overlap.</a:t>
            </a:r>
          </a:p>
        </p:txBody>
      </p:sp>
    </p:spTree>
    <p:extLst>
      <p:ext uri="{BB962C8B-B14F-4D97-AF65-F5344CB8AC3E}">
        <p14:creationId xmlns:p14="http://schemas.microsoft.com/office/powerpoint/2010/main" val="122355555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7F5A3E7-6987-406C-BE05-9ABFAD38BC20}"/>
              </a:ext>
            </a:extLst>
          </p:cNvPr>
          <p:cNvSpPr>
            <a:spLocks xmlns:a="http://schemas.openxmlformats.org/drawingml/2006/main" noGrp="1"/>
          </p:cNvSpPr>
          <p:nvPr/>
        </p:nvSpPr>
        <p:spPr>
          <a:xfrm xmlns:a="http://schemas.openxmlformats.org/drawingml/2006/main">
            <a:off x="685800" y="5143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2E40"/>
                </a:solidFill>
                <a:latin typeface="Arial"/>
                <a:ea typeface="Arial"/>
                <a:cs typeface="Arial"/>
              </a:defRPr>
            </a:defPPr>
            <a:lvl1pPr>
              <a:defRPr sz="3225" b="1">
                <a:solidFill>
                  <a:srgbClr val="172E40"/>
                </a:solidFill>
                <a:latin typeface="Arial"/>
                <a:ea typeface="Arial"/>
                <a:cs typeface="Arial"/>
              </a:defRPr>
            </a:lvl1pPr>
            <a:lvl2pPr>
              <a:defRPr sz="3225" b="1">
                <a:solidFill>
                  <a:srgbClr val="172E40"/>
                </a:solidFill>
                <a:latin typeface="Arial"/>
                <a:ea typeface="Arial"/>
                <a:cs typeface="Arial"/>
              </a:defRPr>
            </a:lvl2pPr>
            <a:lvl3pPr>
              <a:defRPr sz="3225" b="1">
                <a:solidFill>
                  <a:srgbClr val="172E40"/>
                </a:solidFill>
                <a:latin typeface="Arial"/>
                <a:ea typeface="Arial"/>
                <a:cs typeface="Arial"/>
              </a:defRPr>
            </a:lvl3pPr>
            <a:lvl4pPr>
              <a:defRPr sz="3225" b="1">
                <a:solidFill>
                  <a:srgbClr val="172E40"/>
                </a:solidFill>
                <a:latin typeface="Arial"/>
                <a:ea typeface="Arial"/>
                <a:cs typeface="Arial"/>
              </a:defRPr>
            </a:lvl4pPr>
            <a:lvl5pPr>
              <a:defRPr sz="3225" b="1">
                <a:solidFill>
                  <a:srgbClr val="172E40"/>
                </a:solidFill>
                <a:latin typeface="Arial"/>
                <a:ea typeface="Arial"/>
                <a:cs typeface="Arial"/>
              </a:defRPr>
            </a:lvl5pPr>
            <a:lvl6pPr>
              <a:defRPr sz="3225" b="1">
                <a:solidFill>
                  <a:srgbClr val="172E40"/>
                </a:solidFill>
                <a:latin typeface="Arial"/>
                <a:ea typeface="Arial"/>
                <a:cs typeface="Arial"/>
              </a:defRPr>
            </a:lvl6pPr>
            <a:lvl7pPr>
              <a:defRPr sz="3225" b="1">
                <a:solidFill>
                  <a:srgbClr val="172E40"/>
                </a:solidFill>
                <a:latin typeface="Arial"/>
                <a:ea typeface="Arial"/>
                <a:cs typeface="Arial"/>
              </a:defRPr>
            </a:lvl7pPr>
            <a:lvl8pPr>
              <a:defRPr sz="3225" b="1">
                <a:solidFill>
                  <a:srgbClr val="172E40"/>
                </a:solidFill>
                <a:latin typeface="Arial"/>
                <a:ea typeface="Arial"/>
                <a:cs typeface="Arial"/>
              </a:defRPr>
            </a:lvl8pPr>
            <a:lvl9pPr>
              <a:defRPr sz="3225" b="1">
                <a:solidFill>
                  <a:srgbClr val="172E40"/>
                </a:solidFill>
                <a:latin typeface="Arial"/>
                <a:ea typeface="Arial"/>
                <a:cs typeface="Arial"/>
              </a:defRPr>
            </a:lvl9pPr>
          </a:lstStyle>
          <a:p xmlns:a="http://schemas.openxmlformats.org/drawingml/2006/main">
            <a:pPr>
              <a:defRPr sz="3225" b="1">
                <a:solidFill>
                  <a:srgbClr val="172E40"/>
                </a:solidFill>
                <a:latin typeface="Arial"/>
                <a:ea typeface="Arial"/>
                <a:cs typeface="Arial"/>
              </a:defRPr>
            </a:pPr>
            <a:r>
              <a:rPr sz="3225" b="1">
                <a:solidFill>
                  <a:srgbClr val="172E40"/>
                </a:solidFill>
                <a:latin typeface="Arial"/>
                <a:ea typeface="Arial"/>
                <a:cs typeface="Arial"/>
              </a:rPr>
              <a:t>FinBERT and Unit 4 concepts</a:t>
            </a:r>
          </a:p>
        </p:txBody>
      </p:sp>
      <p:sp>
        <p:nvSpPr>
          <p:cNvPr id="2" name="">
            <a:extLst xmlns:a="http://schemas.openxmlformats.org/drawingml/2006/main">
              <a:ext uri="{FF2B5EF4-FFF2-40B4-BE49-F238E27FC236}">
                <a16:creationId xmlns:a16="http://schemas.microsoft.com/office/drawing/2014/main" id="{14012AC4-8CDF-422F-8525-4C65A8102B0A}"/>
              </a:ext>
            </a:extLst>
          </p:cNvPr>
          <p:cNvSpPr>
            <a:spLocks xmlns:a="http://schemas.openxmlformats.org/drawingml/2006/main" noGrp="1"/>
          </p:cNvSpPr>
          <p:nvPr/>
        </p:nvSpPr>
        <p:spPr>
          <a:xfrm xmlns:a="http://schemas.openxmlformats.org/drawingml/2006/main">
            <a:off x="10972800" y="6315075"/>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16779"/>
                </a:solidFill>
                <a:latin typeface="Arial"/>
                <a:ea typeface="Arial"/>
                <a:cs typeface="Arial"/>
              </a:defRPr>
            </a:defPPr>
            <a:lvl1pPr>
              <a:defRPr sz="1275" b="0">
                <a:solidFill>
                  <a:srgbClr val="516779"/>
                </a:solidFill>
                <a:latin typeface="Arial"/>
                <a:ea typeface="Arial"/>
                <a:cs typeface="Arial"/>
              </a:defRPr>
            </a:lvl1pPr>
            <a:lvl2pPr>
              <a:defRPr sz="1275" b="0">
                <a:solidFill>
                  <a:srgbClr val="516779"/>
                </a:solidFill>
                <a:latin typeface="Arial"/>
                <a:ea typeface="Arial"/>
                <a:cs typeface="Arial"/>
              </a:defRPr>
            </a:lvl2pPr>
            <a:lvl3pPr>
              <a:defRPr sz="1275" b="0">
                <a:solidFill>
                  <a:srgbClr val="516779"/>
                </a:solidFill>
                <a:latin typeface="Arial"/>
                <a:ea typeface="Arial"/>
                <a:cs typeface="Arial"/>
              </a:defRPr>
            </a:lvl3pPr>
            <a:lvl4pPr>
              <a:defRPr sz="1275" b="0">
                <a:solidFill>
                  <a:srgbClr val="516779"/>
                </a:solidFill>
                <a:latin typeface="Arial"/>
                <a:ea typeface="Arial"/>
                <a:cs typeface="Arial"/>
              </a:defRPr>
            </a:lvl4pPr>
            <a:lvl5pPr>
              <a:defRPr sz="1275" b="0">
                <a:solidFill>
                  <a:srgbClr val="516779"/>
                </a:solidFill>
                <a:latin typeface="Arial"/>
                <a:ea typeface="Arial"/>
                <a:cs typeface="Arial"/>
              </a:defRPr>
            </a:lvl5pPr>
            <a:lvl6pPr>
              <a:defRPr sz="1275" b="0">
                <a:solidFill>
                  <a:srgbClr val="516779"/>
                </a:solidFill>
                <a:latin typeface="Arial"/>
                <a:ea typeface="Arial"/>
                <a:cs typeface="Arial"/>
              </a:defRPr>
            </a:lvl6pPr>
            <a:lvl7pPr>
              <a:defRPr sz="1275" b="0">
                <a:solidFill>
                  <a:srgbClr val="516779"/>
                </a:solidFill>
                <a:latin typeface="Arial"/>
                <a:ea typeface="Arial"/>
                <a:cs typeface="Arial"/>
              </a:defRPr>
            </a:lvl7pPr>
            <a:lvl8pPr>
              <a:defRPr sz="1275" b="0">
                <a:solidFill>
                  <a:srgbClr val="516779"/>
                </a:solidFill>
                <a:latin typeface="Arial"/>
                <a:ea typeface="Arial"/>
                <a:cs typeface="Arial"/>
              </a:defRPr>
            </a:lvl8pPr>
            <a:lvl9pPr>
              <a:defRPr sz="1275" b="0">
                <a:solidFill>
                  <a:srgbClr val="516779"/>
                </a:solidFill>
                <a:latin typeface="Arial"/>
                <a:ea typeface="Arial"/>
                <a:cs typeface="Arial"/>
              </a:defRPr>
            </a:lvl9pPr>
          </a:lstStyle>
          <a:p xmlns:a="http://schemas.openxmlformats.org/drawingml/2006/main">
            <a:pPr>
              <a:defRPr sz="1275" b="0">
                <a:solidFill>
                  <a:srgbClr val="516779"/>
                </a:solidFill>
                <a:latin typeface="Arial"/>
                <a:ea typeface="Arial"/>
                <a:cs typeface="Arial"/>
              </a:defRPr>
            </a:pPr>
            <a:r>
              <a:rPr sz="1275" b="0">
                <a:solidFill>
                  <a:srgbClr val="516779"/>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8392FD99-1B88-4831-B652-B3C60EA36FE9}"/>
              </a:ext>
            </a:extLst>
          </p:cNvPr>
          <p:cNvSpPr>
            <a:spLocks xmlns:a="http://schemas.openxmlformats.org/drawingml/2006/main" noGrp="1"/>
          </p:cNvSpPr>
          <p:nvPr/>
        </p:nvSpPr>
        <p:spPr>
          <a:xfrm xmlns:a="http://schemas.openxmlformats.org/drawingml/2006/main">
            <a:off x="685800" y="15811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C83"/>
                </a:solidFill>
                <a:latin typeface="Arial"/>
                <a:ea typeface="Arial"/>
                <a:cs typeface="Arial"/>
              </a:defRPr>
            </a:defPPr>
            <a:lvl1pPr>
              <a:defRPr sz="2175" b="1">
                <a:solidFill>
                  <a:srgbClr val="007C83"/>
                </a:solidFill>
                <a:latin typeface="Arial"/>
                <a:ea typeface="Arial"/>
                <a:cs typeface="Arial"/>
              </a:defRPr>
            </a:lvl1pPr>
            <a:lvl2pPr>
              <a:defRPr sz="2175" b="1">
                <a:solidFill>
                  <a:srgbClr val="007C83"/>
                </a:solidFill>
                <a:latin typeface="Arial"/>
                <a:ea typeface="Arial"/>
                <a:cs typeface="Arial"/>
              </a:defRPr>
            </a:lvl2pPr>
            <a:lvl3pPr>
              <a:defRPr sz="2175" b="1">
                <a:solidFill>
                  <a:srgbClr val="007C83"/>
                </a:solidFill>
                <a:latin typeface="Arial"/>
                <a:ea typeface="Arial"/>
                <a:cs typeface="Arial"/>
              </a:defRPr>
            </a:lvl3pPr>
            <a:lvl4pPr>
              <a:defRPr sz="2175" b="1">
                <a:solidFill>
                  <a:srgbClr val="007C83"/>
                </a:solidFill>
                <a:latin typeface="Arial"/>
                <a:ea typeface="Arial"/>
                <a:cs typeface="Arial"/>
              </a:defRPr>
            </a:lvl4pPr>
            <a:lvl5pPr>
              <a:defRPr sz="2175" b="1">
                <a:solidFill>
                  <a:srgbClr val="007C83"/>
                </a:solidFill>
                <a:latin typeface="Arial"/>
                <a:ea typeface="Arial"/>
                <a:cs typeface="Arial"/>
              </a:defRPr>
            </a:lvl5pPr>
            <a:lvl6pPr>
              <a:defRPr sz="2175" b="1">
                <a:solidFill>
                  <a:srgbClr val="007C83"/>
                </a:solidFill>
                <a:latin typeface="Arial"/>
                <a:ea typeface="Arial"/>
                <a:cs typeface="Arial"/>
              </a:defRPr>
            </a:lvl6pPr>
            <a:lvl7pPr>
              <a:defRPr sz="2175" b="1">
                <a:solidFill>
                  <a:srgbClr val="007C83"/>
                </a:solidFill>
                <a:latin typeface="Arial"/>
                <a:ea typeface="Arial"/>
                <a:cs typeface="Arial"/>
              </a:defRPr>
            </a:lvl7pPr>
            <a:lvl8pPr>
              <a:defRPr sz="2175" b="1">
                <a:solidFill>
                  <a:srgbClr val="007C83"/>
                </a:solidFill>
                <a:latin typeface="Arial"/>
                <a:ea typeface="Arial"/>
                <a:cs typeface="Arial"/>
              </a:defRPr>
            </a:lvl8pPr>
            <a:lvl9pPr>
              <a:defRPr sz="2175" b="1">
                <a:solidFill>
                  <a:srgbClr val="007C83"/>
                </a:solidFill>
                <a:latin typeface="Arial"/>
                <a:ea typeface="Arial"/>
                <a:cs typeface="Arial"/>
              </a:defRPr>
            </a:lvl9pPr>
          </a:lstStyle>
          <a:p xmlns:a="http://schemas.openxmlformats.org/drawingml/2006/main">
            <a:pPr>
              <a:defRPr sz="2175" b="1">
                <a:solidFill>
                  <a:srgbClr val="007C83"/>
                </a:solidFill>
                <a:latin typeface="Arial"/>
                <a:ea typeface="Arial"/>
                <a:cs typeface="Arial"/>
              </a:defRPr>
            </a:pPr>
            <a:r>
              <a:rPr sz="2175" b="1">
                <a:solidFill>
                  <a:srgbClr val="007C83"/>
                </a:solidFill>
                <a:latin typeface="Arial"/>
                <a:ea typeface="Arial"/>
                <a:cs typeface="Arial"/>
              </a:rPr>
              <a:t>Tokenization</a:t>
            </a:r>
          </a:p>
        </p:txBody>
      </p:sp>
      <p:sp>
        <p:nvSpPr>
          <p:cNvPr id="4" name="">
            <a:extLst xmlns:a="http://schemas.openxmlformats.org/drawingml/2006/main">
              <a:ext uri="{FF2B5EF4-FFF2-40B4-BE49-F238E27FC236}">
                <a16:creationId xmlns:a16="http://schemas.microsoft.com/office/drawing/2014/main" id="{B903FED1-8B55-47A5-A870-3909106D29CD}"/>
              </a:ext>
            </a:extLst>
          </p:cNvPr>
          <p:cNvSpPr>
            <a:spLocks xmlns:a="http://schemas.openxmlformats.org/drawingml/2006/main" noGrp="1"/>
          </p:cNvSpPr>
          <p:nvPr/>
        </p:nvSpPr>
        <p:spPr>
          <a:xfrm xmlns:a="http://schemas.openxmlformats.org/drawingml/2006/main">
            <a:off x="685800" y="20288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72E40"/>
                </a:solidFill>
                <a:latin typeface="Arial"/>
                <a:ea typeface="Arial"/>
                <a:cs typeface="Arial"/>
              </a:defRPr>
            </a:defPPr>
            <a:lvl1pPr>
              <a:defRPr sz="1950" b="0">
                <a:solidFill>
                  <a:srgbClr val="172E40"/>
                </a:solidFill>
                <a:latin typeface="Arial"/>
                <a:ea typeface="Arial"/>
                <a:cs typeface="Arial"/>
              </a:defRPr>
            </a:lvl1pPr>
            <a:lvl2pPr>
              <a:defRPr sz="1950" b="0">
                <a:solidFill>
                  <a:srgbClr val="172E40"/>
                </a:solidFill>
                <a:latin typeface="Arial"/>
                <a:ea typeface="Arial"/>
                <a:cs typeface="Arial"/>
              </a:defRPr>
            </a:lvl2pPr>
            <a:lvl3pPr>
              <a:defRPr sz="1950" b="0">
                <a:solidFill>
                  <a:srgbClr val="172E40"/>
                </a:solidFill>
                <a:latin typeface="Arial"/>
                <a:ea typeface="Arial"/>
                <a:cs typeface="Arial"/>
              </a:defRPr>
            </a:lvl3pPr>
            <a:lvl4pPr>
              <a:defRPr sz="1950" b="0">
                <a:solidFill>
                  <a:srgbClr val="172E40"/>
                </a:solidFill>
                <a:latin typeface="Arial"/>
                <a:ea typeface="Arial"/>
                <a:cs typeface="Arial"/>
              </a:defRPr>
            </a:lvl4pPr>
            <a:lvl5pPr>
              <a:defRPr sz="1950" b="0">
                <a:solidFill>
                  <a:srgbClr val="172E40"/>
                </a:solidFill>
                <a:latin typeface="Arial"/>
                <a:ea typeface="Arial"/>
                <a:cs typeface="Arial"/>
              </a:defRPr>
            </a:lvl5pPr>
            <a:lvl6pPr>
              <a:defRPr sz="1950" b="0">
                <a:solidFill>
                  <a:srgbClr val="172E40"/>
                </a:solidFill>
                <a:latin typeface="Arial"/>
                <a:ea typeface="Arial"/>
                <a:cs typeface="Arial"/>
              </a:defRPr>
            </a:lvl6pPr>
            <a:lvl7pPr>
              <a:defRPr sz="1950" b="0">
                <a:solidFill>
                  <a:srgbClr val="172E40"/>
                </a:solidFill>
                <a:latin typeface="Arial"/>
                <a:ea typeface="Arial"/>
                <a:cs typeface="Arial"/>
              </a:defRPr>
            </a:lvl7pPr>
            <a:lvl8pPr>
              <a:defRPr sz="1950" b="0">
                <a:solidFill>
                  <a:srgbClr val="172E40"/>
                </a:solidFill>
                <a:latin typeface="Arial"/>
                <a:ea typeface="Arial"/>
                <a:cs typeface="Arial"/>
              </a:defRPr>
            </a:lvl8pPr>
            <a:lvl9pPr>
              <a:defRPr sz="1950" b="0">
                <a:solidFill>
                  <a:srgbClr val="172E40"/>
                </a:solidFill>
                <a:latin typeface="Arial"/>
                <a:ea typeface="Arial"/>
                <a:cs typeface="Arial"/>
              </a:defRPr>
            </a:lvl9pPr>
          </a:lstStyle>
          <a:p xmlns:a="http://schemas.openxmlformats.org/drawingml/2006/main">
            <a:pPr>
              <a:defRPr sz="1950" b="0">
                <a:solidFill>
                  <a:srgbClr val="172E40"/>
                </a:solidFill>
                <a:latin typeface="Arial"/>
                <a:ea typeface="Arial"/>
                <a:cs typeface="Arial"/>
              </a:defRPr>
            </a:pPr>
            <a:r>
              <a:rPr sz="1950" b="0">
                <a:solidFill>
                  <a:srgbClr val="172E40"/>
                </a:solidFill>
                <a:latin typeface="Arial"/>
                <a:ea typeface="Arial"/>
                <a:cs typeface="Arial"/>
              </a:rPr>
              <a:t>WordPiece tokens and special tokens convert each statement into model input IDs.</a:t>
            </a:r>
          </a:p>
        </p:txBody>
      </p:sp>
      <p:sp>
        <p:nvSpPr>
          <p:cNvPr id="5" name="">
            <a:extLst xmlns:a="http://schemas.openxmlformats.org/drawingml/2006/main">
              <a:ext uri="{FF2B5EF4-FFF2-40B4-BE49-F238E27FC236}">
                <a16:creationId xmlns:a16="http://schemas.microsoft.com/office/drawing/2014/main" id="{883F439B-866D-460E-9687-6E38449D982F}"/>
              </a:ext>
            </a:extLst>
          </p:cNvPr>
          <p:cNvSpPr>
            <a:spLocks xmlns:a="http://schemas.openxmlformats.org/drawingml/2006/main" noGrp="1"/>
          </p:cNvSpPr>
          <p:nvPr/>
        </p:nvSpPr>
        <p:spPr>
          <a:xfrm xmlns:a="http://schemas.openxmlformats.org/drawingml/2006/main">
            <a:off x="685800" y="31432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C83"/>
                </a:solidFill>
                <a:latin typeface="Arial"/>
                <a:ea typeface="Arial"/>
                <a:cs typeface="Arial"/>
              </a:defRPr>
            </a:defPPr>
            <a:lvl1pPr>
              <a:defRPr sz="2175" b="1">
                <a:solidFill>
                  <a:srgbClr val="007C83"/>
                </a:solidFill>
                <a:latin typeface="Arial"/>
                <a:ea typeface="Arial"/>
                <a:cs typeface="Arial"/>
              </a:defRPr>
            </a:lvl1pPr>
            <a:lvl2pPr>
              <a:defRPr sz="2175" b="1">
                <a:solidFill>
                  <a:srgbClr val="007C83"/>
                </a:solidFill>
                <a:latin typeface="Arial"/>
                <a:ea typeface="Arial"/>
                <a:cs typeface="Arial"/>
              </a:defRPr>
            </a:lvl2pPr>
            <a:lvl3pPr>
              <a:defRPr sz="2175" b="1">
                <a:solidFill>
                  <a:srgbClr val="007C83"/>
                </a:solidFill>
                <a:latin typeface="Arial"/>
                <a:ea typeface="Arial"/>
                <a:cs typeface="Arial"/>
              </a:defRPr>
            </a:lvl3pPr>
            <a:lvl4pPr>
              <a:defRPr sz="2175" b="1">
                <a:solidFill>
                  <a:srgbClr val="007C83"/>
                </a:solidFill>
                <a:latin typeface="Arial"/>
                <a:ea typeface="Arial"/>
                <a:cs typeface="Arial"/>
              </a:defRPr>
            </a:lvl4pPr>
            <a:lvl5pPr>
              <a:defRPr sz="2175" b="1">
                <a:solidFill>
                  <a:srgbClr val="007C83"/>
                </a:solidFill>
                <a:latin typeface="Arial"/>
                <a:ea typeface="Arial"/>
                <a:cs typeface="Arial"/>
              </a:defRPr>
            </a:lvl5pPr>
            <a:lvl6pPr>
              <a:defRPr sz="2175" b="1">
                <a:solidFill>
                  <a:srgbClr val="007C83"/>
                </a:solidFill>
                <a:latin typeface="Arial"/>
                <a:ea typeface="Arial"/>
                <a:cs typeface="Arial"/>
              </a:defRPr>
            </a:lvl6pPr>
            <a:lvl7pPr>
              <a:defRPr sz="2175" b="1">
                <a:solidFill>
                  <a:srgbClr val="007C83"/>
                </a:solidFill>
                <a:latin typeface="Arial"/>
                <a:ea typeface="Arial"/>
                <a:cs typeface="Arial"/>
              </a:defRPr>
            </a:lvl7pPr>
            <a:lvl8pPr>
              <a:defRPr sz="2175" b="1">
                <a:solidFill>
                  <a:srgbClr val="007C83"/>
                </a:solidFill>
                <a:latin typeface="Arial"/>
                <a:ea typeface="Arial"/>
                <a:cs typeface="Arial"/>
              </a:defRPr>
            </a:lvl8pPr>
            <a:lvl9pPr>
              <a:defRPr sz="2175" b="1">
                <a:solidFill>
                  <a:srgbClr val="007C83"/>
                </a:solidFill>
                <a:latin typeface="Arial"/>
                <a:ea typeface="Arial"/>
                <a:cs typeface="Arial"/>
              </a:defRPr>
            </a:lvl9pPr>
          </a:lstStyle>
          <a:p xmlns:a="http://schemas.openxmlformats.org/drawingml/2006/main">
            <a:pPr>
              <a:defRPr sz="2175" b="1">
                <a:solidFill>
                  <a:srgbClr val="007C83"/>
                </a:solidFill>
                <a:latin typeface="Arial"/>
                <a:ea typeface="Arial"/>
                <a:cs typeface="Arial"/>
              </a:defRPr>
            </a:pPr>
            <a:r>
              <a:rPr sz="2175" b="1">
                <a:solidFill>
                  <a:srgbClr val="007C83"/>
                </a:solidFill>
                <a:latin typeface="Arial"/>
                <a:ea typeface="Arial"/>
                <a:cs typeface="Arial"/>
              </a:rPr>
              <a:t>Contextual transformer encoder</a:t>
            </a:r>
          </a:p>
        </p:txBody>
      </p:sp>
      <p:sp>
        <p:nvSpPr>
          <p:cNvPr id="6" name="">
            <a:extLst xmlns:a="http://schemas.openxmlformats.org/drawingml/2006/main">
              <a:ext uri="{FF2B5EF4-FFF2-40B4-BE49-F238E27FC236}">
                <a16:creationId xmlns:a16="http://schemas.microsoft.com/office/drawing/2014/main" id="{8B818EA4-E53C-48E9-9C90-DA4B8E882F91}"/>
              </a:ext>
            </a:extLst>
          </p:cNvPr>
          <p:cNvSpPr>
            <a:spLocks xmlns:a="http://schemas.openxmlformats.org/drawingml/2006/main" noGrp="1"/>
          </p:cNvSpPr>
          <p:nvPr/>
        </p:nvSpPr>
        <p:spPr>
          <a:xfrm xmlns:a="http://schemas.openxmlformats.org/drawingml/2006/main">
            <a:off x="685800" y="35909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72E40"/>
                </a:solidFill>
                <a:latin typeface="Arial"/>
                <a:ea typeface="Arial"/>
                <a:cs typeface="Arial"/>
              </a:defRPr>
            </a:defPPr>
            <a:lvl1pPr>
              <a:defRPr sz="1950" b="0">
                <a:solidFill>
                  <a:srgbClr val="172E40"/>
                </a:solidFill>
                <a:latin typeface="Arial"/>
                <a:ea typeface="Arial"/>
                <a:cs typeface="Arial"/>
              </a:defRPr>
            </a:lvl1pPr>
            <a:lvl2pPr>
              <a:defRPr sz="1950" b="0">
                <a:solidFill>
                  <a:srgbClr val="172E40"/>
                </a:solidFill>
                <a:latin typeface="Arial"/>
                <a:ea typeface="Arial"/>
                <a:cs typeface="Arial"/>
              </a:defRPr>
            </a:lvl2pPr>
            <a:lvl3pPr>
              <a:defRPr sz="1950" b="0">
                <a:solidFill>
                  <a:srgbClr val="172E40"/>
                </a:solidFill>
                <a:latin typeface="Arial"/>
                <a:ea typeface="Arial"/>
                <a:cs typeface="Arial"/>
              </a:defRPr>
            </a:lvl3pPr>
            <a:lvl4pPr>
              <a:defRPr sz="1950" b="0">
                <a:solidFill>
                  <a:srgbClr val="172E40"/>
                </a:solidFill>
                <a:latin typeface="Arial"/>
                <a:ea typeface="Arial"/>
                <a:cs typeface="Arial"/>
              </a:defRPr>
            </a:lvl4pPr>
            <a:lvl5pPr>
              <a:defRPr sz="1950" b="0">
                <a:solidFill>
                  <a:srgbClr val="172E40"/>
                </a:solidFill>
                <a:latin typeface="Arial"/>
                <a:ea typeface="Arial"/>
                <a:cs typeface="Arial"/>
              </a:defRPr>
            </a:lvl5pPr>
            <a:lvl6pPr>
              <a:defRPr sz="1950" b="0">
                <a:solidFill>
                  <a:srgbClr val="172E40"/>
                </a:solidFill>
                <a:latin typeface="Arial"/>
                <a:ea typeface="Arial"/>
                <a:cs typeface="Arial"/>
              </a:defRPr>
            </a:lvl6pPr>
            <a:lvl7pPr>
              <a:defRPr sz="1950" b="0">
                <a:solidFill>
                  <a:srgbClr val="172E40"/>
                </a:solidFill>
                <a:latin typeface="Arial"/>
                <a:ea typeface="Arial"/>
                <a:cs typeface="Arial"/>
              </a:defRPr>
            </a:lvl7pPr>
            <a:lvl8pPr>
              <a:defRPr sz="1950" b="0">
                <a:solidFill>
                  <a:srgbClr val="172E40"/>
                </a:solidFill>
                <a:latin typeface="Arial"/>
                <a:ea typeface="Arial"/>
                <a:cs typeface="Arial"/>
              </a:defRPr>
            </a:lvl8pPr>
            <a:lvl9pPr>
              <a:defRPr sz="1950" b="0">
                <a:solidFill>
                  <a:srgbClr val="172E40"/>
                </a:solidFill>
                <a:latin typeface="Arial"/>
                <a:ea typeface="Arial"/>
                <a:cs typeface="Arial"/>
              </a:defRPr>
            </a:lvl9pPr>
          </a:lstStyle>
          <a:p xmlns:a="http://schemas.openxmlformats.org/drawingml/2006/main">
            <a:pPr>
              <a:defRPr sz="1950" b="0">
                <a:solidFill>
                  <a:srgbClr val="172E40"/>
                </a:solidFill>
                <a:latin typeface="Arial"/>
                <a:ea typeface="Arial"/>
                <a:cs typeface="Arial"/>
              </a:defRPr>
            </a:pPr>
            <a:r>
              <a:rPr sz="1950" b="0">
                <a:solidFill>
                  <a:srgbClr val="172E40"/>
                </a:solidFill>
                <a:latin typeface="Arial"/>
                <a:ea typeface="Arial"/>
                <a:cs typeface="Arial"/>
              </a:rPr>
              <a:t>BERT uses self-attention to construct representations that depend on surrounding tokens.</a:t>
            </a:r>
          </a:p>
        </p:txBody>
      </p:sp>
      <p:sp>
        <p:nvSpPr>
          <p:cNvPr id="7" name="">
            <a:extLst xmlns:a="http://schemas.openxmlformats.org/drawingml/2006/main">
              <a:ext uri="{FF2B5EF4-FFF2-40B4-BE49-F238E27FC236}">
                <a16:creationId xmlns:a16="http://schemas.microsoft.com/office/drawing/2014/main" id="{189F49BD-6F7C-49DB-8890-E0B28828C0DD}"/>
              </a:ext>
            </a:extLst>
          </p:cNvPr>
          <p:cNvSpPr>
            <a:spLocks xmlns:a="http://schemas.openxmlformats.org/drawingml/2006/main" noGrp="1"/>
          </p:cNvSpPr>
          <p:nvPr/>
        </p:nvSpPr>
        <p:spPr>
          <a:xfrm xmlns:a="http://schemas.openxmlformats.org/drawingml/2006/main">
            <a:off x="685800" y="47053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C83"/>
                </a:solidFill>
                <a:latin typeface="Arial"/>
                <a:ea typeface="Arial"/>
                <a:cs typeface="Arial"/>
              </a:defRPr>
            </a:defPPr>
            <a:lvl1pPr>
              <a:defRPr sz="2175" b="1">
                <a:solidFill>
                  <a:srgbClr val="007C83"/>
                </a:solidFill>
                <a:latin typeface="Arial"/>
                <a:ea typeface="Arial"/>
                <a:cs typeface="Arial"/>
              </a:defRPr>
            </a:lvl1pPr>
            <a:lvl2pPr>
              <a:defRPr sz="2175" b="1">
                <a:solidFill>
                  <a:srgbClr val="007C83"/>
                </a:solidFill>
                <a:latin typeface="Arial"/>
                <a:ea typeface="Arial"/>
                <a:cs typeface="Arial"/>
              </a:defRPr>
            </a:lvl2pPr>
            <a:lvl3pPr>
              <a:defRPr sz="2175" b="1">
                <a:solidFill>
                  <a:srgbClr val="007C83"/>
                </a:solidFill>
                <a:latin typeface="Arial"/>
                <a:ea typeface="Arial"/>
                <a:cs typeface="Arial"/>
              </a:defRPr>
            </a:lvl3pPr>
            <a:lvl4pPr>
              <a:defRPr sz="2175" b="1">
                <a:solidFill>
                  <a:srgbClr val="007C83"/>
                </a:solidFill>
                <a:latin typeface="Arial"/>
                <a:ea typeface="Arial"/>
                <a:cs typeface="Arial"/>
              </a:defRPr>
            </a:lvl4pPr>
            <a:lvl5pPr>
              <a:defRPr sz="2175" b="1">
                <a:solidFill>
                  <a:srgbClr val="007C83"/>
                </a:solidFill>
                <a:latin typeface="Arial"/>
                <a:ea typeface="Arial"/>
                <a:cs typeface="Arial"/>
              </a:defRPr>
            </a:lvl5pPr>
            <a:lvl6pPr>
              <a:defRPr sz="2175" b="1">
                <a:solidFill>
                  <a:srgbClr val="007C83"/>
                </a:solidFill>
                <a:latin typeface="Arial"/>
                <a:ea typeface="Arial"/>
                <a:cs typeface="Arial"/>
              </a:defRPr>
            </a:lvl6pPr>
            <a:lvl7pPr>
              <a:defRPr sz="2175" b="1">
                <a:solidFill>
                  <a:srgbClr val="007C83"/>
                </a:solidFill>
                <a:latin typeface="Arial"/>
                <a:ea typeface="Arial"/>
                <a:cs typeface="Arial"/>
              </a:defRPr>
            </a:lvl7pPr>
            <a:lvl8pPr>
              <a:defRPr sz="2175" b="1">
                <a:solidFill>
                  <a:srgbClr val="007C83"/>
                </a:solidFill>
                <a:latin typeface="Arial"/>
                <a:ea typeface="Arial"/>
                <a:cs typeface="Arial"/>
              </a:defRPr>
            </a:lvl8pPr>
            <a:lvl9pPr>
              <a:defRPr sz="2175" b="1">
                <a:solidFill>
                  <a:srgbClr val="007C83"/>
                </a:solidFill>
                <a:latin typeface="Arial"/>
                <a:ea typeface="Arial"/>
                <a:cs typeface="Arial"/>
              </a:defRPr>
            </a:lvl9pPr>
          </a:lstStyle>
          <a:p xmlns:a="http://schemas.openxmlformats.org/drawingml/2006/main">
            <a:pPr>
              <a:defRPr sz="2175" b="1">
                <a:solidFill>
                  <a:srgbClr val="007C83"/>
                </a:solidFill>
                <a:latin typeface="Arial"/>
                <a:ea typeface="Arial"/>
                <a:cs typeface="Arial"/>
              </a:defRPr>
            </a:pPr>
            <a:r>
              <a:rPr sz="2175" b="1">
                <a:solidFill>
                  <a:srgbClr val="007C83"/>
                </a:solidFill>
                <a:latin typeface="Arial"/>
                <a:ea typeface="Arial"/>
                <a:cs typeface="Arial"/>
              </a:rPr>
              <a:t>Classification head</a:t>
            </a:r>
          </a:p>
        </p:txBody>
      </p:sp>
      <p:sp>
        <p:nvSpPr>
          <p:cNvPr id="8" name="">
            <a:extLst xmlns:a="http://schemas.openxmlformats.org/drawingml/2006/main">
              <a:ext uri="{FF2B5EF4-FFF2-40B4-BE49-F238E27FC236}">
                <a16:creationId xmlns:a16="http://schemas.microsoft.com/office/drawing/2014/main" id="{50B0DE0E-215E-42F4-9DCE-5A024AF984D4}"/>
              </a:ext>
            </a:extLst>
          </p:cNvPr>
          <p:cNvSpPr>
            <a:spLocks xmlns:a="http://schemas.openxmlformats.org/drawingml/2006/main" noGrp="1"/>
          </p:cNvSpPr>
          <p:nvPr/>
        </p:nvSpPr>
        <p:spPr>
          <a:xfrm xmlns:a="http://schemas.openxmlformats.org/drawingml/2006/main">
            <a:off x="685800" y="51530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72E40"/>
                </a:solidFill>
                <a:latin typeface="Arial"/>
                <a:ea typeface="Arial"/>
                <a:cs typeface="Arial"/>
              </a:defRPr>
            </a:defPPr>
            <a:lvl1pPr>
              <a:defRPr sz="1950" b="0">
                <a:solidFill>
                  <a:srgbClr val="172E40"/>
                </a:solidFill>
                <a:latin typeface="Arial"/>
                <a:ea typeface="Arial"/>
                <a:cs typeface="Arial"/>
              </a:defRPr>
            </a:lvl1pPr>
            <a:lvl2pPr>
              <a:defRPr sz="1950" b="0">
                <a:solidFill>
                  <a:srgbClr val="172E40"/>
                </a:solidFill>
                <a:latin typeface="Arial"/>
                <a:ea typeface="Arial"/>
                <a:cs typeface="Arial"/>
              </a:defRPr>
            </a:lvl2pPr>
            <a:lvl3pPr>
              <a:defRPr sz="1950" b="0">
                <a:solidFill>
                  <a:srgbClr val="172E40"/>
                </a:solidFill>
                <a:latin typeface="Arial"/>
                <a:ea typeface="Arial"/>
                <a:cs typeface="Arial"/>
              </a:defRPr>
            </a:lvl3pPr>
            <a:lvl4pPr>
              <a:defRPr sz="1950" b="0">
                <a:solidFill>
                  <a:srgbClr val="172E40"/>
                </a:solidFill>
                <a:latin typeface="Arial"/>
                <a:ea typeface="Arial"/>
                <a:cs typeface="Arial"/>
              </a:defRPr>
            </a:lvl4pPr>
            <a:lvl5pPr>
              <a:defRPr sz="1950" b="0">
                <a:solidFill>
                  <a:srgbClr val="172E40"/>
                </a:solidFill>
                <a:latin typeface="Arial"/>
                <a:ea typeface="Arial"/>
                <a:cs typeface="Arial"/>
              </a:defRPr>
            </a:lvl5pPr>
            <a:lvl6pPr>
              <a:defRPr sz="1950" b="0">
                <a:solidFill>
                  <a:srgbClr val="172E40"/>
                </a:solidFill>
                <a:latin typeface="Arial"/>
                <a:ea typeface="Arial"/>
                <a:cs typeface="Arial"/>
              </a:defRPr>
            </a:lvl6pPr>
            <a:lvl7pPr>
              <a:defRPr sz="1950" b="0">
                <a:solidFill>
                  <a:srgbClr val="172E40"/>
                </a:solidFill>
                <a:latin typeface="Arial"/>
                <a:ea typeface="Arial"/>
                <a:cs typeface="Arial"/>
              </a:defRPr>
            </a:lvl7pPr>
            <a:lvl8pPr>
              <a:defRPr sz="1950" b="0">
                <a:solidFill>
                  <a:srgbClr val="172E40"/>
                </a:solidFill>
                <a:latin typeface="Arial"/>
                <a:ea typeface="Arial"/>
                <a:cs typeface="Arial"/>
              </a:defRPr>
            </a:lvl8pPr>
            <a:lvl9pPr>
              <a:defRPr sz="1950" b="0">
                <a:solidFill>
                  <a:srgbClr val="172E40"/>
                </a:solidFill>
                <a:latin typeface="Arial"/>
                <a:ea typeface="Arial"/>
                <a:cs typeface="Arial"/>
              </a:defRPr>
            </a:lvl9pPr>
          </a:lstStyle>
          <a:p xmlns:a="http://schemas.openxmlformats.org/drawingml/2006/main">
            <a:pPr>
              <a:defRPr sz="1950" b="0">
                <a:solidFill>
                  <a:srgbClr val="172E40"/>
                </a:solidFill>
                <a:latin typeface="Arial"/>
                <a:ea typeface="Arial"/>
                <a:cs typeface="Arial"/>
              </a:defRPr>
            </a:pPr>
            <a:r>
              <a:rPr sz="1950" b="0">
                <a:solidFill>
                  <a:srgbClr val="172E40"/>
                </a:solidFill>
                <a:latin typeface="Arial"/>
                <a:ea typeface="Arial"/>
                <a:cs typeface="Arial"/>
              </a:rPr>
              <a:t>Three logits become softmax scores. The largest named score selects a label.</a:t>
            </a:r>
          </a:p>
        </p:txBody>
      </p:sp>
      <p:sp>
        <p:nvSpPr>
          <p:cNvPr id="9" name="">
            <a:extLst xmlns:a="http://schemas.openxmlformats.org/drawingml/2006/main">
              <a:ext uri="{FF2B5EF4-FFF2-40B4-BE49-F238E27FC236}">
                <a16:creationId xmlns:a16="http://schemas.microsoft.com/office/drawing/2014/main" id="{D3C041E5-87ED-4407-8DE5-0ADBA7D5283C}"/>
              </a:ext>
            </a:extLst>
          </p:cNvPr>
          <p:cNvSpPr>
            <a:spLocks xmlns:a="http://schemas.openxmlformats.org/drawingml/2006/main" noGrp="1"/>
          </p:cNvSpPr>
          <p:nvPr/>
        </p:nvSpPr>
        <p:spPr>
          <a:xfrm xmlns:a="http://schemas.openxmlformats.org/drawingml/2006/main">
            <a:off x="685800" y="59912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16779"/>
                </a:solidFill>
                <a:latin typeface="Arial"/>
                <a:ea typeface="Arial"/>
                <a:cs typeface="Arial"/>
              </a:defRPr>
            </a:defPPr>
            <a:lvl1pPr>
              <a:defRPr sz="1800" b="0">
                <a:solidFill>
                  <a:srgbClr val="516779"/>
                </a:solidFill>
                <a:latin typeface="Arial"/>
                <a:ea typeface="Arial"/>
                <a:cs typeface="Arial"/>
              </a:defRPr>
            </a:lvl1pPr>
            <a:lvl2pPr>
              <a:defRPr sz="1800" b="0">
                <a:solidFill>
                  <a:srgbClr val="516779"/>
                </a:solidFill>
                <a:latin typeface="Arial"/>
                <a:ea typeface="Arial"/>
                <a:cs typeface="Arial"/>
              </a:defRPr>
            </a:lvl2pPr>
            <a:lvl3pPr>
              <a:defRPr sz="1800" b="0">
                <a:solidFill>
                  <a:srgbClr val="516779"/>
                </a:solidFill>
                <a:latin typeface="Arial"/>
                <a:ea typeface="Arial"/>
                <a:cs typeface="Arial"/>
              </a:defRPr>
            </a:lvl3pPr>
            <a:lvl4pPr>
              <a:defRPr sz="1800" b="0">
                <a:solidFill>
                  <a:srgbClr val="516779"/>
                </a:solidFill>
                <a:latin typeface="Arial"/>
                <a:ea typeface="Arial"/>
                <a:cs typeface="Arial"/>
              </a:defRPr>
            </a:lvl4pPr>
            <a:lvl5pPr>
              <a:defRPr sz="1800" b="0">
                <a:solidFill>
                  <a:srgbClr val="516779"/>
                </a:solidFill>
                <a:latin typeface="Arial"/>
                <a:ea typeface="Arial"/>
                <a:cs typeface="Arial"/>
              </a:defRPr>
            </a:lvl5pPr>
            <a:lvl6pPr>
              <a:defRPr sz="1800" b="0">
                <a:solidFill>
                  <a:srgbClr val="516779"/>
                </a:solidFill>
                <a:latin typeface="Arial"/>
                <a:ea typeface="Arial"/>
                <a:cs typeface="Arial"/>
              </a:defRPr>
            </a:lvl6pPr>
            <a:lvl7pPr>
              <a:defRPr sz="1800" b="0">
                <a:solidFill>
                  <a:srgbClr val="516779"/>
                </a:solidFill>
                <a:latin typeface="Arial"/>
                <a:ea typeface="Arial"/>
                <a:cs typeface="Arial"/>
              </a:defRPr>
            </a:lvl7pPr>
            <a:lvl8pPr>
              <a:defRPr sz="1800" b="0">
                <a:solidFill>
                  <a:srgbClr val="516779"/>
                </a:solidFill>
                <a:latin typeface="Arial"/>
                <a:ea typeface="Arial"/>
                <a:cs typeface="Arial"/>
              </a:defRPr>
            </a:lvl8pPr>
            <a:lvl9pPr>
              <a:defRPr sz="1800" b="0">
                <a:solidFill>
                  <a:srgbClr val="516779"/>
                </a:solidFill>
                <a:latin typeface="Arial"/>
                <a:ea typeface="Arial"/>
                <a:cs typeface="Arial"/>
              </a:defRPr>
            </a:lvl9pPr>
          </a:lstStyle>
          <a:p xmlns:a="http://schemas.openxmlformats.org/drawingml/2006/main">
            <a:pPr>
              <a:defRPr sz="1800" b="0">
                <a:solidFill>
                  <a:srgbClr val="516779"/>
                </a:solidFill>
                <a:latin typeface="Arial"/>
                <a:ea typeface="Arial"/>
                <a:cs typeface="Arial"/>
              </a:defRPr>
            </a:pPr>
            <a:r>
              <a:rPr sz="1800" b="0">
                <a:solidFill>
                  <a:srgbClr val="516779"/>
                </a:solidFill>
                <a:latin typeface="Arial"/>
                <a:ea typeface="Arial"/>
                <a:cs typeface="Arial"/>
              </a:rPr>
              <a:t>This project uses pretrained FinBERT weights without further fine-tuning.</a:t>
            </a:r>
          </a:p>
        </p:txBody>
      </p:sp>
    </p:spTree>
    <p:extLst>
      <p:ext uri="{BB962C8B-B14F-4D97-AF65-F5344CB8AC3E}">
        <p14:creationId xmlns:p14="http://schemas.microsoft.com/office/powerpoint/2010/main" val="127587680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CC3EECE-AB29-4CC3-9401-BD07D47B0DC5}"/>
              </a:ext>
            </a:extLst>
          </p:cNvPr>
          <p:cNvSpPr>
            <a:spLocks xmlns:a="http://schemas.openxmlformats.org/drawingml/2006/main" noGrp="1"/>
          </p:cNvSpPr>
          <p:nvPr/>
        </p:nvSpPr>
        <p:spPr>
          <a:xfrm xmlns:a="http://schemas.openxmlformats.org/drawingml/2006/main">
            <a:off x="685800" y="5143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2E40"/>
                </a:solidFill>
                <a:latin typeface="Arial"/>
                <a:ea typeface="Arial"/>
                <a:cs typeface="Arial"/>
              </a:defRPr>
            </a:defPPr>
            <a:lvl1pPr>
              <a:defRPr sz="3225" b="1">
                <a:solidFill>
                  <a:srgbClr val="172E40"/>
                </a:solidFill>
                <a:latin typeface="Arial"/>
                <a:ea typeface="Arial"/>
                <a:cs typeface="Arial"/>
              </a:defRPr>
            </a:lvl1pPr>
            <a:lvl2pPr>
              <a:defRPr sz="3225" b="1">
                <a:solidFill>
                  <a:srgbClr val="172E40"/>
                </a:solidFill>
                <a:latin typeface="Arial"/>
                <a:ea typeface="Arial"/>
                <a:cs typeface="Arial"/>
              </a:defRPr>
            </a:lvl2pPr>
            <a:lvl3pPr>
              <a:defRPr sz="3225" b="1">
                <a:solidFill>
                  <a:srgbClr val="172E40"/>
                </a:solidFill>
                <a:latin typeface="Arial"/>
                <a:ea typeface="Arial"/>
                <a:cs typeface="Arial"/>
              </a:defRPr>
            </a:lvl3pPr>
            <a:lvl4pPr>
              <a:defRPr sz="3225" b="1">
                <a:solidFill>
                  <a:srgbClr val="172E40"/>
                </a:solidFill>
                <a:latin typeface="Arial"/>
                <a:ea typeface="Arial"/>
                <a:cs typeface="Arial"/>
              </a:defRPr>
            </a:lvl4pPr>
            <a:lvl5pPr>
              <a:defRPr sz="3225" b="1">
                <a:solidFill>
                  <a:srgbClr val="172E40"/>
                </a:solidFill>
                <a:latin typeface="Arial"/>
                <a:ea typeface="Arial"/>
                <a:cs typeface="Arial"/>
              </a:defRPr>
            </a:lvl5pPr>
            <a:lvl6pPr>
              <a:defRPr sz="3225" b="1">
                <a:solidFill>
                  <a:srgbClr val="172E40"/>
                </a:solidFill>
                <a:latin typeface="Arial"/>
                <a:ea typeface="Arial"/>
                <a:cs typeface="Arial"/>
              </a:defRPr>
            </a:lvl6pPr>
            <a:lvl7pPr>
              <a:defRPr sz="3225" b="1">
                <a:solidFill>
                  <a:srgbClr val="172E40"/>
                </a:solidFill>
                <a:latin typeface="Arial"/>
                <a:ea typeface="Arial"/>
                <a:cs typeface="Arial"/>
              </a:defRPr>
            </a:lvl7pPr>
            <a:lvl8pPr>
              <a:defRPr sz="3225" b="1">
                <a:solidFill>
                  <a:srgbClr val="172E40"/>
                </a:solidFill>
                <a:latin typeface="Arial"/>
                <a:ea typeface="Arial"/>
                <a:cs typeface="Arial"/>
              </a:defRPr>
            </a:lvl8pPr>
            <a:lvl9pPr>
              <a:defRPr sz="3225" b="1">
                <a:solidFill>
                  <a:srgbClr val="172E40"/>
                </a:solidFill>
                <a:latin typeface="Arial"/>
                <a:ea typeface="Arial"/>
                <a:cs typeface="Arial"/>
              </a:defRPr>
            </a:lvl9pPr>
          </a:lstStyle>
          <a:p xmlns:a="http://schemas.openxmlformats.org/drawingml/2006/main">
            <a:pPr>
              <a:defRPr sz="3225" b="1">
                <a:solidFill>
                  <a:srgbClr val="172E40"/>
                </a:solidFill>
                <a:latin typeface="Arial"/>
                <a:ea typeface="Arial"/>
                <a:cs typeface="Arial"/>
              </a:defRPr>
            </a:pPr>
            <a:r>
              <a:rPr sz="3225" b="1">
                <a:solidFill>
                  <a:srgbClr val="172E40"/>
                </a:solidFill>
                <a:latin typeface="Arial"/>
                <a:ea typeface="Arial"/>
                <a:cs typeface="Arial"/>
              </a:rPr>
              <a:t>Baseline training</a:t>
            </a:r>
          </a:p>
        </p:txBody>
      </p:sp>
      <p:sp>
        <p:nvSpPr>
          <p:cNvPr id="2" name="">
            <a:extLst xmlns:a="http://schemas.openxmlformats.org/drawingml/2006/main">
              <a:ext uri="{FF2B5EF4-FFF2-40B4-BE49-F238E27FC236}">
                <a16:creationId xmlns:a16="http://schemas.microsoft.com/office/drawing/2014/main" id="{B33AA7FC-090E-4BE5-AF80-107CCEACD5DD}"/>
              </a:ext>
            </a:extLst>
          </p:cNvPr>
          <p:cNvSpPr>
            <a:spLocks xmlns:a="http://schemas.openxmlformats.org/drawingml/2006/main" noGrp="1"/>
          </p:cNvSpPr>
          <p:nvPr/>
        </p:nvSpPr>
        <p:spPr>
          <a:xfrm xmlns:a="http://schemas.openxmlformats.org/drawingml/2006/main">
            <a:off x="10972800" y="6315075"/>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16779"/>
                </a:solidFill>
                <a:latin typeface="Arial"/>
                <a:ea typeface="Arial"/>
                <a:cs typeface="Arial"/>
              </a:defRPr>
            </a:defPPr>
            <a:lvl1pPr>
              <a:defRPr sz="1275" b="0">
                <a:solidFill>
                  <a:srgbClr val="516779"/>
                </a:solidFill>
                <a:latin typeface="Arial"/>
                <a:ea typeface="Arial"/>
                <a:cs typeface="Arial"/>
              </a:defRPr>
            </a:lvl1pPr>
            <a:lvl2pPr>
              <a:defRPr sz="1275" b="0">
                <a:solidFill>
                  <a:srgbClr val="516779"/>
                </a:solidFill>
                <a:latin typeface="Arial"/>
                <a:ea typeface="Arial"/>
                <a:cs typeface="Arial"/>
              </a:defRPr>
            </a:lvl2pPr>
            <a:lvl3pPr>
              <a:defRPr sz="1275" b="0">
                <a:solidFill>
                  <a:srgbClr val="516779"/>
                </a:solidFill>
                <a:latin typeface="Arial"/>
                <a:ea typeface="Arial"/>
                <a:cs typeface="Arial"/>
              </a:defRPr>
            </a:lvl3pPr>
            <a:lvl4pPr>
              <a:defRPr sz="1275" b="0">
                <a:solidFill>
                  <a:srgbClr val="516779"/>
                </a:solidFill>
                <a:latin typeface="Arial"/>
                <a:ea typeface="Arial"/>
                <a:cs typeface="Arial"/>
              </a:defRPr>
            </a:lvl4pPr>
            <a:lvl5pPr>
              <a:defRPr sz="1275" b="0">
                <a:solidFill>
                  <a:srgbClr val="516779"/>
                </a:solidFill>
                <a:latin typeface="Arial"/>
                <a:ea typeface="Arial"/>
                <a:cs typeface="Arial"/>
              </a:defRPr>
            </a:lvl5pPr>
            <a:lvl6pPr>
              <a:defRPr sz="1275" b="0">
                <a:solidFill>
                  <a:srgbClr val="516779"/>
                </a:solidFill>
                <a:latin typeface="Arial"/>
                <a:ea typeface="Arial"/>
                <a:cs typeface="Arial"/>
              </a:defRPr>
            </a:lvl6pPr>
            <a:lvl7pPr>
              <a:defRPr sz="1275" b="0">
                <a:solidFill>
                  <a:srgbClr val="516779"/>
                </a:solidFill>
                <a:latin typeface="Arial"/>
                <a:ea typeface="Arial"/>
                <a:cs typeface="Arial"/>
              </a:defRPr>
            </a:lvl7pPr>
            <a:lvl8pPr>
              <a:defRPr sz="1275" b="0">
                <a:solidFill>
                  <a:srgbClr val="516779"/>
                </a:solidFill>
                <a:latin typeface="Arial"/>
                <a:ea typeface="Arial"/>
                <a:cs typeface="Arial"/>
              </a:defRPr>
            </a:lvl8pPr>
            <a:lvl9pPr>
              <a:defRPr sz="1275" b="0">
                <a:solidFill>
                  <a:srgbClr val="516779"/>
                </a:solidFill>
                <a:latin typeface="Arial"/>
                <a:ea typeface="Arial"/>
                <a:cs typeface="Arial"/>
              </a:defRPr>
            </a:lvl9pPr>
          </a:lstStyle>
          <a:p xmlns:a="http://schemas.openxmlformats.org/drawingml/2006/main">
            <a:pPr>
              <a:defRPr sz="1275" b="0">
                <a:solidFill>
                  <a:srgbClr val="516779"/>
                </a:solidFill>
                <a:latin typeface="Arial"/>
                <a:ea typeface="Arial"/>
                <a:cs typeface="Arial"/>
              </a:defRPr>
            </a:pPr>
            <a:r>
              <a:rPr sz="1275" b="0">
                <a:solidFill>
                  <a:srgbClr val="516779"/>
                </a:solidFill>
                <a:latin typeface="Arial"/>
                <a:ea typeface="Arial"/>
                <a:cs typeface="Arial"/>
              </a:rPr>
              <a:t>07</a:t>
            </a:r>
          </a:p>
        </p:txBody>
      </p:sp>
      <p:graphicFrame>
        <p:nvGraphicFramePr>
          <p:cNvPr id="3" name="">
            <a:extLst xmlns:a="http://schemas.openxmlformats.org/drawingml/2006/main">
              <a:ext uri="{FF2B5EF4-FFF2-40B4-BE49-F238E27FC236}">
                <a16:creationId xmlns:a16="http://schemas.microsoft.com/office/drawing/2014/main" id="{6522C99E-F459-484A-812C-011F5D785616}"/>
              </a:ext>
            </a:extLst>
          </p:cNvPr>
          <p:cNvGraphicFramePr/>
          <p:nvPr/>
        </p:nvGraphicFramePr>
        <p:xfrm>
          <a:off xmlns:a="http://schemas.openxmlformats.org/drawingml/2006/main" x="685800" y="1619250"/>
          <a:ext xmlns:a="http://schemas.openxmlformats.org/drawingml/2006/main" cx="10820400" cy="3105150"/>
        </p:xfrm>
        <a:graphic xmlns:a="http://schemas.openxmlformats.org/drawingml/2006/main">
          <a:graphicData uri="http://schemas.openxmlformats.org/drawingml/2006/table">
            <a:tbl>
              <a:tblPr firstRow="1" bandRow="0"/>
              <a:tblGrid>
                <a:gridCol w="3143250"/>
                <a:gridCol w="7677150"/>
              </a:tblGrid>
              <a:tr h="621030">
                <a:tc>
                  <a:txBody>
                    <a:bodyPr/>
                    <a:lstStyle/>
                    <a:p>
                      <a:r>
                        <a:rPr sz="1800" b="1">
                          <a:solidFill>
                            <a:srgbClr val="FFFFFF"/>
                          </a:solidFill>
                          <a:latin typeface="Arial"/>
                          <a:ea typeface="Arial"/>
                          <a:cs typeface="Arial"/>
                        </a:rPr>
                        <a:t>Component</a:t>
                      </a:r>
                    </a:p>
                  </a:txBody>
                  <a:tcPr marL="152400" marR="152400" marT="123825" marB="123825" anchor="ctr">
                    <a:lnL w="9525">
                      <a:solidFill>
                        <a:srgbClr val="CEDBE1"/>
                      </a:solidFill>
                      <a:prstDash val="solid"/>
                    </a:lnL>
                    <a:lnR w="9525">
                      <a:solidFill>
                        <a:srgbClr val="CEDBE1"/>
                      </a:solidFill>
                      <a:prstDash val="solid"/>
                    </a:lnR>
                    <a:lnT w="9525">
                      <a:solidFill>
                        <a:srgbClr val="CEDBE1"/>
                      </a:solidFill>
                      <a:prstDash val="solid"/>
                    </a:lnT>
                    <a:lnB w="9525">
                      <a:solidFill>
                        <a:srgbClr val="CEDBE1"/>
                      </a:solidFill>
                      <a:prstDash val="solid"/>
                    </a:lnB>
                    <a:solidFill>
                      <a:srgbClr val="112B3D"/>
                    </a:solidFill>
                  </a:tcPr>
                </a:tc>
                <a:tc>
                  <a:txBody>
                    <a:bodyPr/>
                    <a:lstStyle/>
                    <a:p>
                      <a:r>
                        <a:rPr sz="1800" b="1">
                          <a:solidFill>
                            <a:srgbClr val="FFFFFF"/>
                          </a:solidFill>
                          <a:latin typeface="Arial"/>
                          <a:ea typeface="Arial"/>
                          <a:cs typeface="Arial"/>
                        </a:rPr>
                        <a:t>Configuration</a:t>
                      </a:r>
                    </a:p>
                  </a:txBody>
                  <a:tcPr marL="152400" marR="152400" marT="123825" marB="123825" anchor="ctr">
                    <a:lnR w="9525">
                      <a:solidFill>
                        <a:srgbClr val="CEDBE1"/>
                      </a:solidFill>
                      <a:prstDash val="solid"/>
                    </a:lnR>
                    <a:lnT w="9525">
                      <a:solidFill>
                        <a:srgbClr val="CEDBE1"/>
                      </a:solidFill>
                      <a:prstDash val="solid"/>
                    </a:lnT>
                    <a:lnB w="9525">
                      <a:solidFill>
                        <a:srgbClr val="CEDBE1"/>
                      </a:solidFill>
                      <a:prstDash val="solid"/>
                    </a:lnB>
                    <a:solidFill>
                      <a:srgbClr val="112B3D"/>
                    </a:solidFill>
                  </a:tcPr>
                </a:tc>
              </a:tr>
              <a:tr h="621030">
                <a:tc>
                  <a:txBody>
                    <a:bodyPr/>
                    <a:lstStyle/>
                    <a:p>
                      <a:r>
                        <a:rPr sz="1875" b="0">
                          <a:solidFill>
                            <a:srgbClr val="172E40"/>
                          </a:solidFill>
                          <a:latin typeface="Arial"/>
                          <a:ea typeface="Arial"/>
                          <a:cs typeface="Arial"/>
                        </a:rPr>
                        <a:t>TF-IDF</a:t>
                      </a:r>
                    </a:p>
                  </a:txBody>
                  <a:tcPr marL="152400" marR="152400" marT="123825" marB="123825" anchor="ctr">
                    <a:lnL w="9525">
                      <a:solidFill>
                        <a:srgbClr val="CEDBE1"/>
                      </a:solidFill>
                      <a:prstDash val="solid"/>
                    </a:lnL>
                    <a:lnR w="9525">
                      <a:solidFill>
                        <a:srgbClr val="CEDBE1"/>
                      </a:solidFill>
                      <a:prstDash val="solid"/>
                    </a:lnR>
                    <a:lnB w="9525">
                      <a:solidFill>
                        <a:srgbClr val="CEDBE1"/>
                      </a:solidFill>
                      <a:prstDash val="solid"/>
                    </a:lnB>
                    <a:solidFill>
                      <a:srgbClr val="FFFFFF"/>
                    </a:solidFill>
                  </a:tcPr>
                </a:tc>
                <a:tc>
                  <a:txBody>
                    <a:bodyPr/>
                    <a:lstStyle/>
                    <a:p>
                      <a:r>
                        <a:rPr sz="1875" b="0">
                          <a:solidFill>
                            <a:srgbClr val="172E40"/>
                          </a:solidFill>
                          <a:latin typeface="Arial"/>
                          <a:ea typeface="Arial"/>
                          <a:cs typeface="Arial"/>
                        </a:rPr>
                        <a:t>Word unigrams and bigrams, sublinear term frequency</a:t>
                      </a:r>
                    </a:p>
                  </a:txBody>
                  <a:tcPr marL="152400" marR="152400" marT="123825" marB="123825" anchor="ctr">
                    <a:lnR w="9525">
                      <a:solidFill>
                        <a:srgbClr val="CEDBE1"/>
                      </a:solidFill>
                      <a:prstDash val="solid"/>
                    </a:lnR>
                    <a:lnB w="9525">
                      <a:solidFill>
                        <a:srgbClr val="CEDBE1"/>
                      </a:solidFill>
                      <a:prstDash val="solid"/>
                    </a:lnB>
                    <a:solidFill>
                      <a:srgbClr val="FFFFFF"/>
                    </a:solidFill>
                  </a:tcPr>
                </a:tc>
              </a:tr>
              <a:tr h="621030">
                <a:tc>
                  <a:txBody>
                    <a:bodyPr/>
                    <a:lstStyle/>
                    <a:p>
                      <a:r>
                        <a:rPr sz="1875" b="0">
                          <a:solidFill>
                            <a:srgbClr val="172E40"/>
                          </a:solidFill>
                          <a:latin typeface="Arial"/>
                          <a:ea typeface="Arial"/>
                          <a:cs typeface="Arial"/>
                        </a:rPr>
                        <a:t>Vocabulary limits</a:t>
                      </a:r>
                    </a:p>
                  </a:txBody>
                  <a:tcPr marL="152400" marR="152400" marT="123825" marB="123825" anchor="ctr">
                    <a:lnL w="9525">
                      <a:solidFill>
                        <a:srgbClr val="CEDBE1"/>
                      </a:solidFill>
                      <a:prstDash val="solid"/>
                    </a:lnL>
                    <a:lnR w="9525">
                      <a:solidFill>
                        <a:srgbClr val="CEDBE1"/>
                      </a:solidFill>
                      <a:prstDash val="solid"/>
                    </a:lnR>
                    <a:lnB w="9525">
                      <a:solidFill>
                        <a:srgbClr val="CEDBE1"/>
                      </a:solidFill>
                      <a:prstDash val="solid"/>
                    </a:lnB>
                    <a:solidFill>
                      <a:srgbClr val="FFFFFF"/>
                    </a:solidFill>
                  </a:tcPr>
                </a:tc>
                <a:tc>
                  <a:txBody>
                    <a:bodyPr/>
                    <a:lstStyle/>
                    <a:p>
                      <a:r>
                        <a:rPr sz="1875" b="0">
                          <a:solidFill>
                            <a:srgbClr val="172E40"/>
                          </a:solidFill>
                          <a:latin typeface="Arial"/>
                          <a:ea typeface="Arial"/>
                          <a:cs typeface="Arial"/>
                        </a:rPr>
                        <a:t>Minimum document frequency 2, maximum 0.98</a:t>
                      </a:r>
                    </a:p>
                  </a:txBody>
                  <a:tcPr marL="152400" marR="152400" marT="123825" marB="123825" anchor="ctr">
                    <a:lnR w="9525">
                      <a:solidFill>
                        <a:srgbClr val="CEDBE1"/>
                      </a:solidFill>
                      <a:prstDash val="solid"/>
                    </a:lnR>
                    <a:lnB w="9525">
                      <a:solidFill>
                        <a:srgbClr val="CEDBE1"/>
                      </a:solidFill>
                      <a:prstDash val="solid"/>
                    </a:lnB>
                    <a:solidFill>
                      <a:srgbClr val="FFFFFF"/>
                    </a:solidFill>
                  </a:tcPr>
                </a:tc>
              </a:tr>
              <a:tr h="621030">
                <a:tc>
                  <a:txBody>
                    <a:bodyPr/>
                    <a:lstStyle/>
                    <a:p>
                      <a:r>
                        <a:rPr sz="1875" b="0">
                          <a:solidFill>
                            <a:srgbClr val="172E40"/>
                          </a:solidFill>
                          <a:latin typeface="Arial"/>
                          <a:ea typeface="Arial"/>
                          <a:cs typeface="Arial"/>
                        </a:rPr>
                        <a:t>Logistic regression</a:t>
                      </a:r>
                    </a:p>
                  </a:txBody>
                  <a:tcPr marL="152400" marR="152400" marT="123825" marB="123825" anchor="ctr">
                    <a:lnL w="9525">
                      <a:solidFill>
                        <a:srgbClr val="CEDBE1"/>
                      </a:solidFill>
                      <a:prstDash val="solid"/>
                    </a:lnL>
                    <a:lnR w="9525">
                      <a:solidFill>
                        <a:srgbClr val="CEDBE1"/>
                      </a:solidFill>
                      <a:prstDash val="solid"/>
                    </a:lnR>
                    <a:lnB w="9525">
                      <a:solidFill>
                        <a:srgbClr val="CEDBE1"/>
                      </a:solidFill>
                      <a:prstDash val="solid"/>
                    </a:lnB>
                    <a:solidFill>
                      <a:srgbClr val="FFFFFF"/>
                    </a:solidFill>
                  </a:tcPr>
                </a:tc>
                <a:tc>
                  <a:txBody>
                    <a:bodyPr/>
                    <a:lstStyle/>
                    <a:p>
                      <a:r>
                        <a:rPr sz="1875" b="0">
                          <a:solidFill>
                            <a:srgbClr val="172E40"/>
                          </a:solidFill>
                          <a:latin typeface="Arial"/>
                          <a:ea typeface="Arial"/>
                          <a:cs typeface="Arial"/>
                        </a:rPr>
                        <a:t>Balanced classes, maximum 2,000 iterations</a:t>
                      </a:r>
                    </a:p>
                  </a:txBody>
                  <a:tcPr marL="152400" marR="152400" marT="123825" marB="123825" anchor="ctr">
                    <a:lnR w="9525">
                      <a:solidFill>
                        <a:srgbClr val="CEDBE1"/>
                      </a:solidFill>
                      <a:prstDash val="solid"/>
                    </a:lnR>
                    <a:lnB w="9525">
                      <a:solidFill>
                        <a:srgbClr val="CEDBE1"/>
                      </a:solidFill>
                      <a:prstDash val="solid"/>
                    </a:lnB>
                    <a:solidFill>
                      <a:srgbClr val="FFFFFF"/>
                    </a:solidFill>
                  </a:tcPr>
                </a:tc>
              </a:tr>
              <a:tr h="621030">
                <a:tc>
                  <a:txBody>
                    <a:bodyPr/>
                    <a:lstStyle/>
                    <a:p>
                      <a:r>
                        <a:rPr sz="1875" b="0">
                          <a:solidFill>
                            <a:srgbClr val="172E40"/>
                          </a:solidFill>
                          <a:latin typeface="Arial"/>
                          <a:ea typeface="Arial"/>
                          <a:cs typeface="Arial"/>
                        </a:rPr>
                        <a:t>Validation search</a:t>
                      </a:r>
                    </a:p>
                  </a:txBody>
                  <a:tcPr marL="152400" marR="152400" marT="123825" marB="123825" anchor="ctr">
                    <a:lnL w="9525">
                      <a:solidFill>
                        <a:srgbClr val="CEDBE1"/>
                      </a:solidFill>
                      <a:prstDash val="solid"/>
                    </a:lnL>
                    <a:lnR w="9525">
                      <a:solidFill>
                        <a:srgbClr val="CEDBE1"/>
                      </a:solidFill>
                      <a:prstDash val="solid"/>
                    </a:lnR>
                    <a:lnB w="9525">
                      <a:solidFill>
                        <a:srgbClr val="CEDBE1"/>
                      </a:solidFill>
                      <a:prstDash val="solid"/>
                    </a:lnB>
                    <a:solidFill>
                      <a:srgbClr val="FFFFFF"/>
                    </a:solidFill>
                  </a:tcPr>
                </a:tc>
                <a:tc>
                  <a:txBody>
                    <a:bodyPr/>
                    <a:lstStyle/>
                    <a:p>
                      <a:r>
                        <a:rPr sz="1875" b="0">
                          <a:solidFill>
                            <a:srgbClr val="172E40"/>
                          </a:solidFill>
                          <a:latin typeface="Arial"/>
                          <a:ea typeface="Arial"/>
                          <a:cs typeface="Arial"/>
                        </a:rPr>
                        <a:t>C in 0.5, 1, 2 and 4</a:t>
                      </a:r>
                    </a:p>
                  </a:txBody>
                  <a:tcPr marL="152400" marR="152400" marT="123825" marB="123825" anchor="ctr">
                    <a:lnR w="9525">
                      <a:solidFill>
                        <a:srgbClr val="CEDBE1"/>
                      </a:solidFill>
                      <a:prstDash val="solid"/>
                    </a:lnR>
                    <a:lnB w="9525">
                      <a:solidFill>
                        <a:srgbClr val="CEDBE1"/>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BEB052A-BD34-4E1B-9697-5222100177FA}"/>
              </a:ext>
            </a:extLst>
          </p:cNvPr>
          <p:cNvSpPr>
            <a:spLocks xmlns:a="http://schemas.openxmlformats.org/drawingml/2006/main" noGrp="1"/>
          </p:cNvSpPr>
          <p:nvPr/>
        </p:nvSpPr>
        <p:spPr>
          <a:xfrm xmlns:a="http://schemas.openxmlformats.org/drawingml/2006/main">
            <a:off x="685800" y="52578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007C83"/>
                </a:solidFill>
                <a:latin typeface="Arial"/>
                <a:ea typeface="Arial"/>
                <a:cs typeface="Arial"/>
              </a:defRPr>
            </a:defPPr>
            <a:lvl1pPr>
              <a:defRPr sz="2325" b="1">
                <a:solidFill>
                  <a:srgbClr val="007C83"/>
                </a:solidFill>
                <a:latin typeface="Arial"/>
                <a:ea typeface="Arial"/>
                <a:cs typeface="Arial"/>
              </a:defRPr>
            </a:lvl1pPr>
            <a:lvl2pPr>
              <a:defRPr sz="2325" b="1">
                <a:solidFill>
                  <a:srgbClr val="007C83"/>
                </a:solidFill>
                <a:latin typeface="Arial"/>
                <a:ea typeface="Arial"/>
                <a:cs typeface="Arial"/>
              </a:defRPr>
            </a:lvl2pPr>
            <a:lvl3pPr>
              <a:defRPr sz="2325" b="1">
                <a:solidFill>
                  <a:srgbClr val="007C83"/>
                </a:solidFill>
                <a:latin typeface="Arial"/>
                <a:ea typeface="Arial"/>
                <a:cs typeface="Arial"/>
              </a:defRPr>
            </a:lvl3pPr>
            <a:lvl4pPr>
              <a:defRPr sz="2325" b="1">
                <a:solidFill>
                  <a:srgbClr val="007C83"/>
                </a:solidFill>
                <a:latin typeface="Arial"/>
                <a:ea typeface="Arial"/>
                <a:cs typeface="Arial"/>
              </a:defRPr>
            </a:lvl4pPr>
            <a:lvl5pPr>
              <a:defRPr sz="2325" b="1">
                <a:solidFill>
                  <a:srgbClr val="007C83"/>
                </a:solidFill>
                <a:latin typeface="Arial"/>
                <a:ea typeface="Arial"/>
                <a:cs typeface="Arial"/>
              </a:defRPr>
            </a:lvl5pPr>
            <a:lvl6pPr>
              <a:defRPr sz="2325" b="1">
                <a:solidFill>
                  <a:srgbClr val="007C83"/>
                </a:solidFill>
                <a:latin typeface="Arial"/>
                <a:ea typeface="Arial"/>
                <a:cs typeface="Arial"/>
              </a:defRPr>
            </a:lvl6pPr>
            <a:lvl7pPr>
              <a:defRPr sz="2325" b="1">
                <a:solidFill>
                  <a:srgbClr val="007C83"/>
                </a:solidFill>
                <a:latin typeface="Arial"/>
                <a:ea typeface="Arial"/>
                <a:cs typeface="Arial"/>
              </a:defRPr>
            </a:lvl7pPr>
            <a:lvl8pPr>
              <a:defRPr sz="2325" b="1">
                <a:solidFill>
                  <a:srgbClr val="007C83"/>
                </a:solidFill>
                <a:latin typeface="Arial"/>
                <a:ea typeface="Arial"/>
                <a:cs typeface="Arial"/>
              </a:defRPr>
            </a:lvl8pPr>
            <a:lvl9pPr>
              <a:defRPr sz="2325" b="1">
                <a:solidFill>
                  <a:srgbClr val="007C83"/>
                </a:solidFill>
                <a:latin typeface="Arial"/>
                <a:ea typeface="Arial"/>
                <a:cs typeface="Arial"/>
              </a:defRPr>
            </a:lvl9pPr>
          </a:lstStyle>
          <a:p xmlns:a="http://schemas.openxmlformats.org/drawingml/2006/main">
            <a:pPr>
              <a:defRPr sz="2325" b="1">
                <a:solidFill>
                  <a:srgbClr val="007C83"/>
                </a:solidFill>
                <a:latin typeface="Arial"/>
                <a:ea typeface="Arial"/>
                <a:cs typeface="Arial"/>
              </a:defRPr>
            </a:pPr>
            <a:r>
              <a:rPr sz="2325" b="1">
                <a:solidFill>
                  <a:srgbClr val="007C83"/>
                </a:solidFill>
                <a:latin typeface="Arial"/>
                <a:ea typeface="Arial"/>
                <a:cs typeface="Arial"/>
              </a:rPr>
              <a:t>Selected C = 2    Vocabulary = 11,138 features</a:t>
            </a:r>
          </a:p>
        </p:txBody>
      </p:sp>
      <p:sp>
        <p:nvSpPr>
          <p:cNvPr id="5" name="">
            <a:extLst xmlns:a="http://schemas.openxmlformats.org/drawingml/2006/main">
              <a:ext uri="{FF2B5EF4-FFF2-40B4-BE49-F238E27FC236}">
                <a16:creationId xmlns:a16="http://schemas.microsoft.com/office/drawing/2014/main" id="{0C85379E-5A94-460E-86BA-72AFC177078A}"/>
              </a:ext>
            </a:extLst>
          </p:cNvPr>
          <p:cNvSpPr>
            <a:spLocks xmlns:a="http://schemas.openxmlformats.org/drawingml/2006/main" noGrp="1"/>
          </p:cNvSpPr>
          <p:nvPr/>
        </p:nvSpPr>
        <p:spPr>
          <a:xfrm xmlns:a="http://schemas.openxmlformats.org/drawingml/2006/main">
            <a:off x="685800" y="585787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16779"/>
                </a:solidFill>
                <a:latin typeface="Arial"/>
                <a:ea typeface="Arial"/>
                <a:cs typeface="Arial"/>
              </a:defRPr>
            </a:defPPr>
            <a:lvl1pPr>
              <a:defRPr sz="1875" b="0">
                <a:solidFill>
                  <a:srgbClr val="516779"/>
                </a:solidFill>
                <a:latin typeface="Arial"/>
                <a:ea typeface="Arial"/>
                <a:cs typeface="Arial"/>
              </a:defRPr>
            </a:lvl1pPr>
            <a:lvl2pPr>
              <a:defRPr sz="1875" b="0">
                <a:solidFill>
                  <a:srgbClr val="516779"/>
                </a:solidFill>
                <a:latin typeface="Arial"/>
                <a:ea typeface="Arial"/>
                <a:cs typeface="Arial"/>
              </a:defRPr>
            </a:lvl2pPr>
            <a:lvl3pPr>
              <a:defRPr sz="1875" b="0">
                <a:solidFill>
                  <a:srgbClr val="516779"/>
                </a:solidFill>
                <a:latin typeface="Arial"/>
                <a:ea typeface="Arial"/>
                <a:cs typeface="Arial"/>
              </a:defRPr>
            </a:lvl3pPr>
            <a:lvl4pPr>
              <a:defRPr sz="1875" b="0">
                <a:solidFill>
                  <a:srgbClr val="516779"/>
                </a:solidFill>
                <a:latin typeface="Arial"/>
                <a:ea typeface="Arial"/>
                <a:cs typeface="Arial"/>
              </a:defRPr>
            </a:lvl4pPr>
            <a:lvl5pPr>
              <a:defRPr sz="1875" b="0">
                <a:solidFill>
                  <a:srgbClr val="516779"/>
                </a:solidFill>
                <a:latin typeface="Arial"/>
                <a:ea typeface="Arial"/>
                <a:cs typeface="Arial"/>
              </a:defRPr>
            </a:lvl5pPr>
            <a:lvl6pPr>
              <a:defRPr sz="1875" b="0">
                <a:solidFill>
                  <a:srgbClr val="516779"/>
                </a:solidFill>
                <a:latin typeface="Arial"/>
                <a:ea typeface="Arial"/>
                <a:cs typeface="Arial"/>
              </a:defRPr>
            </a:lvl6pPr>
            <a:lvl7pPr>
              <a:defRPr sz="1875" b="0">
                <a:solidFill>
                  <a:srgbClr val="516779"/>
                </a:solidFill>
                <a:latin typeface="Arial"/>
                <a:ea typeface="Arial"/>
                <a:cs typeface="Arial"/>
              </a:defRPr>
            </a:lvl7pPr>
            <a:lvl8pPr>
              <a:defRPr sz="1875" b="0">
                <a:solidFill>
                  <a:srgbClr val="516779"/>
                </a:solidFill>
                <a:latin typeface="Arial"/>
                <a:ea typeface="Arial"/>
                <a:cs typeface="Arial"/>
              </a:defRPr>
            </a:lvl8pPr>
            <a:lvl9pPr>
              <a:defRPr sz="1875" b="0">
                <a:solidFill>
                  <a:srgbClr val="516779"/>
                </a:solidFill>
                <a:latin typeface="Arial"/>
                <a:ea typeface="Arial"/>
                <a:cs typeface="Arial"/>
              </a:defRPr>
            </a:lvl9pPr>
          </a:lstStyle>
          <a:p xmlns:a="http://schemas.openxmlformats.org/drawingml/2006/main">
            <a:pPr>
              <a:defRPr sz="1875" b="0">
                <a:solidFill>
                  <a:srgbClr val="516779"/>
                </a:solidFill>
                <a:latin typeface="Arial"/>
                <a:ea typeface="Arial"/>
                <a:cs typeface="Arial"/>
              </a:defRPr>
            </a:pPr>
            <a:r>
              <a:rPr sz="1875" b="0">
                <a:solidFill>
                  <a:srgbClr val="516779"/>
                </a:solidFill>
                <a:latin typeface="Arial"/>
                <a:ea typeface="Arial"/>
                <a:cs typeface="Arial"/>
              </a:rPr>
              <a:t>The saved pipeline keeps its fitted vocabulary and classifier together.</a:t>
            </a:r>
          </a:p>
        </p:txBody>
      </p:sp>
    </p:spTree>
    <p:extLst>
      <p:ext uri="{BB962C8B-B14F-4D97-AF65-F5344CB8AC3E}">
        <p14:creationId xmlns:p14="http://schemas.microsoft.com/office/powerpoint/2010/main" val="2089776111"/>
      </p:ext>
    </p:extLst>
  </p:cSld>
</p:sld>
</file>

<file path=ppt/slides/slide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9" name="">
            <a:extLst>
              <a:ext uri="{FF2B5EF4-FFF2-40B4-BE49-F238E27FC236}">
                <ns2:creationId id="{41FA6588-0901-4DE2-B202-D054E891DCF2}"/>
              </a:ext>
            </a:extLst>
          </p:cNvPr>
          <p:cNvSpPr>
            <a:spLocks noGrp="1"/>
          </p:cNvSpPr>
          <p:nvPr/>
        </p:nvSpPr>
        <p:spPr>
          <a:xfrm>
            <a:off x="685800" y="514350"/>
            <a:ext cx="10820400" cy="800100"/>
          </a:xfrm>
          <a:prstGeom prst="rect">
            <a:avLst/>
          </a:prstGeom>
          <a:noFill/>
          <a:ln w="0">
            <a:noFill/>
          </a:ln>
        </p:spPr>
        <p:txBody>
          <a:bodyPr lIns="0" tIns="0" rIns="0" bIns="0"/>
          <a:lstStyle>
            <a:defPPr>
              <a:defRPr sz="3225" b="1">
                <a:solidFill>
                  <a:srgbClr val="172E40"/>
                </a:solidFill>
                <a:latin typeface="Arial"/>
                <a:ea typeface="Arial"/>
                <a:cs typeface="Arial"/>
              </a:defRPr>
            </a:defPPr>
            <a:lvl1pPr>
              <a:defRPr sz="3225" b="1">
                <a:solidFill>
                  <a:srgbClr val="172E40"/>
                </a:solidFill>
                <a:latin typeface="Arial"/>
                <a:ea typeface="Arial"/>
                <a:cs typeface="Arial"/>
              </a:defRPr>
            </a:lvl1pPr>
            <a:lvl2pPr>
              <a:defRPr sz="3225" b="1">
                <a:solidFill>
                  <a:srgbClr val="172E40"/>
                </a:solidFill>
                <a:latin typeface="Arial"/>
                <a:ea typeface="Arial"/>
                <a:cs typeface="Arial"/>
              </a:defRPr>
            </a:lvl2pPr>
            <a:lvl3pPr>
              <a:defRPr sz="3225" b="1">
                <a:solidFill>
                  <a:srgbClr val="172E40"/>
                </a:solidFill>
                <a:latin typeface="Arial"/>
                <a:ea typeface="Arial"/>
                <a:cs typeface="Arial"/>
              </a:defRPr>
            </a:lvl3pPr>
            <a:lvl4pPr>
              <a:defRPr sz="3225" b="1">
                <a:solidFill>
                  <a:srgbClr val="172E40"/>
                </a:solidFill>
                <a:latin typeface="Arial"/>
                <a:ea typeface="Arial"/>
                <a:cs typeface="Arial"/>
              </a:defRPr>
            </a:lvl4pPr>
            <a:lvl5pPr>
              <a:defRPr sz="3225" b="1">
                <a:solidFill>
                  <a:srgbClr val="172E40"/>
                </a:solidFill>
                <a:latin typeface="Arial"/>
                <a:ea typeface="Arial"/>
                <a:cs typeface="Arial"/>
              </a:defRPr>
            </a:lvl5pPr>
            <a:lvl6pPr>
              <a:defRPr sz="3225" b="1">
                <a:solidFill>
                  <a:srgbClr val="172E40"/>
                </a:solidFill>
                <a:latin typeface="Arial"/>
                <a:ea typeface="Arial"/>
                <a:cs typeface="Arial"/>
              </a:defRPr>
            </a:lvl6pPr>
            <a:lvl7pPr>
              <a:defRPr sz="3225" b="1">
                <a:solidFill>
                  <a:srgbClr val="172E40"/>
                </a:solidFill>
                <a:latin typeface="Arial"/>
                <a:ea typeface="Arial"/>
                <a:cs typeface="Arial"/>
              </a:defRPr>
            </a:lvl7pPr>
            <a:lvl8pPr>
              <a:defRPr sz="3225" b="1">
                <a:solidFill>
                  <a:srgbClr val="172E40"/>
                </a:solidFill>
                <a:latin typeface="Arial"/>
                <a:ea typeface="Arial"/>
                <a:cs typeface="Arial"/>
              </a:defRPr>
            </a:lvl8pPr>
            <a:lvl9pPr>
              <a:defRPr sz="3225" b="1">
                <a:solidFill>
                  <a:srgbClr val="172E40"/>
                </a:solidFill>
                <a:latin typeface="Arial"/>
                <a:ea typeface="Arial"/>
                <a:cs typeface="Arial"/>
              </a:defRPr>
            </a:lvl9pPr>
          </a:lstStyle>
          <a:p>
            <a:pPr>
              <a:defRPr sz="3225" b="1">
                <a:solidFill>
                  <a:srgbClr val="172E40"/>
                </a:solidFill>
                <a:latin typeface="Arial"/>
                <a:ea typeface="Arial"/>
                <a:cs typeface="Arial"/>
              </a:defRPr>
            </a:pPr>
            <a:r>
              <a:rPr sz="3225" b="1">
                <a:solidFill>
                  <a:srgbClr val="172E40"/>
                </a:solidFill>
                <a:latin typeface="Arial"/>
                <a:ea typeface="Arial"/>
                <a:cs typeface="Arial"/>
              </a:rPr>
              <a:t>Text and CSV demonstration</a:t>
            </a:r>
          </a:p>
        </p:txBody>
      </p:sp>
      <p:sp>
        <p:nvSpPr>
          <p:cNvPr id="2" name="">
            <a:extLst>
              <a:ext uri="{FF2B5EF4-FFF2-40B4-BE49-F238E27FC236}">
                <ns2:creationId id="{68FD629A-B992-4D31-95D7-1B9D04D0BFC4}"/>
              </a:ext>
            </a:extLst>
          </p:cNvPr>
          <p:cNvSpPr>
            <a:spLocks noGrp="1"/>
          </p:cNvSpPr>
          <p:nvPr/>
        </p:nvSpPr>
        <p:spPr>
          <a:xfrm>
            <a:off x="10972800" y="6315075"/>
            <a:ext cx="533400" cy="247650"/>
          </a:xfrm>
          <a:prstGeom prst="rect">
            <a:avLst/>
          </a:prstGeom>
          <a:noFill/>
          <a:ln w="0">
            <a:noFill/>
          </a:ln>
        </p:spPr>
        <p:txBody>
          <a:bodyPr lIns="0" tIns="0" rIns="0" bIns="0"/>
          <a:lstStyle>
            <a:defPPr>
              <a:defRPr sz="1275" b="0">
                <a:solidFill>
                  <a:srgbClr val="516779"/>
                </a:solidFill>
                <a:latin typeface="Arial"/>
                <a:ea typeface="Arial"/>
                <a:cs typeface="Arial"/>
              </a:defRPr>
            </a:defPPr>
            <a:lvl1pPr>
              <a:defRPr sz="1275" b="0">
                <a:solidFill>
                  <a:srgbClr val="516779"/>
                </a:solidFill>
                <a:latin typeface="Arial"/>
                <a:ea typeface="Arial"/>
                <a:cs typeface="Arial"/>
              </a:defRPr>
            </a:lvl1pPr>
            <a:lvl2pPr>
              <a:defRPr sz="1275" b="0">
                <a:solidFill>
                  <a:srgbClr val="516779"/>
                </a:solidFill>
                <a:latin typeface="Arial"/>
                <a:ea typeface="Arial"/>
                <a:cs typeface="Arial"/>
              </a:defRPr>
            </a:lvl2pPr>
            <a:lvl3pPr>
              <a:defRPr sz="1275" b="0">
                <a:solidFill>
                  <a:srgbClr val="516779"/>
                </a:solidFill>
                <a:latin typeface="Arial"/>
                <a:ea typeface="Arial"/>
                <a:cs typeface="Arial"/>
              </a:defRPr>
            </a:lvl3pPr>
            <a:lvl4pPr>
              <a:defRPr sz="1275" b="0">
                <a:solidFill>
                  <a:srgbClr val="516779"/>
                </a:solidFill>
                <a:latin typeface="Arial"/>
                <a:ea typeface="Arial"/>
                <a:cs typeface="Arial"/>
              </a:defRPr>
            </a:lvl4pPr>
            <a:lvl5pPr>
              <a:defRPr sz="1275" b="0">
                <a:solidFill>
                  <a:srgbClr val="516779"/>
                </a:solidFill>
                <a:latin typeface="Arial"/>
                <a:ea typeface="Arial"/>
                <a:cs typeface="Arial"/>
              </a:defRPr>
            </a:lvl5pPr>
            <a:lvl6pPr>
              <a:defRPr sz="1275" b="0">
                <a:solidFill>
                  <a:srgbClr val="516779"/>
                </a:solidFill>
                <a:latin typeface="Arial"/>
                <a:ea typeface="Arial"/>
                <a:cs typeface="Arial"/>
              </a:defRPr>
            </a:lvl6pPr>
            <a:lvl7pPr>
              <a:defRPr sz="1275" b="0">
                <a:solidFill>
                  <a:srgbClr val="516779"/>
                </a:solidFill>
                <a:latin typeface="Arial"/>
                <a:ea typeface="Arial"/>
                <a:cs typeface="Arial"/>
              </a:defRPr>
            </a:lvl7pPr>
            <a:lvl8pPr>
              <a:defRPr sz="1275" b="0">
                <a:solidFill>
                  <a:srgbClr val="516779"/>
                </a:solidFill>
                <a:latin typeface="Arial"/>
                <a:ea typeface="Arial"/>
                <a:cs typeface="Arial"/>
              </a:defRPr>
            </a:lvl8pPr>
            <a:lvl9pPr>
              <a:defRPr sz="1275" b="0">
                <a:solidFill>
                  <a:srgbClr val="516779"/>
                </a:solidFill>
                <a:latin typeface="Arial"/>
                <a:ea typeface="Arial"/>
                <a:cs typeface="Arial"/>
              </a:defRPr>
            </a:lvl9pPr>
          </a:lstStyle>
          <a:p>
            <a:pPr>
              <a:defRPr sz="1275" b="0">
                <a:solidFill>
                  <a:srgbClr val="516779"/>
                </a:solidFill>
                <a:latin typeface="Arial"/>
                <a:ea typeface="Arial"/>
                <a:cs typeface="Arial"/>
              </a:defRPr>
            </a:pPr>
            <a:r>
              <a:rPr sz="1275" b="0">
                <a:solidFill>
                  <a:srgbClr val="516779"/>
                </a:solidFill>
                <a:latin typeface="Arial"/>
                <a:ea typeface="Arial"/>
                <a:cs typeface="Arial"/>
              </a:rPr>
              <a:t>08</a:t>
            </a:r>
          </a:p>
        </p:txBody>
      </p:sp>
      <p:pic>
        <p:nvPicPr>
          <p:cNvPr id="3" name="">
            <a:extLst>
              <a:ext uri="{FF2B5EF4-FFF2-40B4-BE49-F238E27FC236}">
                <ns2:creationId id="{259C9633-79FB-45D8-9FEC-A70D02BC23CD}"/>
              </a:ext>
            </a:extLst>
          </p:cNvPr>
          <p:cNvPicPr>
            <a:picLocks noChangeAspect="1"/>
          </p:cNvPicPr>
          <p:nvPr/>
        </p:nvPicPr>
        <p:blipFill>
          <a:blip r:embed="R6b61370d64ed45e3"/>
          <a:stretch/>
        </p:blipFill>
        <p:spPr>
          <a:xfrm>
            <a:off x="818294" y="1466850"/>
            <a:ext cx="3830761" cy="4419600"/>
          </a:xfrm>
          <a:prstGeom prst="rect">
            <a:avLst/>
          </a:prstGeom>
        </p:spPr>
      </p:pic>
      <p:sp>
        <p:nvSpPr>
          <p:cNvPr id="4" name="">
            <a:extLst>
              <a:ext uri="{FF2B5EF4-FFF2-40B4-BE49-F238E27FC236}">
                <ns2:creationId id="{89CC2282-C932-41AB-993F-89FD19E6E85A}"/>
              </a:ext>
            </a:extLst>
          </p:cNvPr>
          <p:cNvSpPr>
            <a:spLocks noGrp="1"/>
          </p:cNvSpPr>
          <p:nvPr/>
        </p:nvSpPr>
        <p:spPr>
          <a:xfrm>
            <a:off x="5429250" y="1714500"/>
            <a:ext cx="6076950" cy="428625"/>
          </a:xfrm>
          <a:prstGeom prst="rect">
            <a:avLst/>
          </a:prstGeom>
          <a:noFill/>
          <a:ln w="0">
            <a:noFill/>
          </a:ln>
        </p:spPr>
        <p:txBody>
          <a:bodyPr lIns="0" tIns="0" rIns="0" bIns="0"/>
          <a:lstStyle>
            <a:defPPr>
              <a:defRPr sz="2175" b="1">
                <a:solidFill>
                  <a:srgbClr val="007C83"/>
                </a:solidFill>
                <a:latin typeface="Arial"/>
                <a:ea typeface="Arial"/>
                <a:cs typeface="Arial"/>
              </a:defRPr>
            </a:defPPr>
            <a:lvl1pPr>
              <a:defRPr sz="2175" b="1">
                <a:solidFill>
                  <a:srgbClr val="007C83"/>
                </a:solidFill>
                <a:latin typeface="Arial"/>
                <a:ea typeface="Arial"/>
                <a:cs typeface="Arial"/>
              </a:defRPr>
            </a:lvl1pPr>
            <a:lvl2pPr>
              <a:defRPr sz="2175" b="1">
                <a:solidFill>
                  <a:srgbClr val="007C83"/>
                </a:solidFill>
                <a:latin typeface="Arial"/>
                <a:ea typeface="Arial"/>
                <a:cs typeface="Arial"/>
              </a:defRPr>
            </a:lvl2pPr>
            <a:lvl3pPr>
              <a:defRPr sz="2175" b="1">
                <a:solidFill>
                  <a:srgbClr val="007C83"/>
                </a:solidFill>
                <a:latin typeface="Arial"/>
                <a:ea typeface="Arial"/>
                <a:cs typeface="Arial"/>
              </a:defRPr>
            </a:lvl3pPr>
            <a:lvl4pPr>
              <a:defRPr sz="2175" b="1">
                <a:solidFill>
                  <a:srgbClr val="007C83"/>
                </a:solidFill>
                <a:latin typeface="Arial"/>
                <a:ea typeface="Arial"/>
                <a:cs typeface="Arial"/>
              </a:defRPr>
            </a:lvl4pPr>
            <a:lvl5pPr>
              <a:defRPr sz="2175" b="1">
                <a:solidFill>
                  <a:srgbClr val="007C83"/>
                </a:solidFill>
                <a:latin typeface="Arial"/>
                <a:ea typeface="Arial"/>
                <a:cs typeface="Arial"/>
              </a:defRPr>
            </a:lvl5pPr>
            <a:lvl6pPr>
              <a:defRPr sz="2175" b="1">
                <a:solidFill>
                  <a:srgbClr val="007C83"/>
                </a:solidFill>
                <a:latin typeface="Arial"/>
                <a:ea typeface="Arial"/>
                <a:cs typeface="Arial"/>
              </a:defRPr>
            </a:lvl6pPr>
            <a:lvl7pPr>
              <a:defRPr sz="2175" b="1">
                <a:solidFill>
                  <a:srgbClr val="007C83"/>
                </a:solidFill>
                <a:latin typeface="Arial"/>
                <a:ea typeface="Arial"/>
                <a:cs typeface="Arial"/>
              </a:defRPr>
            </a:lvl7pPr>
            <a:lvl8pPr>
              <a:defRPr sz="2175" b="1">
                <a:solidFill>
                  <a:srgbClr val="007C83"/>
                </a:solidFill>
                <a:latin typeface="Arial"/>
                <a:ea typeface="Arial"/>
                <a:cs typeface="Arial"/>
              </a:defRPr>
            </a:lvl8pPr>
            <a:lvl9pPr>
              <a:defRPr sz="2175" b="1">
                <a:solidFill>
                  <a:srgbClr val="007C83"/>
                </a:solidFill>
                <a:latin typeface="Arial"/>
                <a:ea typeface="Arial"/>
                <a:cs typeface="Arial"/>
              </a:defRPr>
            </a:lvl9pPr>
          </a:lstStyle>
          <a:p>
            <a:pPr>
              <a:defRPr sz="2175" b="1">
                <a:solidFill>
                  <a:srgbClr val="007C83"/>
                </a:solidFill>
                <a:latin typeface="Arial"/>
                <a:ea typeface="Arial"/>
                <a:cs typeface="Arial"/>
              </a:defRPr>
            </a:pPr>
            <a:r>
              <a:rPr sz="2175" b="1">
                <a:solidFill>
                  <a:srgbClr val="007C83"/>
                </a:solidFill>
                <a:latin typeface="Arial"/>
                <a:ea typeface="Arial"/>
                <a:cs typeface="Arial"/>
              </a:rPr>
              <a:t>Single text</a:t>
            </a:r>
          </a:p>
        </p:txBody>
      </p:sp>
      <p:sp>
        <p:nvSpPr>
          <p:cNvPr id="5" name="">
            <a:extLst>
              <a:ext uri="{FF2B5EF4-FFF2-40B4-BE49-F238E27FC236}">
                <ns2:creationId id="{C66D17CF-C3CF-47DA-A53A-7BEB713C7173}"/>
              </a:ext>
            </a:extLst>
          </p:cNvPr>
          <p:cNvSpPr>
            <a:spLocks noGrp="1"/>
          </p:cNvSpPr>
          <p:nvPr/>
        </p:nvSpPr>
        <p:spPr>
          <a:xfrm>
            <a:off x="5429250" y="2190750"/>
            <a:ext cx="6076950" cy="1104900"/>
          </a:xfrm>
          <a:prstGeom prst="rect">
            <a:avLst/>
          </a:prstGeom>
          <a:noFill/>
          <a:ln w="0">
            <a:noFill/>
          </a:ln>
        </p:spPr>
        <p:txBody>
          <a:bodyPr lIns="0" tIns="0" rIns="0" bIns="0"/>
          <a:lstStyle>
            <a:defPPr>
              <a:defRPr sz="2100" b="0">
                <a:solidFill>
                  <a:srgbClr val="172E40"/>
                </a:solidFill>
                <a:latin typeface="Arial"/>
                <a:ea typeface="Arial"/>
                <a:cs typeface="Arial"/>
              </a:defRPr>
            </a:defPPr>
            <a:lvl1pPr>
              <a:defRPr sz="2100" b="0">
                <a:solidFill>
                  <a:srgbClr val="172E40"/>
                </a:solidFill>
                <a:latin typeface="Arial"/>
                <a:ea typeface="Arial"/>
                <a:cs typeface="Arial"/>
              </a:defRPr>
            </a:lvl1pPr>
            <a:lvl2pPr>
              <a:defRPr sz="2100" b="0">
                <a:solidFill>
                  <a:srgbClr val="172E40"/>
                </a:solidFill>
                <a:latin typeface="Arial"/>
                <a:ea typeface="Arial"/>
                <a:cs typeface="Arial"/>
              </a:defRPr>
            </a:lvl2pPr>
            <a:lvl3pPr>
              <a:defRPr sz="2100" b="0">
                <a:solidFill>
                  <a:srgbClr val="172E40"/>
                </a:solidFill>
                <a:latin typeface="Arial"/>
                <a:ea typeface="Arial"/>
                <a:cs typeface="Arial"/>
              </a:defRPr>
            </a:lvl3pPr>
            <a:lvl4pPr>
              <a:defRPr sz="2100" b="0">
                <a:solidFill>
                  <a:srgbClr val="172E40"/>
                </a:solidFill>
                <a:latin typeface="Arial"/>
                <a:ea typeface="Arial"/>
                <a:cs typeface="Arial"/>
              </a:defRPr>
            </a:lvl4pPr>
            <a:lvl5pPr>
              <a:defRPr sz="2100" b="0">
                <a:solidFill>
                  <a:srgbClr val="172E40"/>
                </a:solidFill>
                <a:latin typeface="Arial"/>
                <a:ea typeface="Arial"/>
                <a:cs typeface="Arial"/>
              </a:defRPr>
            </a:lvl5pPr>
            <a:lvl6pPr>
              <a:defRPr sz="2100" b="0">
                <a:solidFill>
                  <a:srgbClr val="172E40"/>
                </a:solidFill>
                <a:latin typeface="Arial"/>
                <a:ea typeface="Arial"/>
                <a:cs typeface="Arial"/>
              </a:defRPr>
            </a:lvl6pPr>
            <a:lvl7pPr>
              <a:defRPr sz="2100" b="0">
                <a:solidFill>
                  <a:srgbClr val="172E40"/>
                </a:solidFill>
                <a:latin typeface="Arial"/>
                <a:ea typeface="Arial"/>
                <a:cs typeface="Arial"/>
              </a:defRPr>
            </a:lvl7pPr>
            <a:lvl8pPr>
              <a:defRPr sz="2100" b="0">
                <a:solidFill>
                  <a:srgbClr val="172E40"/>
                </a:solidFill>
                <a:latin typeface="Arial"/>
                <a:ea typeface="Arial"/>
                <a:cs typeface="Arial"/>
              </a:defRPr>
            </a:lvl8pPr>
            <a:lvl9pPr>
              <a:defRPr sz="2100" b="0">
                <a:solidFill>
                  <a:srgbClr val="172E40"/>
                </a:solidFill>
                <a:latin typeface="Arial"/>
                <a:ea typeface="Arial"/>
                <a:cs typeface="Arial"/>
              </a:defRPr>
            </a:lvl9pPr>
          </a:lstStyle>
          <a:p>
            <a:pPr>
              <a:defRPr sz="2100" b="0">
                <a:solidFill>
                  <a:srgbClr val="172E40"/>
                </a:solidFill>
                <a:latin typeface="Arial"/>
                <a:ea typeface="Arial"/>
                <a:cs typeface="Arial"/>
              </a:defRPr>
            </a:pPr>
            <a:r>
              <a:rPr sz="2100" b="0">
                <a:solidFill>
                  <a:srgbClr val="172E40"/>
                </a:solidFill>
                <a:latin typeface="Arial"/>
                <a:ea typeface="Arial"/>
                <a:cs typeface="Arial"/>
              </a:rPr>
              <a:t>Inspect the label and all three model scores.</a:t>
            </a:r>
          </a:p>
        </p:txBody>
      </p:sp>
      <p:sp>
        <p:nvSpPr>
          <p:cNvPr id="6" name="">
            <a:extLst>
              <a:ext uri="{FF2B5EF4-FFF2-40B4-BE49-F238E27FC236}">
                <ns2:creationId id="{61A5F703-5123-4FB2-AF1A-8E0A28D7EBCE}"/>
              </a:ext>
            </a:extLst>
          </p:cNvPr>
          <p:cNvSpPr>
            <a:spLocks noGrp="1"/>
          </p:cNvSpPr>
          <p:nvPr/>
        </p:nvSpPr>
        <p:spPr>
          <a:xfrm>
            <a:off x="5429250" y="3514725"/>
            <a:ext cx="6076950" cy="428625"/>
          </a:xfrm>
          <a:prstGeom prst="rect">
            <a:avLst/>
          </a:prstGeom>
          <a:noFill/>
          <a:ln w="0">
            <a:noFill/>
          </a:ln>
        </p:spPr>
        <p:txBody>
          <a:bodyPr lIns="0" tIns="0" rIns="0" bIns="0"/>
          <a:lstStyle>
            <a:defPPr>
              <a:defRPr sz="2175" b="1">
                <a:solidFill>
                  <a:srgbClr val="007C83"/>
                </a:solidFill>
                <a:latin typeface="Arial"/>
                <a:ea typeface="Arial"/>
                <a:cs typeface="Arial"/>
              </a:defRPr>
            </a:defPPr>
            <a:lvl1pPr>
              <a:defRPr sz="2175" b="1">
                <a:solidFill>
                  <a:srgbClr val="007C83"/>
                </a:solidFill>
                <a:latin typeface="Arial"/>
                <a:ea typeface="Arial"/>
                <a:cs typeface="Arial"/>
              </a:defRPr>
            </a:lvl1pPr>
            <a:lvl2pPr>
              <a:defRPr sz="2175" b="1">
                <a:solidFill>
                  <a:srgbClr val="007C83"/>
                </a:solidFill>
                <a:latin typeface="Arial"/>
                <a:ea typeface="Arial"/>
                <a:cs typeface="Arial"/>
              </a:defRPr>
            </a:lvl2pPr>
            <a:lvl3pPr>
              <a:defRPr sz="2175" b="1">
                <a:solidFill>
                  <a:srgbClr val="007C83"/>
                </a:solidFill>
                <a:latin typeface="Arial"/>
                <a:ea typeface="Arial"/>
                <a:cs typeface="Arial"/>
              </a:defRPr>
            </a:lvl3pPr>
            <a:lvl4pPr>
              <a:defRPr sz="2175" b="1">
                <a:solidFill>
                  <a:srgbClr val="007C83"/>
                </a:solidFill>
                <a:latin typeface="Arial"/>
                <a:ea typeface="Arial"/>
                <a:cs typeface="Arial"/>
              </a:defRPr>
            </a:lvl4pPr>
            <a:lvl5pPr>
              <a:defRPr sz="2175" b="1">
                <a:solidFill>
                  <a:srgbClr val="007C83"/>
                </a:solidFill>
                <a:latin typeface="Arial"/>
                <a:ea typeface="Arial"/>
                <a:cs typeface="Arial"/>
              </a:defRPr>
            </a:lvl5pPr>
            <a:lvl6pPr>
              <a:defRPr sz="2175" b="1">
                <a:solidFill>
                  <a:srgbClr val="007C83"/>
                </a:solidFill>
                <a:latin typeface="Arial"/>
                <a:ea typeface="Arial"/>
                <a:cs typeface="Arial"/>
              </a:defRPr>
            </a:lvl6pPr>
            <a:lvl7pPr>
              <a:defRPr sz="2175" b="1">
                <a:solidFill>
                  <a:srgbClr val="007C83"/>
                </a:solidFill>
                <a:latin typeface="Arial"/>
                <a:ea typeface="Arial"/>
                <a:cs typeface="Arial"/>
              </a:defRPr>
            </a:lvl7pPr>
            <a:lvl8pPr>
              <a:defRPr sz="2175" b="1">
                <a:solidFill>
                  <a:srgbClr val="007C83"/>
                </a:solidFill>
                <a:latin typeface="Arial"/>
                <a:ea typeface="Arial"/>
                <a:cs typeface="Arial"/>
              </a:defRPr>
            </a:lvl8pPr>
            <a:lvl9pPr>
              <a:defRPr sz="2175" b="1">
                <a:solidFill>
                  <a:srgbClr val="007C83"/>
                </a:solidFill>
                <a:latin typeface="Arial"/>
                <a:ea typeface="Arial"/>
                <a:cs typeface="Arial"/>
              </a:defRPr>
            </a:lvl9pPr>
          </a:lstStyle>
          <a:p>
            <a:pPr>
              <a:defRPr sz="2175" b="1">
                <a:solidFill>
                  <a:srgbClr val="007C83"/>
                </a:solidFill>
                <a:latin typeface="Arial"/>
                <a:ea typeface="Arial"/>
                <a:cs typeface="Arial"/>
              </a:defRPr>
            </a:pPr>
            <a:r>
              <a:rPr sz="2175" b="1">
                <a:solidFill>
                  <a:srgbClr val="007C83"/>
                </a:solidFill>
                <a:latin typeface="Arial"/>
                <a:ea typeface="Arial"/>
                <a:cs typeface="Arial"/>
              </a:rPr>
              <a:t>Batch CSV</a:t>
            </a:r>
          </a:p>
        </p:txBody>
      </p:sp>
      <p:sp>
        <p:nvSpPr>
          <p:cNvPr id="7" name="">
            <a:extLst>
              <a:ext uri="{FF2B5EF4-FFF2-40B4-BE49-F238E27FC236}">
                <ns2:creationId id="{6AA65490-C24E-4014-8D2D-D0138C729FC2}"/>
              </a:ext>
            </a:extLst>
          </p:cNvPr>
          <p:cNvSpPr>
            <a:spLocks noGrp="1"/>
          </p:cNvSpPr>
          <p:nvPr/>
        </p:nvSpPr>
        <p:spPr>
          <a:xfrm>
            <a:off x="5429250" y="3990975"/>
            <a:ext cx="6076950" cy="1428750"/>
          </a:xfrm>
          <a:prstGeom prst="rect">
            <a:avLst/>
          </a:prstGeom>
          <a:noFill/>
          <a:ln w="0">
            <a:noFill/>
          </a:ln>
        </p:spPr>
        <p:txBody>
          <a:bodyPr lIns="0" tIns="0" rIns="0" bIns="0"/>
          <a:lstStyle>
            <a:defPPr>
              <a:defRPr sz="2100" b="0">
                <a:solidFill>
                  <a:srgbClr val="172E40"/>
                </a:solidFill>
                <a:latin typeface="Arial"/>
                <a:ea typeface="Arial"/>
                <a:cs typeface="Arial"/>
              </a:defRPr>
            </a:defPPr>
            <a:lvl1pPr>
              <a:defRPr sz="2100" b="0">
                <a:solidFill>
                  <a:srgbClr val="172E40"/>
                </a:solidFill>
                <a:latin typeface="Arial"/>
                <a:ea typeface="Arial"/>
                <a:cs typeface="Arial"/>
              </a:defRPr>
            </a:lvl1pPr>
            <a:lvl2pPr>
              <a:defRPr sz="2100" b="0">
                <a:solidFill>
                  <a:srgbClr val="172E40"/>
                </a:solidFill>
                <a:latin typeface="Arial"/>
                <a:ea typeface="Arial"/>
                <a:cs typeface="Arial"/>
              </a:defRPr>
            </a:lvl2pPr>
            <a:lvl3pPr>
              <a:defRPr sz="2100" b="0">
                <a:solidFill>
                  <a:srgbClr val="172E40"/>
                </a:solidFill>
                <a:latin typeface="Arial"/>
                <a:ea typeface="Arial"/>
                <a:cs typeface="Arial"/>
              </a:defRPr>
            </a:lvl3pPr>
            <a:lvl4pPr>
              <a:defRPr sz="2100" b="0">
                <a:solidFill>
                  <a:srgbClr val="172E40"/>
                </a:solidFill>
                <a:latin typeface="Arial"/>
                <a:ea typeface="Arial"/>
                <a:cs typeface="Arial"/>
              </a:defRPr>
            </a:lvl4pPr>
            <a:lvl5pPr>
              <a:defRPr sz="2100" b="0">
                <a:solidFill>
                  <a:srgbClr val="172E40"/>
                </a:solidFill>
                <a:latin typeface="Arial"/>
                <a:ea typeface="Arial"/>
                <a:cs typeface="Arial"/>
              </a:defRPr>
            </a:lvl5pPr>
            <a:lvl6pPr>
              <a:defRPr sz="2100" b="0">
                <a:solidFill>
                  <a:srgbClr val="172E40"/>
                </a:solidFill>
                <a:latin typeface="Arial"/>
                <a:ea typeface="Arial"/>
                <a:cs typeface="Arial"/>
              </a:defRPr>
            </a:lvl6pPr>
            <a:lvl7pPr>
              <a:defRPr sz="2100" b="0">
                <a:solidFill>
                  <a:srgbClr val="172E40"/>
                </a:solidFill>
                <a:latin typeface="Arial"/>
                <a:ea typeface="Arial"/>
                <a:cs typeface="Arial"/>
              </a:defRPr>
            </a:lvl7pPr>
            <a:lvl8pPr>
              <a:defRPr sz="2100" b="0">
                <a:solidFill>
                  <a:srgbClr val="172E40"/>
                </a:solidFill>
                <a:latin typeface="Arial"/>
                <a:ea typeface="Arial"/>
                <a:cs typeface="Arial"/>
              </a:defRPr>
            </a:lvl8pPr>
            <a:lvl9pPr>
              <a:defRPr sz="2100" b="0">
                <a:solidFill>
                  <a:srgbClr val="172E40"/>
                </a:solidFill>
                <a:latin typeface="Arial"/>
                <a:ea typeface="Arial"/>
                <a:cs typeface="Arial"/>
              </a:defRPr>
            </a:lvl9pPr>
          </a:lstStyle>
          <a:p>
            <a:pPr>
              <a:defRPr sz="2100" b="0">
                <a:solidFill>
                  <a:srgbClr val="172E40"/>
                </a:solidFill>
                <a:latin typeface="Arial"/>
                <a:ea typeface="Arial"/>
                <a:cs typeface="Arial"/>
              </a:defRPr>
            </a:pPr>
            <a:r>
              <a:rPr sz="2100" b="0">
                <a:solidFill>
                  <a:srgbClr val="172E40"/>
                </a:solidFill>
                <a:latin typeface="Arial"/>
                <a:ea typeface="Arial"/>
                <a:cs typeface="Arial"/>
              </a:rPr>
              <a:t>Choose the text column and export each result with its row status.</a:t>
            </a:r>
          </a:p>
        </p:txBody>
      </p:sp>
      <p:sp>
        <p:nvSpPr>
          <p:cNvPr id="8" name="">
            <a:extLst>
              <a:ext uri="{FF2B5EF4-FFF2-40B4-BE49-F238E27FC236}">
                <ns2:creationId id="{9D81BB36-B095-4D9A-AE5B-D8F8DF3534C5}"/>
              </a:ext>
            </a:extLst>
          </p:cNvPr>
          <p:cNvSpPr>
            <a:spLocks noGrp="1"/>
          </p:cNvSpPr>
          <p:nvPr/>
        </p:nvSpPr>
        <p:spPr>
          <a:xfrm>
            <a:off x="685800" y="5991225"/>
            <a:ext cx="10820400" cy="381000"/>
          </a:xfrm>
          <a:prstGeom prst="rect">
            <a:avLst/>
          </a:prstGeom>
          <a:noFill/>
          <a:ln w="0">
            <a:noFill/>
          </a:ln>
        </p:spPr>
        <p:txBody>
          <a:bodyPr lIns="0" tIns="0" rIns="0" bIns="0"/>
          <a:lstStyle>
            <a:defPPr>
              <a:defRPr sz="1800" b="0">
                <a:solidFill>
                  <a:srgbClr val="516779"/>
                </a:solidFill>
                <a:latin typeface="Arial"/>
                <a:ea typeface="Arial"/>
                <a:cs typeface="Arial"/>
              </a:defRPr>
            </a:defPPr>
            <a:lvl1pPr>
              <a:defRPr sz="1800" b="0">
                <a:solidFill>
                  <a:srgbClr val="516779"/>
                </a:solidFill>
                <a:latin typeface="Arial"/>
                <a:ea typeface="Arial"/>
                <a:cs typeface="Arial"/>
              </a:defRPr>
            </a:lvl1pPr>
            <a:lvl2pPr>
              <a:defRPr sz="1800" b="0">
                <a:solidFill>
                  <a:srgbClr val="516779"/>
                </a:solidFill>
                <a:latin typeface="Arial"/>
                <a:ea typeface="Arial"/>
                <a:cs typeface="Arial"/>
              </a:defRPr>
            </a:lvl2pPr>
            <a:lvl3pPr>
              <a:defRPr sz="1800" b="0">
                <a:solidFill>
                  <a:srgbClr val="516779"/>
                </a:solidFill>
                <a:latin typeface="Arial"/>
                <a:ea typeface="Arial"/>
                <a:cs typeface="Arial"/>
              </a:defRPr>
            </a:lvl3pPr>
            <a:lvl4pPr>
              <a:defRPr sz="1800" b="0">
                <a:solidFill>
                  <a:srgbClr val="516779"/>
                </a:solidFill>
                <a:latin typeface="Arial"/>
                <a:ea typeface="Arial"/>
                <a:cs typeface="Arial"/>
              </a:defRPr>
            </a:lvl4pPr>
            <a:lvl5pPr>
              <a:defRPr sz="1800" b="0">
                <a:solidFill>
                  <a:srgbClr val="516779"/>
                </a:solidFill>
                <a:latin typeface="Arial"/>
                <a:ea typeface="Arial"/>
                <a:cs typeface="Arial"/>
              </a:defRPr>
            </a:lvl5pPr>
            <a:lvl6pPr>
              <a:defRPr sz="1800" b="0">
                <a:solidFill>
                  <a:srgbClr val="516779"/>
                </a:solidFill>
                <a:latin typeface="Arial"/>
                <a:ea typeface="Arial"/>
                <a:cs typeface="Arial"/>
              </a:defRPr>
            </a:lvl6pPr>
            <a:lvl7pPr>
              <a:defRPr sz="1800" b="0">
                <a:solidFill>
                  <a:srgbClr val="516779"/>
                </a:solidFill>
                <a:latin typeface="Arial"/>
                <a:ea typeface="Arial"/>
                <a:cs typeface="Arial"/>
              </a:defRPr>
            </a:lvl7pPr>
            <a:lvl8pPr>
              <a:defRPr sz="1800" b="0">
                <a:solidFill>
                  <a:srgbClr val="516779"/>
                </a:solidFill>
                <a:latin typeface="Arial"/>
                <a:ea typeface="Arial"/>
                <a:cs typeface="Arial"/>
              </a:defRPr>
            </a:lvl8pPr>
            <a:lvl9pPr>
              <a:defRPr sz="1800" b="0">
                <a:solidFill>
                  <a:srgbClr val="516779"/>
                </a:solidFill>
                <a:latin typeface="Arial"/>
                <a:ea typeface="Arial"/>
                <a:cs typeface="Arial"/>
              </a:defRPr>
            </a:lvl9pPr>
          </a:lstStyle>
          <a:p>
            <a:pPr>
              <a:defRPr sz="1800" b="0">
                <a:solidFill>
                  <a:srgbClr val="516779"/>
                </a:solidFill>
                <a:latin typeface="Arial"/>
                <a:ea typeface="Arial"/>
                <a:cs typeface="Arial"/>
              </a:defRPr>
            </a:pPr>
            <a:r>
              <a:rPr sz="1800" b="0">
                <a:solidFill>
                  <a:srgbClr val="516779"/>
                </a:solidFill>
                <a:latin typeface="Arial"/>
                <a:ea typeface="Arial"/>
                <a:cs typeface="Arial"/>
              </a:rPr>
              <a:t>CSV limits: 2 MB and 500 rows. Blank or invalid rows keep a visible status.</a:t>
            </a:r>
          </a:p>
        </p:txBody>
      </p:sp>
      <p:sp>
        <p:nvSpPr>
          <p:cNvPr id="10" name="">
            <a:extLst>
              <a:ext uri="{FF2B5EF4-FFF2-40B4-BE49-F238E27FC236}">
                <ns2:creationId id="{DF889820-3FAE-44C7-8700-F2E05AD309BE}"/>
              </a:ext>
            </a:extLst>
          </p:cNvPr>
          <p:cNvSpPr>
            <a:spLocks noGrp="1"/>
          </p:cNvSpPr>
          <p:nvPr/>
        </p:nvSpPr>
        <p:spPr>
          <a:xfrm>
            <a:off x="5429250" y="5029200"/>
            <a:ext cx="6076950" cy="361950"/>
          </a:xfrm>
          <a:prstGeom prst="rect">
            <a:avLst/>
          </a:prstGeom>
          <a:noFill/>
          <a:ln w="0">
            <a:noFill/>
          </a:ln>
        </p:spPr>
        <p:txBody>
          <a:bodyPr lIns="0" tIns="0" rIns="0" bIns="0"/>
          <a:lstStyle>
            <a:defPPr>
              <a:defRPr sz="1950" b="1">
                <a:solidFill>
                  <a:srgbClr val="007C83"/>
                </a:solidFill>
                <a:latin typeface="Arial"/>
                <a:ea typeface="Arial"/>
                <a:cs typeface="Arial"/>
              </a:defRPr>
            </a:defPPr>
            <a:lvl1pPr>
              <a:defRPr sz="1950" b="1">
                <a:solidFill>
                  <a:srgbClr val="007C83"/>
                </a:solidFill>
                <a:latin typeface="Arial"/>
                <a:ea typeface="Arial"/>
                <a:cs typeface="Arial"/>
              </a:defRPr>
            </a:lvl1pPr>
            <a:lvl2pPr>
              <a:defRPr sz="1950" b="1">
                <a:solidFill>
                  <a:srgbClr val="007C83"/>
                </a:solidFill>
                <a:latin typeface="Arial"/>
                <a:ea typeface="Arial"/>
                <a:cs typeface="Arial"/>
              </a:defRPr>
            </a:lvl2pPr>
            <a:lvl3pPr>
              <a:defRPr sz="1950" b="1">
                <a:solidFill>
                  <a:srgbClr val="007C83"/>
                </a:solidFill>
                <a:latin typeface="Arial"/>
                <a:ea typeface="Arial"/>
                <a:cs typeface="Arial"/>
              </a:defRPr>
            </a:lvl3pPr>
            <a:lvl4pPr>
              <a:defRPr sz="1950" b="1">
                <a:solidFill>
                  <a:srgbClr val="007C83"/>
                </a:solidFill>
                <a:latin typeface="Arial"/>
                <a:ea typeface="Arial"/>
                <a:cs typeface="Arial"/>
              </a:defRPr>
            </a:lvl4pPr>
            <a:lvl5pPr>
              <a:defRPr sz="1950" b="1">
                <a:solidFill>
                  <a:srgbClr val="007C83"/>
                </a:solidFill>
                <a:latin typeface="Arial"/>
                <a:ea typeface="Arial"/>
                <a:cs typeface="Arial"/>
              </a:defRPr>
            </a:lvl5pPr>
            <a:lvl6pPr>
              <a:defRPr sz="1950" b="1">
                <a:solidFill>
                  <a:srgbClr val="007C83"/>
                </a:solidFill>
                <a:latin typeface="Arial"/>
                <a:ea typeface="Arial"/>
                <a:cs typeface="Arial"/>
              </a:defRPr>
            </a:lvl6pPr>
            <a:lvl7pPr>
              <a:defRPr sz="1950" b="1">
                <a:solidFill>
                  <a:srgbClr val="007C83"/>
                </a:solidFill>
                <a:latin typeface="Arial"/>
                <a:ea typeface="Arial"/>
                <a:cs typeface="Arial"/>
              </a:defRPr>
            </a:lvl7pPr>
            <a:lvl8pPr>
              <a:defRPr sz="1950" b="1">
                <a:solidFill>
                  <a:srgbClr val="007C83"/>
                </a:solidFill>
                <a:latin typeface="Arial"/>
                <a:ea typeface="Arial"/>
                <a:cs typeface="Arial"/>
              </a:defRPr>
            </a:lvl8pPr>
            <a:lvl9pPr>
              <a:defRPr sz="1950" b="1">
                <a:solidFill>
                  <a:srgbClr val="007C83"/>
                </a:solidFill>
                <a:latin typeface="Arial"/>
                <a:ea typeface="Arial"/>
                <a:cs typeface="Arial"/>
              </a:defRPr>
            </a:lvl9pPr>
          </a:lstStyle>
          <a:p>
            <a:pPr>
              <a:defRPr sz="1950" b="1">
                <a:solidFill>
                  <a:srgbClr val="007C83"/>
                </a:solidFill>
                <a:latin typeface="Arial"/>
                <a:ea typeface="Arial"/>
                <a:cs typeface="Arial"/>
              </a:defRPr>
            </a:pPr>
            <a:r>
              <a:rPr sz="1950" b="1">
                <a:solidFill>
                  <a:srgbClr val="007C83"/>
                </a:solidFill>
                <a:latin typeface="Arial"/>
                <a:ea typeface="Arial"/>
                <a:cs typeface="Arial"/>
              </a:rPr>
              <a:t>Live app</a:t>
            </a:r>
          </a:p>
        </p:txBody>
      </p:sp>
      <p:sp>
        <p:nvSpPr>
          <p:cNvPr id="11" name="">
            <a:extLst>
              <a:ext uri="{FF2B5EF4-FFF2-40B4-BE49-F238E27FC236}">
                <ns2:creationId id="{91CB5954-A4D4-49F0-875C-E45F6207C7E7}"/>
              </a:ext>
            </a:extLst>
          </p:cNvPr>
          <p:cNvSpPr>
            <a:spLocks noGrp="1"/>
          </p:cNvSpPr>
          <p:nvPr/>
        </p:nvSpPr>
        <p:spPr>
          <a:xfrm>
            <a:off x="5429250" y="5410200"/>
            <a:ext cx="6076950" cy="419100"/>
          </a:xfrm>
          <a:prstGeom prst="rect">
            <a:avLst/>
          </a:prstGeom>
          <a:noFill/>
          <a:ln w="0">
            <a:noFill/>
          </a:ln>
        </p:spPr>
        <p:txBody>
          <a:bodyPr lIns="0" tIns="0" rIns="0" bIns="0"/>
          <a:lstStyle>
            <a:defPPr>
              <a:defRPr sz="1800" b="0">
                <a:solidFill>
                  <a:srgbClr val="172E40"/>
                </a:solidFill>
                <a:latin typeface="Arial"/>
                <a:ea typeface="Arial"/>
                <a:cs typeface="Arial"/>
              </a:defRPr>
            </a:defPPr>
            <a:lvl1pPr>
              <a:defRPr sz="1800" b="0">
                <a:solidFill>
                  <a:srgbClr val="172E40"/>
                </a:solidFill>
                <a:latin typeface="Arial"/>
                <a:ea typeface="Arial"/>
                <a:cs typeface="Arial"/>
              </a:defRPr>
            </a:lvl1pPr>
            <a:lvl2pPr>
              <a:defRPr sz="1800" b="0">
                <a:solidFill>
                  <a:srgbClr val="172E40"/>
                </a:solidFill>
                <a:latin typeface="Arial"/>
                <a:ea typeface="Arial"/>
                <a:cs typeface="Arial"/>
              </a:defRPr>
            </a:lvl2pPr>
            <a:lvl3pPr>
              <a:defRPr sz="1800" b="0">
                <a:solidFill>
                  <a:srgbClr val="172E40"/>
                </a:solidFill>
                <a:latin typeface="Arial"/>
                <a:ea typeface="Arial"/>
                <a:cs typeface="Arial"/>
              </a:defRPr>
            </a:lvl3pPr>
            <a:lvl4pPr>
              <a:defRPr sz="1800" b="0">
                <a:solidFill>
                  <a:srgbClr val="172E40"/>
                </a:solidFill>
                <a:latin typeface="Arial"/>
                <a:ea typeface="Arial"/>
                <a:cs typeface="Arial"/>
              </a:defRPr>
            </a:lvl4pPr>
            <a:lvl5pPr>
              <a:defRPr sz="1800" b="0">
                <a:solidFill>
                  <a:srgbClr val="172E40"/>
                </a:solidFill>
                <a:latin typeface="Arial"/>
                <a:ea typeface="Arial"/>
                <a:cs typeface="Arial"/>
              </a:defRPr>
            </a:lvl5pPr>
            <a:lvl6pPr>
              <a:defRPr sz="1800" b="0">
                <a:solidFill>
                  <a:srgbClr val="172E40"/>
                </a:solidFill>
                <a:latin typeface="Arial"/>
                <a:ea typeface="Arial"/>
                <a:cs typeface="Arial"/>
              </a:defRPr>
            </a:lvl6pPr>
            <a:lvl7pPr>
              <a:defRPr sz="1800" b="0">
                <a:solidFill>
                  <a:srgbClr val="172E40"/>
                </a:solidFill>
                <a:latin typeface="Arial"/>
                <a:ea typeface="Arial"/>
                <a:cs typeface="Arial"/>
              </a:defRPr>
            </a:lvl7pPr>
            <a:lvl8pPr>
              <a:defRPr sz="1800" b="0">
                <a:solidFill>
                  <a:srgbClr val="172E40"/>
                </a:solidFill>
                <a:latin typeface="Arial"/>
                <a:ea typeface="Arial"/>
                <a:cs typeface="Arial"/>
              </a:defRPr>
            </a:lvl8pPr>
            <a:lvl9pPr>
              <a:defRPr sz="1800" b="0">
                <a:solidFill>
                  <a:srgbClr val="172E40"/>
                </a:solidFill>
                <a:latin typeface="Arial"/>
                <a:ea typeface="Arial"/>
                <a:cs typeface="Arial"/>
              </a:defRPr>
            </a:lvl9pPr>
          </a:lstStyle>
          <a:p>
            <a:pPr>
              <a:defRPr sz="1800" b="0">
                <a:solidFill>
                  <a:srgbClr val="172E40"/>
                </a:solidFill>
                <a:latin typeface="Arial"/>
                <a:ea typeface="Arial"/>
                <a:cs typeface="Arial"/>
              </a:defRPr>
            </a:pPr>
            <a:r>
              <a:rPr sz="1800" b="0">
                <a:solidFill>
                  <a:srgbClr val="172E40"/>
                </a:solidFill>
                <a:latin typeface="Arial"/>
                <a:ea typeface="Arial"/>
                <a:cs typeface="Arial"/>
                <a:hlinkClick r:id="rId1"/>
              </a:rPr>
              <a:t>financial-sentiment-akshatog.streamlit.app</a:t>
            </a:r>
          </a:p>
        </p:txBody>
      </p:sp>
    </p:spTree>
    <p:extLst>
      <p:ext uri="{BB962C8B-B14F-4D97-AF65-F5344CB8AC3E}">
        <ns4:creationId val="16781093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613B5A2-6DC9-4386-BB62-3B88D06EBBAF}"/>
              </a:ext>
            </a:extLst>
          </p:cNvPr>
          <p:cNvSpPr>
            <a:spLocks xmlns:a="http://schemas.openxmlformats.org/drawingml/2006/main" noGrp="1"/>
          </p:cNvSpPr>
          <p:nvPr/>
        </p:nvSpPr>
        <p:spPr>
          <a:xfrm xmlns:a="http://schemas.openxmlformats.org/drawingml/2006/main">
            <a:off x="685800" y="5143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2E40"/>
                </a:solidFill>
                <a:latin typeface="Arial"/>
                <a:ea typeface="Arial"/>
                <a:cs typeface="Arial"/>
              </a:defRPr>
            </a:defPPr>
            <a:lvl1pPr>
              <a:defRPr sz="3225" b="1">
                <a:solidFill>
                  <a:srgbClr val="172E40"/>
                </a:solidFill>
                <a:latin typeface="Arial"/>
                <a:ea typeface="Arial"/>
                <a:cs typeface="Arial"/>
              </a:defRPr>
            </a:lvl1pPr>
            <a:lvl2pPr>
              <a:defRPr sz="3225" b="1">
                <a:solidFill>
                  <a:srgbClr val="172E40"/>
                </a:solidFill>
                <a:latin typeface="Arial"/>
                <a:ea typeface="Arial"/>
                <a:cs typeface="Arial"/>
              </a:defRPr>
            </a:lvl2pPr>
            <a:lvl3pPr>
              <a:defRPr sz="3225" b="1">
                <a:solidFill>
                  <a:srgbClr val="172E40"/>
                </a:solidFill>
                <a:latin typeface="Arial"/>
                <a:ea typeface="Arial"/>
                <a:cs typeface="Arial"/>
              </a:defRPr>
            </a:lvl3pPr>
            <a:lvl4pPr>
              <a:defRPr sz="3225" b="1">
                <a:solidFill>
                  <a:srgbClr val="172E40"/>
                </a:solidFill>
                <a:latin typeface="Arial"/>
                <a:ea typeface="Arial"/>
                <a:cs typeface="Arial"/>
              </a:defRPr>
            </a:lvl4pPr>
            <a:lvl5pPr>
              <a:defRPr sz="3225" b="1">
                <a:solidFill>
                  <a:srgbClr val="172E40"/>
                </a:solidFill>
                <a:latin typeface="Arial"/>
                <a:ea typeface="Arial"/>
                <a:cs typeface="Arial"/>
              </a:defRPr>
            </a:lvl5pPr>
            <a:lvl6pPr>
              <a:defRPr sz="3225" b="1">
                <a:solidFill>
                  <a:srgbClr val="172E40"/>
                </a:solidFill>
                <a:latin typeface="Arial"/>
                <a:ea typeface="Arial"/>
                <a:cs typeface="Arial"/>
              </a:defRPr>
            </a:lvl6pPr>
            <a:lvl7pPr>
              <a:defRPr sz="3225" b="1">
                <a:solidFill>
                  <a:srgbClr val="172E40"/>
                </a:solidFill>
                <a:latin typeface="Arial"/>
                <a:ea typeface="Arial"/>
                <a:cs typeface="Arial"/>
              </a:defRPr>
            </a:lvl7pPr>
            <a:lvl8pPr>
              <a:defRPr sz="3225" b="1">
                <a:solidFill>
                  <a:srgbClr val="172E40"/>
                </a:solidFill>
                <a:latin typeface="Arial"/>
                <a:ea typeface="Arial"/>
                <a:cs typeface="Arial"/>
              </a:defRPr>
            </a:lvl8pPr>
            <a:lvl9pPr>
              <a:defRPr sz="3225" b="1">
                <a:solidFill>
                  <a:srgbClr val="172E40"/>
                </a:solidFill>
                <a:latin typeface="Arial"/>
                <a:ea typeface="Arial"/>
                <a:cs typeface="Arial"/>
              </a:defRPr>
            </a:lvl9pPr>
          </a:lstStyle>
          <a:p xmlns:a="http://schemas.openxmlformats.org/drawingml/2006/main">
            <a:pPr>
              <a:defRPr sz="3225" b="1">
                <a:solidFill>
                  <a:srgbClr val="172E40"/>
                </a:solidFill>
                <a:latin typeface="Arial"/>
                <a:ea typeface="Arial"/>
                <a:cs typeface="Arial"/>
              </a:defRPr>
            </a:pPr>
            <a:r>
              <a:rPr sz="3225" b="1">
                <a:solidFill>
                  <a:srgbClr val="172E40"/>
                </a:solidFill>
                <a:latin typeface="Arial"/>
                <a:ea typeface="Arial"/>
                <a:cs typeface="Arial"/>
              </a:rPr>
              <a:t>Held-out baseline results</a:t>
            </a:r>
          </a:p>
        </p:txBody>
      </p:sp>
      <p:sp>
        <p:nvSpPr>
          <p:cNvPr id="2" name="">
            <a:extLst xmlns:a="http://schemas.openxmlformats.org/drawingml/2006/main">
              <a:ext uri="{FF2B5EF4-FFF2-40B4-BE49-F238E27FC236}">
                <a16:creationId xmlns:a16="http://schemas.microsoft.com/office/drawing/2014/main" id="{83C36409-E0D4-4F7A-B755-47F1E4269544}"/>
              </a:ext>
            </a:extLst>
          </p:cNvPr>
          <p:cNvSpPr>
            <a:spLocks xmlns:a="http://schemas.openxmlformats.org/drawingml/2006/main" noGrp="1"/>
          </p:cNvSpPr>
          <p:nvPr/>
        </p:nvSpPr>
        <p:spPr>
          <a:xfrm xmlns:a="http://schemas.openxmlformats.org/drawingml/2006/main">
            <a:off x="10972800" y="6315075"/>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16779"/>
                </a:solidFill>
                <a:latin typeface="Arial"/>
                <a:ea typeface="Arial"/>
                <a:cs typeface="Arial"/>
              </a:defRPr>
            </a:defPPr>
            <a:lvl1pPr>
              <a:defRPr sz="1275" b="0">
                <a:solidFill>
                  <a:srgbClr val="516779"/>
                </a:solidFill>
                <a:latin typeface="Arial"/>
                <a:ea typeface="Arial"/>
                <a:cs typeface="Arial"/>
              </a:defRPr>
            </a:lvl1pPr>
            <a:lvl2pPr>
              <a:defRPr sz="1275" b="0">
                <a:solidFill>
                  <a:srgbClr val="516779"/>
                </a:solidFill>
                <a:latin typeface="Arial"/>
                <a:ea typeface="Arial"/>
                <a:cs typeface="Arial"/>
              </a:defRPr>
            </a:lvl2pPr>
            <a:lvl3pPr>
              <a:defRPr sz="1275" b="0">
                <a:solidFill>
                  <a:srgbClr val="516779"/>
                </a:solidFill>
                <a:latin typeface="Arial"/>
                <a:ea typeface="Arial"/>
                <a:cs typeface="Arial"/>
              </a:defRPr>
            </a:lvl3pPr>
            <a:lvl4pPr>
              <a:defRPr sz="1275" b="0">
                <a:solidFill>
                  <a:srgbClr val="516779"/>
                </a:solidFill>
                <a:latin typeface="Arial"/>
                <a:ea typeface="Arial"/>
                <a:cs typeface="Arial"/>
              </a:defRPr>
            </a:lvl4pPr>
            <a:lvl5pPr>
              <a:defRPr sz="1275" b="0">
                <a:solidFill>
                  <a:srgbClr val="516779"/>
                </a:solidFill>
                <a:latin typeface="Arial"/>
                <a:ea typeface="Arial"/>
                <a:cs typeface="Arial"/>
              </a:defRPr>
            </a:lvl5pPr>
            <a:lvl6pPr>
              <a:defRPr sz="1275" b="0">
                <a:solidFill>
                  <a:srgbClr val="516779"/>
                </a:solidFill>
                <a:latin typeface="Arial"/>
                <a:ea typeface="Arial"/>
                <a:cs typeface="Arial"/>
              </a:defRPr>
            </a:lvl6pPr>
            <a:lvl7pPr>
              <a:defRPr sz="1275" b="0">
                <a:solidFill>
                  <a:srgbClr val="516779"/>
                </a:solidFill>
                <a:latin typeface="Arial"/>
                <a:ea typeface="Arial"/>
                <a:cs typeface="Arial"/>
              </a:defRPr>
            </a:lvl7pPr>
            <a:lvl8pPr>
              <a:defRPr sz="1275" b="0">
                <a:solidFill>
                  <a:srgbClr val="516779"/>
                </a:solidFill>
                <a:latin typeface="Arial"/>
                <a:ea typeface="Arial"/>
                <a:cs typeface="Arial"/>
              </a:defRPr>
            </a:lvl8pPr>
            <a:lvl9pPr>
              <a:defRPr sz="1275" b="0">
                <a:solidFill>
                  <a:srgbClr val="516779"/>
                </a:solidFill>
                <a:latin typeface="Arial"/>
                <a:ea typeface="Arial"/>
                <a:cs typeface="Arial"/>
              </a:defRPr>
            </a:lvl9pPr>
          </a:lstStyle>
          <a:p xmlns:a="http://schemas.openxmlformats.org/drawingml/2006/main">
            <a:pPr>
              <a:defRPr sz="1275" b="0">
                <a:solidFill>
                  <a:srgbClr val="516779"/>
                </a:solidFill>
                <a:latin typeface="Arial"/>
                <a:ea typeface="Arial"/>
                <a:cs typeface="Arial"/>
              </a:defRPr>
            </a:pPr>
            <a:r>
              <a:rPr sz="1275" b="0">
                <a:solidFill>
                  <a:srgbClr val="516779"/>
                </a:solidFill>
                <a:latin typeface="Arial"/>
                <a:ea typeface="Arial"/>
                <a:cs typeface="Arial"/>
              </a:rPr>
              <a:t>09</a:t>
            </a:r>
          </a:p>
        </p:txBody>
      </p:sp>
      <p:graphicFrame>
        <p:nvGraphicFramePr>
          <p:cNvPr id="3" name="Chart">
            <a:extLst xmlns:a="http://schemas.openxmlformats.org/drawingml/2006/main">
              <a:ext uri="{FF2B5EF4-FFF2-40B4-BE49-F238E27FC236}">
                <a16:creationId xmlns:a16="http://schemas.microsoft.com/office/drawing/2014/main" id="{E589D3C6-646E-4904-BB1E-AA809F243F34}"/>
              </a:ext>
            </a:extLst>
          </p:cNvPr>
          <p:cNvGraphicFramePr/>
          <p:nvPr/>
        </p:nvGraphicFramePr>
        <p:xfrm>
          <a:off xmlns:a="http://schemas.openxmlformats.org/drawingml/2006/main" x="685800" y="1581150"/>
          <a:ext xmlns:a="http://schemas.openxmlformats.org/drawingml/2006/main" cx="10629900" cy="3686175"/>
        </p:xfrm>
        <a:graphic xmlns:a="http://schemas.openxmlformats.org/drawingml/2006/main">
          <a:graphicData uri="http://schemas.openxmlformats.org/drawingml/2006/chart">
            <c:chart xmlns:r="http://schemas.openxmlformats.org/officeDocument/2006/relationships" xmlns:c="http://schemas.openxmlformats.org/drawingml/2006/chart" r:id="Rcb6218d3c6a44eb3"/>
          </a:graphicData>
        </a:graphic>
      </p:graphicFrame>
      <p:sp>
        <p:nvSpPr>
          <p:cNvPr id="4" name="">
            <a:extLst xmlns:a="http://schemas.openxmlformats.org/drawingml/2006/main">
              <a:ext uri="{FF2B5EF4-FFF2-40B4-BE49-F238E27FC236}">
                <a16:creationId xmlns:a16="http://schemas.microsoft.com/office/drawing/2014/main" id="{3049B845-9CD7-4275-A2A9-60DC956B9F38}"/>
              </a:ext>
            </a:extLst>
          </p:cNvPr>
          <p:cNvSpPr>
            <a:spLocks xmlns:a="http://schemas.openxmlformats.org/drawingml/2006/main" noGrp="1"/>
          </p:cNvSpPr>
          <p:nvPr/>
        </p:nvSpPr>
        <p:spPr>
          <a:xfrm xmlns:a="http://schemas.openxmlformats.org/drawingml/2006/main">
            <a:off x="685800" y="580072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16779"/>
                </a:solidFill>
                <a:latin typeface="Arial"/>
                <a:ea typeface="Arial"/>
                <a:cs typeface="Arial"/>
              </a:defRPr>
            </a:defPPr>
            <a:lvl1pPr>
              <a:defRPr sz="1950" b="0">
                <a:solidFill>
                  <a:srgbClr val="516779"/>
                </a:solidFill>
                <a:latin typeface="Arial"/>
                <a:ea typeface="Arial"/>
                <a:cs typeface="Arial"/>
              </a:defRPr>
            </a:lvl1pPr>
            <a:lvl2pPr>
              <a:defRPr sz="1950" b="0">
                <a:solidFill>
                  <a:srgbClr val="516779"/>
                </a:solidFill>
                <a:latin typeface="Arial"/>
                <a:ea typeface="Arial"/>
                <a:cs typeface="Arial"/>
              </a:defRPr>
            </a:lvl2pPr>
            <a:lvl3pPr>
              <a:defRPr sz="1950" b="0">
                <a:solidFill>
                  <a:srgbClr val="516779"/>
                </a:solidFill>
                <a:latin typeface="Arial"/>
                <a:ea typeface="Arial"/>
                <a:cs typeface="Arial"/>
              </a:defRPr>
            </a:lvl3pPr>
            <a:lvl4pPr>
              <a:defRPr sz="1950" b="0">
                <a:solidFill>
                  <a:srgbClr val="516779"/>
                </a:solidFill>
                <a:latin typeface="Arial"/>
                <a:ea typeface="Arial"/>
                <a:cs typeface="Arial"/>
              </a:defRPr>
            </a:lvl4pPr>
            <a:lvl5pPr>
              <a:defRPr sz="1950" b="0">
                <a:solidFill>
                  <a:srgbClr val="516779"/>
                </a:solidFill>
                <a:latin typeface="Arial"/>
                <a:ea typeface="Arial"/>
                <a:cs typeface="Arial"/>
              </a:defRPr>
            </a:lvl5pPr>
            <a:lvl6pPr>
              <a:defRPr sz="1950" b="0">
                <a:solidFill>
                  <a:srgbClr val="516779"/>
                </a:solidFill>
                <a:latin typeface="Arial"/>
                <a:ea typeface="Arial"/>
                <a:cs typeface="Arial"/>
              </a:defRPr>
            </a:lvl6pPr>
            <a:lvl7pPr>
              <a:defRPr sz="1950" b="0">
                <a:solidFill>
                  <a:srgbClr val="516779"/>
                </a:solidFill>
                <a:latin typeface="Arial"/>
                <a:ea typeface="Arial"/>
                <a:cs typeface="Arial"/>
              </a:defRPr>
            </a:lvl7pPr>
            <a:lvl8pPr>
              <a:defRPr sz="1950" b="0">
                <a:solidFill>
                  <a:srgbClr val="516779"/>
                </a:solidFill>
                <a:latin typeface="Arial"/>
                <a:ea typeface="Arial"/>
                <a:cs typeface="Arial"/>
              </a:defRPr>
            </a:lvl8pPr>
            <a:lvl9pPr>
              <a:defRPr sz="1950" b="0">
                <a:solidFill>
                  <a:srgbClr val="516779"/>
                </a:solidFill>
                <a:latin typeface="Arial"/>
                <a:ea typeface="Arial"/>
                <a:cs typeface="Arial"/>
              </a:defRPr>
            </a:lvl9pPr>
          </a:lstStyle>
          <a:p xmlns:a="http://schemas.openxmlformats.org/drawingml/2006/main">
            <a:pPr>
              <a:defRPr sz="1950" b="0">
                <a:solidFill>
                  <a:srgbClr val="516779"/>
                </a:solidFill>
                <a:latin typeface="Arial"/>
                <a:ea typeface="Arial"/>
                <a:cs typeface="Arial"/>
              </a:defRPr>
            </a:pPr>
            <a:r>
              <a:rPr sz="1950" b="0">
                <a:solidFill>
                  <a:srgbClr val="516779"/>
                </a:solidFill>
                <a:latin typeface="Arial"/>
                <a:ea typeface="Arial"/>
                <a:cs typeface="Arial"/>
              </a:rPr>
              <a:t>726 test examples. Baseline training and selection exclude these rows.</a:t>
            </a:r>
          </a:p>
        </p:txBody>
      </p:sp>
    </p:spTree>
    <p:extLst>
      <p:ext uri="{BB962C8B-B14F-4D97-AF65-F5344CB8AC3E}">
        <p14:creationId xmlns:p14="http://schemas.microsoft.com/office/powerpoint/2010/main" val="102322421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0CD9AC5-D851-4121-B6E3-1593E915388F}"/>
              </a:ext>
            </a:extLst>
          </p:cNvPr>
          <p:cNvSpPr>
            <a:spLocks xmlns:a="http://schemas.openxmlformats.org/drawingml/2006/main" noGrp="1"/>
          </p:cNvSpPr>
          <p:nvPr/>
        </p:nvSpPr>
        <p:spPr>
          <a:xfrm xmlns:a="http://schemas.openxmlformats.org/drawingml/2006/main">
            <a:off x="685800" y="5143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2E40"/>
                </a:solidFill>
                <a:latin typeface="Arial"/>
                <a:ea typeface="Arial"/>
                <a:cs typeface="Arial"/>
              </a:defRPr>
            </a:defPPr>
            <a:lvl1pPr>
              <a:defRPr sz="3225" b="1">
                <a:solidFill>
                  <a:srgbClr val="172E40"/>
                </a:solidFill>
                <a:latin typeface="Arial"/>
                <a:ea typeface="Arial"/>
                <a:cs typeface="Arial"/>
              </a:defRPr>
            </a:lvl1pPr>
            <a:lvl2pPr>
              <a:defRPr sz="3225" b="1">
                <a:solidFill>
                  <a:srgbClr val="172E40"/>
                </a:solidFill>
                <a:latin typeface="Arial"/>
                <a:ea typeface="Arial"/>
                <a:cs typeface="Arial"/>
              </a:defRPr>
            </a:lvl2pPr>
            <a:lvl3pPr>
              <a:defRPr sz="3225" b="1">
                <a:solidFill>
                  <a:srgbClr val="172E40"/>
                </a:solidFill>
                <a:latin typeface="Arial"/>
                <a:ea typeface="Arial"/>
                <a:cs typeface="Arial"/>
              </a:defRPr>
            </a:lvl3pPr>
            <a:lvl4pPr>
              <a:defRPr sz="3225" b="1">
                <a:solidFill>
                  <a:srgbClr val="172E40"/>
                </a:solidFill>
                <a:latin typeface="Arial"/>
                <a:ea typeface="Arial"/>
                <a:cs typeface="Arial"/>
              </a:defRPr>
            </a:lvl4pPr>
            <a:lvl5pPr>
              <a:defRPr sz="3225" b="1">
                <a:solidFill>
                  <a:srgbClr val="172E40"/>
                </a:solidFill>
                <a:latin typeface="Arial"/>
                <a:ea typeface="Arial"/>
                <a:cs typeface="Arial"/>
              </a:defRPr>
            </a:lvl5pPr>
            <a:lvl6pPr>
              <a:defRPr sz="3225" b="1">
                <a:solidFill>
                  <a:srgbClr val="172E40"/>
                </a:solidFill>
                <a:latin typeface="Arial"/>
                <a:ea typeface="Arial"/>
                <a:cs typeface="Arial"/>
              </a:defRPr>
            </a:lvl6pPr>
            <a:lvl7pPr>
              <a:defRPr sz="3225" b="1">
                <a:solidFill>
                  <a:srgbClr val="172E40"/>
                </a:solidFill>
                <a:latin typeface="Arial"/>
                <a:ea typeface="Arial"/>
                <a:cs typeface="Arial"/>
              </a:defRPr>
            </a:lvl7pPr>
            <a:lvl8pPr>
              <a:defRPr sz="3225" b="1">
                <a:solidFill>
                  <a:srgbClr val="172E40"/>
                </a:solidFill>
                <a:latin typeface="Arial"/>
                <a:ea typeface="Arial"/>
                <a:cs typeface="Arial"/>
              </a:defRPr>
            </a:lvl8pPr>
            <a:lvl9pPr>
              <a:defRPr sz="3225" b="1">
                <a:solidFill>
                  <a:srgbClr val="172E40"/>
                </a:solidFill>
                <a:latin typeface="Arial"/>
                <a:ea typeface="Arial"/>
                <a:cs typeface="Arial"/>
              </a:defRPr>
            </a:lvl9pPr>
          </a:lstStyle>
          <a:p xmlns:a="http://schemas.openxmlformats.org/drawingml/2006/main">
            <a:pPr>
              <a:defRPr sz="3225" b="1">
                <a:solidFill>
                  <a:srgbClr val="172E40"/>
                </a:solidFill>
                <a:latin typeface="Arial"/>
                <a:ea typeface="Arial"/>
                <a:cs typeface="Arial"/>
              </a:defRPr>
            </a:pPr>
            <a:r>
              <a:rPr sz="3225" b="1">
                <a:solidFill>
                  <a:srgbClr val="172E40"/>
                </a:solidFill>
                <a:latin typeface="Arial"/>
                <a:ea typeface="Arial"/>
                <a:cs typeface="Arial"/>
              </a:rPr>
              <a:t>Baseline errors by class</a:t>
            </a:r>
          </a:p>
        </p:txBody>
      </p:sp>
      <p:sp>
        <p:nvSpPr>
          <p:cNvPr id="2" name="">
            <a:extLst xmlns:a="http://schemas.openxmlformats.org/drawingml/2006/main">
              <a:ext uri="{FF2B5EF4-FFF2-40B4-BE49-F238E27FC236}">
                <a16:creationId xmlns:a16="http://schemas.microsoft.com/office/drawing/2014/main" id="{93ADD0CF-3449-475B-837B-5BB786564854}"/>
              </a:ext>
            </a:extLst>
          </p:cNvPr>
          <p:cNvSpPr>
            <a:spLocks xmlns:a="http://schemas.openxmlformats.org/drawingml/2006/main" noGrp="1"/>
          </p:cNvSpPr>
          <p:nvPr/>
        </p:nvSpPr>
        <p:spPr>
          <a:xfrm xmlns:a="http://schemas.openxmlformats.org/drawingml/2006/main">
            <a:off x="10972800" y="6315075"/>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16779"/>
                </a:solidFill>
                <a:latin typeface="Arial"/>
                <a:ea typeface="Arial"/>
                <a:cs typeface="Arial"/>
              </a:defRPr>
            </a:defPPr>
            <a:lvl1pPr>
              <a:defRPr sz="1275" b="0">
                <a:solidFill>
                  <a:srgbClr val="516779"/>
                </a:solidFill>
                <a:latin typeface="Arial"/>
                <a:ea typeface="Arial"/>
                <a:cs typeface="Arial"/>
              </a:defRPr>
            </a:lvl1pPr>
            <a:lvl2pPr>
              <a:defRPr sz="1275" b="0">
                <a:solidFill>
                  <a:srgbClr val="516779"/>
                </a:solidFill>
                <a:latin typeface="Arial"/>
                <a:ea typeface="Arial"/>
                <a:cs typeface="Arial"/>
              </a:defRPr>
            </a:lvl2pPr>
            <a:lvl3pPr>
              <a:defRPr sz="1275" b="0">
                <a:solidFill>
                  <a:srgbClr val="516779"/>
                </a:solidFill>
                <a:latin typeface="Arial"/>
                <a:ea typeface="Arial"/>
                <a:cs typeface="Arial"/>
              </a:defRPr>
            </a:lvl3pPr>
            <a:lvl4pPr>
              <a:defRPr sz="1275" b="0">
                <a:solidFill>
                  <a:srgbClr val="516779"/>
                </a:solidFill>
                <a:latin typeface="Arial"/>
                <a:ea typeface="Arial"/>
                <a:cs typeface="Arial"/>
              </a:defRPr>
            </a:lvl4pPr>
            <a:lvl5pPr>
              <a:defRPr sz="1275" b="0">
                <a:solidFill>
                  <a:srgbClr val="516779"/>
                </a:solidFill>
                <a:latin typeface="Arial"/>
                <a:ea typeface="Arial"/>
                <a:cs typeface="Arial"/>
              </a:defRPr>
            </a:lvl5pPr>
            <a:lvl6pPr>
              <a:defRPr sz="1275" b="0">
                <a:solidFill>
                  <a:srgbClr val="516779"/>
                </a:solidFill>
                <a:latin typeface="Arial"/>
                <a:ea typeface="Arial"/>
                <a:cs typeface="Arial"/>
              </a:defRPr>
            </a:lvl6pPr>
            <a:lvl7pPr>
              <a:defRPr sz="1275" b="0">
                <a:solidFill>
                  <a:srgbClr val="516779"/>
                </a:solidFill>
                <a:latin typeface="Arial"/>
                <a:ea typeface="Arial"/>
                <a:cs typeface="Arial"/>
              </a:defRPr>
            </a:lvl7pPr>
            <a:lvl8pPr>
              <a:defRPr sz="1275" b="0">
                <a:solidFill>
                  <a:srgbClr val="516779"/>
                </a:solidFill>
                <a:latin typeface="Arial"/>
                <a:ea typeface="Arial"/>
                <a:cs typeface="Arial"/>
              </a:defRPr>
            </a:lvl8pPr>
            <a:lvl9pPr>
              <a:defRPr sz="1275" b="0">
                <a:solidFill>
                  <a:srgbClr val="516779"/>
                </a:solidFill>
                <a:latin typeface="Arial"/>
                <a:ea typeface="Arial"/>
                <a:cs typeface="Arial"/>
              </a:defRPr>
            </a:lvl9pPr>
          </a:lstStyle>
          <a:p xmlns:a="http://schemas.openxmlformats.org/drawingml/2006/main">
            <a:pPr>
              <a:defRPr sz="1275" b="0">
                <a:solidFill>
                  <a:srgbClr val="516779"/>
                </a:solidFill>
                <a:latin typeface="Arial"/>
                <a:ea typeface="Arial"/>
                <a:cs typeface="Arial"/>
              </a:defRPr>
            </a:pPr>
            <a:r>
              <a:rPr sz="1275" b="0">
                <a:solidFill>
                  <a:srgbClr val="516779"/>
                </a:solidFill>
                <a:latin typeface="Arial"/>
                <a:ea typeface="Arial"/>
                <a:cs typeface="Arial"/>
              </a:rPr>
              <a:t>10</a:t>
            </a:r>
          </a:p>
        </p:txBody>
      </p:sp>
      <p:graphicFrame>
        <p:nvGraphicFramePr>
          <p:cNvPr id="3" name="">
            <a:extLst xmlns:a="http://schemas.openxmlformats.org/drawingml/2006/main">
              <a:ext uri="{FF2B5EF4-FFF2-40B4-BE49-F238E27FC236}">
                <a16:creationId xmlns:a16="http://schemas.microsoft.com/office/drawing/2014/main" id="{A849FC46-492D-453F-A4E4-AC731ED6E4A3}"/>
              </a:ext>
            </a:extLst>
          </p:cNvPr>
          <p:cNvGraphicFramePr/>
          <p:nvPr/>
        </p:nvGraphicFramePr>
        <p:xfrm>
          <a:off xmlns:a="http://schemas.openxmlformats.org/drawingml/2006/main" x="685800" y="1752600"/>
          <a:ext xmlns:a="http://schemas.openxmlformats.org/drawingml/2006/main" cx="8001000" cy="3124200"/>
        </p:xfrm>
        <a:graphic xmlns:a="http://schemas.openxmlformats.org/drawingml/2006/main">
          <a:graphicData uri="http://schemas.openxmlformats.org/drawingml/2006/table">
            <a:tbl>
              <a:tblPr firstRow="1" bandRow="0"/>
              <a:tblGrid>
                <a:gridCol w="2714625"/>
                <a:gridCol w="1762125"/>
                <a:gridCol w="1762125"/>
                <a:gridCol w="1762125"/>
              </a:tblGrid>
              <a:tr h="781050">
                <a:tc>
                  <a:txBody>
                    <a:bodyPr/>
                    <a:lstStyle/>
                    <a:p>
                      <a:r>
                        <a:rPr sz="1800" b="1">
                          <a:solidFill>
                            <a:srgbClr val="FFFFFF"/>
                          </a:solidFill>
                          <a:latin typeface="Arial"/>
                          <a:ea typeface="Arial"/>
                          <a:cs typeface="Arial"/>
                        </a:rPr>
                        <a:t>Actual / predicted</a:t>
                      </a:r>
                    </a:p>
                  </a:txBody>
                  <a:tcPr marL="152400" marR="152400" marT="123825" marB="123825" anchor="ctr">
                    <a:lnL w="9525">
                      <a:solidFill>
                        <a:srgbClr val="CEDBE1"/>
                      </a:solidFill>
                      <a:prstDash val="solid"/>
                    </a:lnL>
                    <a:lnR w="9525">
                      <a:solidFill>
                        <a:srgbClr val="CEDBE1"/>
                      </a:solidFill>
                      <a:prstDash val="solid"/>
                    </a:lnR>
                    <a:lnT w="9525">
                      <a:solidFill>
                        <a:srgbClr val="CEDBE1"/>
                      </a:solidFill>
                      <a:prstDash val="solid"/>
                    </a:lnT>
                    <a:lnB w="9525">
                      <a:solidFill>
                        <a:srgbClr val="CEDBE1"/>
                      </a:solidFill>
                      <a:prstDash val="solid"/>
                    </a:lnB>
                    <a:solidFill>
                      <a:srgbClr val="112B3D"/>
                    </a:solidFill>
                  </a:tcPr>
                </a:tc>
                <a:tc>
                  <a:txBody>
                    <a:bodyPr/>
                    <a:lstStyle/>
                    <a:p>
                      <a:r>
                        <a:rPr sz="1800" b="1">
                          <a:solidFill>
                            <a:srgbClr val="FFFFFF"/>
                          </a:solidFill>
                          <a:latin typeface="Arial"/>
                          <a:ea typeface="Arial"/>
                          <a:cs typeface="Arial"/>
                        </a:rPr>
                        <a:t>Negative</a:t>
                      </a:r>
                    </a:p>
                  </a:txBody>
                  <a:tcPr marL="152400" marR="152400" marT="123825" marB="123825" anchor="ctr">
                    <a:lnR w="9525">
                      <a:solidFill>
                        <a:srgbClr val="CEDBE1"/>
                      </a:solidFill>
                      <a:prstDash val="solid"/>
                    </a:lnR>
                    <a:lnT w="9525">
                      <a:solidFill>
                        <a:srgbClr val="CEDBE1"/>
                      </a:solidFill>
                      <a:prstDash val="solid"/>
                    </a:lnT>
                    <a:lnB w="9525">
                      <a:solidFill>
                        <a:srgbClr val="CEDBE1"/>
                      </a:solidFill>
                      <a:prstDash val="solid"/>
                    </a:lnB>
                    <a:solidFill>
                      <a:srgbClr val="112B3D"/>
                    </a:solidFill>
                  </a:tcPr>
                </a:tc>
                <a:tc>
                  <a:txBody>
                    <a:bodyPr/>
                    <a:lstStyle/>
                    <a:p>
                      <a:r>
                        <a:rPr sz="1800" b="1">
                          <a:solidFill>
                            <a:srgbClr val="FFFFFF"/>
                          </a:solidFill>
                          <a:latin typeface="Arial"/>
                          <a:ea typeface="Arial"/>
                          <a:cs typeface="Arial"/>
                        </a:rPr>
                        <a:t>Neutral</a:t>
                      </a:r>
                    </a:p>
                  </a:txBody>
                  <a:tcPr marL="152400" marR="152400" marT="123825" marB="123825" anchor="ctr">
                    <a:lnR w="9525">
                      <a:solidFill>
                        <a:srgbClr val="CEDBE1"/>
                      </a:solidFill>
                      <a:prstDash val="solid"/>
                    </a:lnR>
                    <a:lnT w="9525">
                      <a:solidFill>
                        <a:srgbClr val="CEDBE1"/>
                      </a:solidFill>
                      <a:prstDash val="solid"/>
                    </a:lnT>
                    <a:lnB w="9525">
                      <a:solidFill>
                        <a:srgbClr val="CEDBE1"/>
                      </a:solidFill>
                      <a:prstDash val="solid"/>
                    </a:lnB>
                    <a:solidFill>
                      <a:srgbClr val="112B3D"/>
                    </a:solidFill>
                  </a:tcPr>
                </a:tc>
                <a:tc>
                  <a:txBody>
                    <a:bodyPr/>
                    <a:lstStyle/>
                    <a:p>
                      <a:r>
                        <a:rPr sz="1800" b="1">
                          <a:solidFill>
                            <a:srgbClr val="FFFFFF"/>
                          </a:solidFill>
                          <a:latin typeface="Arial"/>
                          <a:ea typeface="Arial"/>
                          <a:cs typeface="Arial"/>
                        </a:rPr>
                        <a:t>Positive</a:t>
                      </a:r>
                    </a:p>
                  </a:txBody>
                  <a:tcPr marL="152400" marR="152400" marT="123825" marB="123825" anchor="ctr">
                    <a:lnR w="9525">
                      <a:solidFill>
                        <a:srgbClr val="CEDBE1"/>
                      </a:solidFill>
                      <a:prstDash val="solid"/>
                    </a:lnR>
                    <a:lnT w="9525">
                      <a:solidFill>
                        <a:srgbClr val="CEDBE1"/>
                      </a:solidFill>
                      <a:prstDash val="solid"/>
                    </a:lnT>
                    <a:lnB w="9525">
                      <a:solidFill>
                        <a:srgbClr val="CEDBE1"/>
                      </a:solidFill>
                      <a:prstDash val="solid"/>
                    </a:lnB>
                    <a:solidFill>
                      <a:srgbClr val="112B3D"/>
                    </a:solidFill>
                  </a:tcPr>
                </a:tc>
              </a:tr>
              <a:tr h="781050">
                <a:tc>
                  <a:txBody>
                    <a:bodyPr/>
                    <a:lstStyle/>
                    <a:p>
                      <a:r>
                        <a:rPr sz="1875" b="0">
                          <a:solidFill>
                            <a:srgbClr val="172E40"/>
                          </a:solidFill>
                          <a:latin typeface="Arial"/>
                          <a:ea typeface="Arial"/>
                          <a:cs typeface="Arial"/>
                        </a:rPr>
                        <a:t>Negative</a:t>
                      </a:r>
                    </a:p>
                  </a:txBody>
                  <a:tcPr marL="152400" marR="152400" marT="123825" marB="123825" anchor="ctr">
                    <a:lnL w="9525">
                      <a:solidFill>
                        <a:srgbClr val="CEDBE1"/>
                      </a:solidFill>
                      <a:prstDash val="solid"/>
                    </a:lnL>
                    <a:lnR w="9525">
                      <a:solidFill>
                        <a:srgbClr val="CEDBE1"/>
                      </a:solidFill>
                      <a:prstDash val="solid"/>
                    </a:lnR>
                    <a:lnB w="9525">
                      <a:solidFill>
                        <a:srgbClr val="CEDBE1"/>
                      </a:solidFill>
                      <a:prstDash val="solid"/>
                    </a:lnB>
                    <a:solidFill>
                      <a:srgbClr val="FFFFFF"/>
                    </a:solidFill>
                  </a:tcPr>
                </a:tc>
                <a:tc>
                  <a:txBody>
                    <a:bodyPr/>
                    <a:lstStyle/>
                    <a:p>
                      <a:r>
                        <a:rPr sz="1875" b="0">
                          <a:solidFill>
                            <a:srgbClr val="172E40"/>
                          </a:solidFill>
                          <a:latin typeface="Arial"/>
                          <a:ea typeface="Arial"/>
                          <a:cs typeface="Arial"/>
                        </a:rPr>
                        <a:t>62</a:t>
                      </a:r>
                    </a:p>
                  </a:txBody>
                  <a:tcPr marL="152400" marR="152400" marT="123825" marB="123825" anchor="ctr">
                    <a:lnR w="9525">
                      <a:solidFill>
                        <a:srgbClr val="CEDBE1"/>
                      </a:solidFill>
                      <a:prstDash val="solid"/>
                    </a:lnR>
                    <a:lnB w="9525">
                      <a:solidFill>
                        <a:srgbClr val="CEDBE1"/>
                      </a:solidFill>
                      <a:prstDash val="solid"/>
                    </a:lnB>
                    <a:solidFill>
                      <a:srgbClr val="FFFFFF"/>
                    </a:solidFill>
                  </a:tcPr>
                </a:tc>
                <a:tc>
                  <a:txBody>
                    <a:bodyPr/>
                    <a:lstStyle/>
                    <a:p>
                      <a:r>
                        <a:rPr sz="1875" b="0">
                          <a:solidFill>
                            <a:srgbClr val="172E40"/>
                          </a:solidFill>
                          <a:latin typeface="Arial"/>
                          <a:ea typeface="Arial"/>
                          <a:cs typeface="Arial"/>
                        </a:rPr>
                        <a:t>17</a:t>
                      </a:r>
                    </a:p>
                  </a:txBody>
                  <a:tcPr marL="152400" marR="152400" marT="123825" marB="123825" anchor="ctr">
                    <a:lnR w="9525">
                      <a:solidFill>
                        <a:srgbClr val="CEDBE1"/>
                      </a:solidFill>
                      <a:prstDash val="solid"/>
                    </a:lnR>
                    <a:lnB w="9525">
                      <a:solidFill>
                        <a:srgbClr val="CEDBE1"/>
                      </a:solidFill>
                      <a:prstDash val="solid"/>
                    </a:lnB>
                    <a:solidFill>
                      <a:srgbClr val="FFFFFF"/>
                    </a:solidFill>
                  </a:tcPr>
                </a:tc>
                <a:tc>
                  <a:txBody>
                    <a:bodyPr/>
                    <a:lstStyle/>
                    <a:p>
                      <a:r>
                        <a:rPr sz="1875" b="0">
                          <a:solidFill>
                            <a:srgbClr val="172E40"/>
                          </a:solidFill>
                          <a:latin typeface="Arial"/>
                          <a:ea typeface="Arial"/>
                          <a:cs typeface="Arial"/>
                        </a:rPr>
                        <a:t>12</a:t>
                      </a:r>
                    </a:p>
                  </a:txBody>
                  <a:tcPr marL="152400" marR="152400" marT="123825" marB="123825" anchor="ctr">
                    <a:lnR w="9525">
                      <a:solidFill>
                        <a:srgbClr val="CEDBE1"/>
                      </a:solidFill>
                      <a:prstDash val="solid"/>
                    </a:lnR>
                    <a:lnB w="9525">
                      <a:solidFill>
                        <a:srgbClr val="CEDBE1"/>
                      </a:solidFill>
                      <a:prstDash val="solid"/>
                    </a:lnB>
                    <a:solidFill>
                      <a:srgbClr val="FFFFFF"/>
                    </a:solidFill>
                  </a:tcPr>
                </a:tc>
              </a:tr>
              <a:tr h="781050">
                <a:tc>
                  <a:txBody>
                    <a:bodyPr/>
                    <a:lstStyle/>
                    <a:p>
                      <a:r>
                        <a:rPr sz="1875" b="0">
                          <a:solidFill>
                            <a:srgbClr val="172E40"/>
                          </a:solidFill>
                          <a:latin typeface="Arial"/>
                          <a:ea typeface="Arial"/>
                          <a:cs typeface="Arial"/>
                        </a:rPr>
                        <a:t>Neutral</a:t>
                      </a:r>
                    </a:p>
                  </a:txBody>
                  <a:tcPr marL="152400" marR="152400" marT="123825" marB="123825" anchor="ctr">
                    <a:lnL w="9525">
                      <a:solidFill>
                        <a:srgbClr val="CEDBE1"/>
                      </a:solidFill>
                      <a:prstDash val="solid"/>
                    </a:lnL>
                    <a:lnR w="9525">
                      <a:solidFill>
                        <a:srgbClr val="CEDBE1"/>
                      </a:solidFill>
                      <a:prstDash val="solid"/>
                    </a:lnR>
                    <a:lnB w="9525">
                      <a:solidFill>
                        <a:srgbClr val="CEDBE1"/>
                      </a:solidFill>
                      <a:prstDash val="solid"/>
                    </a:lnB>
                    <a:solidFill>
                      <a:srgbClr val="FFFFFF"/>
                    </a:solidFill>
                  </a:tcPr>
                </a:tc>
                <a:tc>
                  <a:txBody>
                    <a:bodyPr/>
                    <a:lstStyle/>
                    <a:p>
                      <a:r>
                        <a:rPr sz="1875" b="0">
                          <a:solidFill>
                            <a:srgbClr val="172E40"/>
                          </a:solidFill>
                          <a:latin typeface="Arial"/>
                          <a:ea typeface="Arial"/>
                          <a:cs typeface="Arial"/>
                        </a:rPr>
                        <a:t>14</a:t>
                      </a:r>
                    </a:p>
                  </a:txBody>
                  <a:tcPr marL="152400" marR="152400" marT="123825" marB="123825" anchor="ctr">
                    <a:lnR w="9525">
                      <a:solidFill>
                        <a:srgbClr val="CEDBE1"/>
                      </a:solidFill>
                      <a:prstDash val="solid"/>
                    </a:lnR>
                    <a:lnB w="9525">
                      <a:solidFill>
                        <a:srgbClr val="CEDBE1"/>
                      </a:solidFill>
                      <a:prstDash val="solid"/>
                    </a:lnB>
                    <a:solidFill>
                      <a:srgbClr val="FFFFFF"/>
                    </a:solidFill>
                  </a:tcPr>
                </a:tc>
                <a:tc>
                  <a:txBody>
                    <a:bodyPr/>
                    <a:lstStyle/>
                    <a:p>
                      <a:r>
                        <a:rPr sz="1875" b="0">
                          <a:solidFill>
                            <a:srgbClr val="172E40"/>
                          </a:solidFill>
                          <a:latin typeface="Arial"/>
                          <a:ea typeface="Arial"/>
                          <a:cs typeface="Arial"/>
                        </a:rPr>
                        <a:t>359</a:t>
                      </a:r>
                    </a:p>
                  </a:txBody>
                  <a:tcPr marL="152400" marR="152400" marT="123825" marB="123825" anchor="ctr">
                    <a:lnR w="9525">
                      <a:solidFill>
                        <a:srgbClr val="CEDBE1"/>
                      </a:solidFill>
                      <a:prstDash val="solid"/>
                    </a:lnR>
                    <a:lnB w="9525">
                      <a:solidFill>
                        <a:srgbClr val="CEDBE1"/>
                      </a:solidFill>
                      <a:prstDash val="solid"/>
                    </a:lnB>
                    <a:solidFill>
                      <a:srgbClr val="FFFFFF"/>
                    </a:solidFill>
                  </a:tcPr>
                </a:tc>
                <a:tc>
                  <a:txBody>
                    <a:bodyPr/>
                    <a:lstStyle/>
                    <a:p>
                      <a:r>
                        <a:rPr sz="1875" b="0">
                          <a:solidFill>
                            <a:srgbClr val="172E40"/>
                          </a:solidFill>
                          <a:latin typeface="Arial"/>
                          <a:ea typeface="Arial"/>
                          <a:cs typeface="Arial"/>
                        </a:rPr>
                        <a:t>58</a:t>
                      </a:r>
                    </a:p>
                  </a:txBody>
                  <a:tcPr marL="152400" marR="152400" marT="123825" marB="123825" anchor="ctr">
                    <a:lnR w="9525">
                      <a:solidFill>
                        <a:srgbClr val="CEDBE1"/>
                      </a:solidFill>
                      <a:prstDash val="solid"/>
                    </a:lnR>
                    <a:lnB w="9525">
                      <a:solidFill>
                        <a:srgbClr val="CEDBE1"/>
                      </a:solidFill>
                      <a:prstDash val="solid"/>
                    </a:lnB>
                    <a:solidFill>
                      <a:srgbClr val="FFFFFF"/>
                    </a:solidFill>
                  </a:tcPr>
                </a:tc>
              </a:tr>
              <a:tr h="781050">
                <a:tc>
                  <a:txBody>
                    <a:bodyPr/>
                    <a:lstStyle/>
                    <a:p>
                      <a:r>
                        <a:rPr sz="1875" b="0">
                          <a:solidFill>
                            <a:srgbClr val="172E40"/>
                          </a:solidFill>
                          <a:latin typeface="Arial"/>
                          <a:ea typeface="Arial"/>
                          <a:cs typeface="Arial"/>
                        </a:rPr>
                        <a:t>Positive</a:t>
                      </a:r>
                    </a:p>
                  </a:txBody>
                  <a:tcPr marL="152400" marR="152400" marT="123825" marB="123825" anchor="ctr">
                    <a:lnL w="9525">
                      <a:solidFill>
                        <a:srgbClr val="CEDBE1"/>
                      </a:solidFill>
                      <a:prstDash val="solid"/>
                    </a:lnL>
                    <a:lnR w="9525">
                      <a:solidFill>
                        <a:srgbClr val="CEDBE1"/>
                      </a:solidFill>
                      <a:prstDash val="solid"/>
                    </a:lnR>
                    <a:lnB w="9525">
                      <a:solidFill>
                        <a:srgbClr val="CEDBE1"/>
                      </a:solidFill>
                      <a:prstDash val="solid"/>
                    </a:lnB>
                    <a:solidFill>
                      <a:srgbClr val="FFFFFF"/>
                    </a:solidFill>
                  </a:tcPr>
                </a:tc>
                <a:tc>
                  <a:txBody>
                    <a:bodyPr/>
                    <a:lstStyle/>
                    <a:p>
                      <a:r>
                        <a:rPr sz="1875" b="0">
                          <a:solidFill>
                            <a:srgbClr val="172E40"/>
                          </a:solidFill>
                          <a:latin typeface="Arial"/>
                          <a:ea typeface="Arial"/>
                          <a:cs typeface="Arial"/>
                        </a:rPr>
                        <a:t>12</a:t>
                      </a:r>
                    </a:p>
                  </a:txBody>
                  <a:tcPr marL="152400" marR="152400" marT="123825" marB="123825" anchor="ctr">
                    <a:lnR w="9525">
                      <a:solidFill>
                        <a:srgbClr val="CEDBE1"/>
                      </a:solidFill>
                      <a:prstDash val="solid"/>
                    </a:lnR>
                    <a:lnB w="9525">
                      <a:solidFill>
                        <a:srgbClr val="CEDBE1"/>
                      </a:solidFill>
                      <a:prstDash val="solid"/>
                    </a:lnB>
                    <a:solidFill>
                      <a:srgbClr val="FFFFFF"/>
                    </a:solidFill>
                  </a:tcPr>
                </a:tc>
                <a:tc>
                  <a:txBody>
                    <a:bodyPr/>
                    <a:lstStyle/>
                    <a:p>
                      <a:r>
                        <a:rPr sz="1875" b="0">
                          <a:solidFill>
                            <a:srgbClr val="172E40"/>
                          </a:solidFill>
                          <a:latin typeface="Arial"/>
                          <a:ea typeface="Arial"/>
                          <a:cs typeface="Arial"/>
                        </a:rPr>
                        <a:t>63</a:t>
                      </a:r>
                    </a:p>
                  </a:txBody>
                  <a:tcPr marL="152400" marR="152400" marT="123825" marB="123825" anchor="ctr">
                    <a:lnR w="9525">
                      <a:solidFill>
                        <a:srgbClr val="CEDBE1"/>
                      </a:solidFill>
                      <a:prstDash val="solid"/>
                    </a:lnR>
                    <a:lnB w="9525">
                      <a:solidFill>
                        <a:srgbClr val="CEDBE1"/>
                      </a:solidFill>
                      <a:prstDash val="solid"/>
                    </a:lnB>
                    <a:solidFill>
                      <a:srgbClr val="FFFFFF"/>
                    </a:solidFill>
                  </a:tcPr>
                </a:tc>
                <a:tc>
                  <a:txBody>
                    <a:bodyPr/>
                    <a:lstStyle/>
                    <a:p>
                      <a:r>
                        <a:rPr sz="1875" b="0">
                          <a:solidFill>
                            <a:srgbClr val="172E40"/>
                          </a:solidFill>
                          <a:latin typeface="Arial"/>
                          <a:ea typeface="Arial"/>
                          <a:cs typeface="Arial"/>
                        </a:rPr>
                        <a:t>129</a:t>
                      </a:r>
                    </a:p>
                  </a:txBody>
                  <a:tcPr marL="152400" marR="152400" marT="123825" marB="123825" anchor="ctr">
                    <a:lnR w="9525">
                      <a:solidFill>
                        <a:srgbClr val="CEDBE1"/>
                      </a:solidFill>
                      <a:prstDash val="solid"/>
                    </a:lnR>
                    <a:lnB w="9525">
                      <a:solidFill>
                        <a:srgbClr val="CEDBE1"/>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4F00A12-B123-468E-8575-43E4985DC217}"/>
              </a:ext>
            </a:extLst>
          </p:cNvPr>
          <p:cNvSpPr>
            <a:spLocks xmlns:a="http://schemas.openxmlformats.org/drawingml/2006/main" noGrp="1"/>
          </p:cNvSpPr>
          <p:nvPr/>
        </p:nvSpPr>
        <p:spPr>
          <a:xfrm xmlns:a="http://schemas.openxmlformats.org/drawingml/2006/main">
            <a:off x="9134475" y="1819275"/>
            <a:ext cx="2333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C83"/>
                </a:solidFill>
                <a:latin typeface="Arial"/>
                <a:ea typeface="Arial"/>
                <a:cs typeface="Arial"/>
              </a:defRPr>
            </a:defPPr>
            <a:lvl1pPr>
              <a:defRPr sz="2175" b="1">
                <a:solidFill>
                  <a:srgbClr val="007C83"/>
                </a:solidFill>
                <a:latin typeface="Arial"/>
                <a:ea typeface="Arial"/>
                <a:cs typeface="Arial"/>
              </a:defRPr>
            </a:lvl1pPr>
            <a:lvl2pPr>
              <a:defRPr sz="2175" b="1">
                <a:solidFill>
                  <a:srgbClr val="007C83"/>
                </a:solidFill>
                <a:latin typeface="Arial"/>
                <a:ea typeface="Arial"/>
                <a:cs typeface="Arial"/>
              </a:defRPr>
            </a:lvl2pPr>
            <a:lvl3pPr>
              <a:defRPr sz="2175" b="1">
                <a:solidFill>
                  <a:srgbClr val="007C83"/>
                </a:solidFill>
                <a:latin typeface="Arial"/>
                <a:ea typeface="Arial"/>
                <a:cs typeface="Arial"/>
              </a:defRPr>
            </a:lvl3pPr>
            <a:lvl4pPr>
              <a:defRPr sz="2175" b="1">
                <a:solidFill>
                  <a:srgbClr val="007C83"/>
                </a:solidFill>
                <a:latin typeface="Arial"/>
                <a:ea typeface="Arial"/>
                <a:cs typeface="Arial"/>
              </a:defRPr>
            </a:lvl4pPr>
            <a:lvl5pPr>
              <a:defRPr sz="2175" b="1">
                <a:solidFill>
                  <a:srgbClr val="007C83"/>
                </a:solidFill>
                <a:latin typeface="Arial"/>
                <a:ea typeface="Arial"/>
                <a:cs typeface="Arial"/>
              </a:defRPr>
            </a:lvl5pPr>
            <a:lvl6pPr>
              <a:defRPr sz="2175" b="1">
                <a:solidFill>
                  <a:srgbClr val="007C83"/>
                </a:solidFill>
                <a:latin typeface="Arial"/>
                <a:ea typeface="Arial"/>
                <a:cs typeface="Arial"/>
              </a:defRPr>
            </a:lvl6pPr>
            <a:lvl7pPr>
              <a:defRPr sz="2175" b="1">
                <a:solidFill>
                  <a:srgbClr val="007C83"/>
                </a:solidFill>
                <a:latin typeface="Arial"/>
                <a:ea typeface="Arial"/>
                <a:cs typeface="Arial"/>
              </a:defRPr>
            </a:lvl7pPr>
            <a:lvl8pPr>
              <a:defRPr sz="2175" b="1">
                <a:solidFill>
                  <a:srgbClr val="007C83"/>
                </a:solidFill>
                <a:latin typeface="Arial"/>
                <a:ea typeface="Arial"/>
                <a:cs typeface="Arial"/>
              </a:defRPr>
            </a:lvl8pPr>
            <a:lvl9pPr>
              <a:defRPr sz="2175" b="1">
                <a:solidFill>
                  <a:srgbClr val="007C83"/>
                </a:solidFill>
                <a:latin typeface="Arial"/>
                <a:ea typeface="Arial"/>
                <a:cs typeface="Arial"/>
              </a:defRPr>
            </a:lvl9pPr>
          </a:lstStyle>
          <a:p xmlns:a="http://schemas.openxmlformats.org/drawingml/2006/main">
            <a:pPr>
              <a:defRPr sz="2175" b="1">
                <a:solidFill>
                  <a:srgbClr val="007C83"/>
                </a:solidFill>
                <a:latin typeface="Arial"/>
                <a:ea typeface="Arial"/>
                <a:cs typeface="Arial"/>
              </a:defRPr>
            </a:pPr>
            <a:r>
              <a:rPr sz="2175" b="1">
                <a:solidFill>
                  <a:srgbClr val="007C83"/>
                </a:solidFill>
                <a:latin typeface="Arial"/>
                <a:ea typeface="Arial"/>
                <a:cs typeface="Arial"/>
              </a:rPr>
              <a:t>Class F1</a:t>
            </a:r>
          </a:p>
        </p:txBody>
      </p:sp>
      <p:sp>
        <p:nvSpPr>
          <p:cNvPr id="5" name="">
            <a:extLst xmlns:a="http://schemas.openxmlformats.org/drawingml/2006/main">
              <a:ext uri="{FF2B5EF4-FFF2-40B4-BE49-F238E27FC236}">
                <a16:creationId xmlns:a16="http://schemas.microsoft.com/office/drawing/2014/main" id="{7D7B2082-4CEC-4D44-A3DC-B7A77F2273A8}"/>
              </a:ext>
            </a:extLst>
          </p:cNvPr>
          <p:cNvSpPr>
            <a:spLocks xmlns:a="http://schemas.openxmlformats.org/drawingml/2006/main" noGrp="1"/>
          </p:cNvSpPr>
          <p:nvPr/>
        </p:nvSpPr>
        <p:spPr>
          <a:xfrm xmlns:a="http://schemas.openxmlformats.org/drawingml/2006/main">
            <a:off x="9134475" y="2495550"/>
            <a:ext cx="2333625" cy="2276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72E40"/>
                </a:solidFill>
                <a:latin typeface="Arial"/>
                <a:ea typeface="Arial"/>
                <a:cs typeface="Arial"/>
              </a:defRPr>
            </a:defPPr>
            <a:lvl1pPr>
              <a:defRPr sz="2025" b="0">
                <a:solidFill>
                  <a:srgbClr val="172E40"/>
                </a:solidFill>
                <a:latin typeface="Arial"/>
                <a:ea typeface="Arial"/>
                <a:cs typeface="Arial"/>
              </a:defRPr>
            </a:lvl1pPr>
            <a:lvl2pPr>
              <a:defRPr sz="2025" b="0">
                <a:solidFill>
                  <a:srgbClr val="172E40"/>
                </a:solidFill>
                <a:latin typeface="Arial"/>
                <a:ea typeface="Arial"/>
                <a:cs typeface="Arial"/>
              </a:defRPr>
            </a:lvl2pPr>
            <a:lvl3pPr>
              <a:defRPr sz="2025" b="0">
                <a:solidFill>
                  <a:srgbClr val="172E40"/>
                </a:solidFill>
                <a:latin typeface="Arial"/>
                <a:ea typeface="Arial"/>
                <a:cs typeface="Arial"/>
              </a:defRPr>
            </a:lvl3pPr>
            <a:lvl4pPr>
              <a:defRPr sz="2025" b="0">
                <a:solidFill>
                  <a:srgbClr val="172E40"/>
                </a:solidFill>
                <a:latin typeface="Arial"/>
                <a:ea typeface="Arial"/>
                <a:cs typeface="Arial"/>
              </a:defRPr>
            </a:lvl4pPr>
            <a:lvl5pPr>
              <a:defRPr sz="2025" b="0">
                <a:solidFill>
                  <a:srgbClr val="172E40"/>
                </a:solidFill>
                <a:latin typeface="Arial"/>
                <a:ea typeface="Arial"/>
                <a:cs typeface="Arial"/>
              </a:defRPr>
            </a:lvl5pPr>
            <a:lvl6pPr>
              <a:defRPr sz="2025" b="0">
                <a:solidFill>
                  <a:srgbClr val="172E40"/>
                </a:solidFill>
                <a:latin typeface="Arial"/>
                <a:ea typeface="Arial"/>
                <a:cs typeface="Arial"/>
              </a:defRPr>
            </a:lvl6pPr>
            <a:lvl7pPr>
              <a:defRPr sz="2025" b="0">
                <a:solidFill>
                  <a:srgbClr val="172E40"/>
                </a:solidFill>
                <a:latin typeface="Arial"/>
                <a:ea typeface="Arial"/>
                <a:cs typeface="Arial"/>
              </a:defRPr>
            </a:lvl7pPr>
            <a:lvl8pPr>
              <a:defRPr sz="2025" b="0">
                <a:solidFill>
                  <a:srgbClr val="172E40"/>
                </a:solidFill>
                <a:latin typeface="Arial"/>
                <a:ea typeface="Arial"/>
                <a:cs typeface="Arial"/>
              </a:defRPr>
            </a:lvl8pPr>
            <a:lvl9pPr>
              <a:defRPr sz="2025" b="0">
                <a:solidFill>
                  <a:srgbClr val="172E40"/>
                </a:solidFill>
                <a:latin typeface="Arial"/>
                <a:ea typeface="Arial"/>
                <a:cs typeface="Arial"/>
              </a:defRPr>
            </a:lvl9pPr>
          </a:lstStyle>
          <a:p xmlns:a="http://schemas.openxmlformats.org/drawingml/2006/main">
            <a:pPr>
              <a:defRPr sz="2025" b="0">
                <a:solidFill>
                  <a:srgbClr val="172E40"/>
                </a:solidFill>
                <a:latin typeface="Arial"/>
                <a:ea typeface="Arial"/>
                <a:cs typeface="Arial"/>
              </a:defRPr>
            </a:pPr>
            <a:r>
              <a:rPr sz="2025" b="0">
                <a:solidFill>
                  <a:srgbClr val="172E40"/>
                </a:solidFill>
                <a:latin typeface="Arial"/>
                <a:ea typeface="Arial"/>
                <a:cs typeface="Arial"/>
              </a:rPr>
              <a:t>Negative  69.3%</a:t>
            </a:r>
          </a:p>
          <a:p xmlns:a="http://schemas.openxmlformats.org/drawingml/2006/main">
            <a:r>
              <a:t/>
            </a:r>
          </a:p>
          <a:p xmlns:a="http://schemas.openxmlformats.org/drawingml/2006/main">
            <a:pPr>
              <a:defRPr sz="2025" b="0">
                <a:solidFill>
                  <a:srgbClr val="172E40"/>
                </a:solidFill>
                <a:latin typeface="Arial"/>
                <a:ea typeface="Arial"/>
                <a:cs typeface="Arial"/>
              </a:defRPr>
            </a:pPr>
            <a:r>
              <a:rPr sz="2025" b="0">
                <a:solidFill>
                  <a:srgbClr val="172E40"/>
                </a:solidFill>
                <a:latin typeface="Arial"/>
                <a:ea typeface="Arial"/>
                <a:cs typeface="Arial"/>
              </a:rPr>
              <a:t>Neutral  82.5%</a:t>
            </a:r>
          </a:p>
          <a:p xmlns:a="http://schemas.openxmlformats.org/drawingml/2006/main">
            <a:r>
              <a:t/>
            </a:r>
          </a:p>
          <a:p xmlns:a="http://schemas.openxmlformats.org/drawingml/2006/main">
            <a:pPr>
              <a:defRPr sz="2025" b="0">
                <a:solidFill>
                  <a:srgbClr val="172E40"/>
                </a:solidFill>
                <a:latin typeface="Arial"/>
                <a:ea typeface="Arial"/>
                <a:cs typeface="Arial"/>
              </a:defRPr>
            </a:pPr>
            <a:r>
              <a:rPr sz="2025" b="0">
                <a:solidFill>
                  <a:srgbClr val="172E40"/>
                </a:solidFill>
                <a:latin typeface="Arial"/>
                <a:ea typeface="Arial"/>
                <a:cs typeface="Arial"/>
              </a:rPr>
              <a:t>Positive  64.0%</a:t>
            </a:r>
          </a:p>
        </p:txBody>
      </p:sp>
      <p:sp>
        <p:nvSpPr>
          <p:cNvPr id="6" name="">
            <a:extLst xmlns:a="http://schemas.openxmlformats.org/drawingml/2006/main">
              <a:ext uri="{FF2B5EF4-FFF2-40B4-BE49-F238E27FC236}">
                <a16:creationId xmlns:a16="http://schemas.microsoft.com/office/drawing/2014/main" id="{1A1194E7-B5AE-4C16-AF87-809E9DDD37CE}"/>
              </a:ext>
            </a:extLst>
          </p:cNvPr>
          <p:cNvSpPr>
            <a:spLocks xmlns:a="http://schemas.openxmlformats.org/drawingml/2006/main" noGrp="1"/>
          </p:cNvSpPr>
          <p:nvPr/>
        </p:nvSpPr>
        <p:spPr>
          <a:xfrm xmlns:a="http://schemas.openxmlformats.org/drawingml/2006/main">
            <a:off x="685800" y="551497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16779"/>
                </a:solidFill>
                <a:latin typeface="Arial"/>
                <a:ea typeface="Arial"/>
                <a:cs typeface="Arial"/>
              </a:defRPr>
            </a:defPPr>
            <a:lvl1pPr>
              <a:defRPr sz="2025" b="0">
                <a:solidFill>
                  <a:srgbClr val="516779"/>
                </a:solidFill>
                <a:latin typeface="Arial"/>
                <a:ea typeface="Arial"/>
                <a:cs typeface="Arial"/>
              </a:defRPr>
            </a:lvl1pPr>
            <a:lvl2pPr>
              <a:defRPr sz="2025" b="0">
                <a:solidFill>
                  <a:srgbClr val="516779"/>
                </a:solidFill>
                <a:latin typeface="Arial"/>
                <a:ea typeface="Arial"/>
                <a:cs typeface="Arial"/>
              </a:defRPr>
            </a:lvl2pPr>
            <a:lvl3pPr>
              <a:defRPr sz="2025" b="0">
                <a:solidFill>
                  <a:srgbClr val="516779"/>
                </a:solidFill>
                <a:latin typeface="Arial"/>
                <a:ea typeface="Arial"/>
                <a:cs typeface="Arial"/>
              </a:defRPr>
            </a:lvl3pPr>
            <a:lvl4pPr>
              <a:defRPr sz="2025" b="0">
                <a:solidFill>
                  <a:srgbClr val="516779"/>
                </a:solidFill>
                <a:latin typeface="Arial"/>
                <a:ea typeface="Arial"/>
                <a:cs typeface="Arial"/>
              </a:defRPr>
            </a:lvl4pPr>
            <a:lvl5pPr>
              <a:defRPr sz="2025" b="0">
                <a:solidFill>
                  <a:srgbClr val="516779"/>
                </a:solidFill>
                <a:latin typeface="Arial"/>
                <a:ea typeface="Arial"/>
                <a:cs typeface="Arial"/>
              </a:defRPr>
            </a:lvl5pPr>
            <a:lvl6pPr>
              <a:defRPr sz="2025" b="0">
                <a:solidFill>
                  <a:srgbClr val="516779"/>
                </a:solidFill>
                <a:latin typeface="Arial"/>
                <a:ea typeface="Arial"/>
                <a:cs typeface="Arial"/>
              </a:defRPr>
            </a:lvl6pPr>
            <a:lvl7pPr>
              <a:defRPr sz="2025" b="0">
                <a:solidFill>
                  <a:srgbClr val="516779"/>
                </a:solidFill>
                <a:latin typeface="Arial"/>
                <a:ea typeface="Arial"/>
                <a:cs typeface="Arial"/>
              </a:defRPr>
            </a:lvl7pPr>
            <a:lvl8pPr>
              <a:defRPr sz="2025" b="0">
                <a:solidFill>
                  <a:srgbClr val="516779"/>
                </a:solidFill>
                <a:latin typeface="Arial"/>
                <a:ea typeface="Arial"/>
                <a:cs typeface="Arial"/>
              </a:defRPr>
            </a:lvl8pPr>
            <a:lvl9pPr>
              <a:defRPr sz="2025" b="0">
                <a:solidFill>
                  <a:srgbClr val="516779"/>
                </a:solidFill>
                <a:latin typeface="Arial"/>
                <a:ea typeface="Arial"/>
                <a:cs typeface="Arial"/>
              </a:defRPr>
            </a:lvl9pPr>
          </a:lstStyle>
          <a:p xmlns:a="http://schemas.openxmlformats.org/drawingml/2006/main">
            <a:pPr>
              <a:defRPr sz="2025" b="0">
                <a:solidFill>
                  <a:srgbClr val="516779"/>
                </a:solidFill>
                <a:latin typeface="Arial"/>
                <a:ea typeface="Arial"/>
                <a:cs typeface="Arial"/>
              </a:defRPr>
            </a:pPr>
            <a:r>
              <a:rPr sz="2025" b="0">
                <a:solidFill>
                  <a:srgbClr val="516779"/>
                </a:solidFill>
                <a:latin typeface="Arial"/>
                <a:ea typeface="Arial"/>
                <a:cs typeface="Arial"/>
              </a:rPr>
              <a:t>121 of 176 errors confuse positive and neutral statements.</a:t>
            </a:r>
          </a:p>
        </p:txBody>
      </p:sp>
    </p:spTree>
    <p:extLst>
      <p:ext uri="{BB962C8B-B14F-4D97-AF65-F5344CB8AC3E}">
        <p14:creationId xmlns:p14="http://schemas.microsoft.com/office/powerpoint/2010/main" val="110121675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9C01155-F395-419C-8FB5-637F0A06685A}"/>
              </a:ext>
            </a:extLst>
          </p:cNvPr>
          <p:cNvSpPr>
            <a:spLocks xmlns:a="http://schemas.openxmlformats.org/drawingml/2006/main" noGrp="1"/>
          </p:cNvSpPr>
          <p:nvPr/>
        </p:nvSpPr>
        <p:spPr>
          <a:xfrm xmlns:a="http://schemas.openxmlformats.org/drawingml/2006/main">
            <a:off x="685800" y="5143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2E40"/>
                </a:solidFill>
                <a:latin typeface="Arial"/>
                <a:ea typeface="Arial"/>
                <a:cs typeface="Arial"/>
              </a:defRPr>
            </a:defPPr>
            <a:lvl1pPr>
              <a:defRPr sz="3225" b="1">
                <a:solidFill>
                  <a:srgbClr val="172E40"/>
                </a:solidFill>
                <a:latin typeface="Arial"/>
                <a:ea typeface="Arial"/>
                <a:cs typeface="Arial"/>
              </a:defRPr>
            </a:lvl1pPr>
            <a:lvl2pPr>
              <a:defRPr sz="3225" b="1">
                <a:solidFill>
                  <a:srgbClr val="172E40"/>
                </a:solidFill>
                <a:latin typeface="Arial"/>
                <a:ea typeface="Arial"/>
                <a:cs typeface="Arial"/>
              </a:defRPr>
            </a:lvl2pPr>
            <a:lvl3pPr>
              <a:defRPr sz="3225" b="1">
                <a:solidFill>
                  <a:srgbClr val="172E40"/>
                </a:solidFill>
                <a:latin typeface="Arial"/>
                <a:ea typeface="Arial"/>
                <a:cs typeface="Arial"/>
              </a:defRPr>
            </a:lvl3pPr>
            <a:lvl4pPr>
              <a:defRPr sz="3225" b="1">
                <a:solidFill>
                  <a:srgbClr val="172E40"/>
                </a:solidFill>
                <a:latin typeface="Arial"/>
                <a:ea typeface="Arial"/>
                <a:cs typeface="Arial"/>
              </a:defRPr>
            </a:lvl4pPr>
            <a:lvl5pPr>
              <a:defRPr sz="3225" b="1">
                <a:solidFill>
                  <a:srgbClr val="172E40"/>
                </a:solidFill>
                <a:latin typeface="Arial"/>
                <a:ea typeface="Arial"/>
                <a:cs typeface="Arial"/>
              </a:defRPr>
            </a:lvl5pPr>
            <a:lvl6pPr>
              <a:defRPr sz="3225" b="1">
                <a:solidFill>
                  <a:srgbClr val="172E40"/>
                </a:solidFill>
                <a:latin typeface="Arial"/>
                <a:ea typeface="Arial"/>
                <a:cs typeface="Arial"/>
              </a:defRPr>
            </a:lvl6pPr>
            <a:lvl7pPr>
              <a:defRPr sz="3225" b="1">
                <a:solidFill>
                  <a:srgbClr val="172E40"/>
                </a:solidFill>
                <a:latin typeface="Arial"/>
                <a:ea typeface="Arial"/>
                <a:cs typeface="Arial"/>
              </a:defRPr>
            </a:lvl7pPr>
            <a:lvl8pPr>
              <a:defRPr sz="3225" b="1">
                <a:solidFill>
                  <a:srgbClr val="172E40"/>
                </a:solidFill>
                <a:latin typeface="Arial"/>
                <a:ea typeface="Arial"/>
                <a:cs typeface="Arial"/>
              </a:defRPr>
            </a:lvl8pPr>
            <a:lvl9pPr>
              <a:defRPr sz="3225" b="1">
                <a:solidFill>
                  <a:srgbClr val="172E40"/>
                </a:solidFill>
                <a:latin typeface="Arial"/>
                <a:ea typeface="Arial"/>
                <a:cs typeface="Arial"/>
              </a:defRPr>
            </a:lvl9pPr>
          </a:lstStyle>
          <a:p xmlns:a="http://schemas.openxmlformats.org/drawingml/2006/main">
            <a:pPr>
              <a:defRPr sz="3225" b="1">
                <a:solidFill>
                  <a:srgbClr val="172E40"/>
                </a:solidFill>
                <a:latin typeface="Arial"/>
                <a:ea typeface="Arial"/>
                <a:cs typeface="Arial"/>
              </a:defRPr>
            </a:pPr>
            <a:r>
              <a:rPr sz="3225" b="1">
                <a:solidFill>
                  <a:srgbClr val="172E40"/>
                </a:solidFill>
                <a:latin typeface="Arial"/>
                <a:ea typeface="Arial"/>
                <a:cs typeface="Arial"/>
              </a:rPr>
              <a:t>FinBERT diagnostic and prior exposure</a:t>
            </a:r>
          </a:p>
        </p:txBody>
      </p:sp>
      <p:sp>
        <p:nvSpPr>
          <p:cNvPr id="2" name="">
            <a:extLst xmlns:a="http://schemas.openxmlformats.org/drawingml/2006/main">
              <a:ext uri="{FF2B5EF4-FFF2-40B4-BE49-F238E27FC236}">
                <a16:creationId xmlns:a16="http://schemas.microsoft.com/office/drawing/2014/main" id="{30920588-BFD4-4B29-86AD-20114BAB9F07}"/>
              </a:ext>
            </a:extLst>
          </p:cNvPr>
          <p:cNvSpPr>
            <a:spLocks xmlns:a="http://schemas.openxmlformats.org/drawingml/2006/main" noGrp="1"/>
          </p:cNvSpPr>
          <p:nvPr/>
        </p:nvSpPr>
        <p:spPr>
          <a:xfrm xmlns:a="http://schemas.openxmlformats.org/drawingml/2006/main">
            <a:off x="10972800" y="6315075"/>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16779"/>
                </a:solidFill>
                <a:latin typeface="Arial"/>
                <a:ea typeface="Arial"/>
                <a:cs typeface="Arial"/>
              </a:defRPr>
            </a:defPPr>
            <a:lvl1pPr>
              <a:defRPr sz="1275" b="0">
                <a:solidFill>
                  <a:srgbClr val="516779"/>
                </a:solidFill>
                <a:latin typeface="Arial"/>
                <a:ea typeface="Arial"/>
                <a:cs typeface="Arial"/>
              </a:defRPr>
            </a:lvl1pPr>
            <a:lvl2pPr>
              <a:defRPr sz="1275" b="0">
                <a:solidFill>
                  <a:srgbClr val="516779"/>
                </a:solidFill>
                <a:latin typeface="Arial"/>
                <a:ea typeface="Arial"/>
                <a:cs typeface="Arial"/>
              </a:defRPr>
            </a:lvl2pPr>
            <a:lvl3pPr>
              <a:defRPr sz="1275" b="0">
                <a:solidFill>
                  <a:srgbClr val="516779"/>
                </a:solidFill>
                <a:latin typeface="Arial"/>
                <a:ea typeface="Arial"/>
                <a:cs typeface="Arial"/>
              </a:defRPr>
            </a:lvl3pPr>
            <a:lvl4pPr>
              <a:defRPr sz="1275" b="0">
                <a:solidFill>
                  <a:srgbClr val="516779"/>
                </a:solidFill>
                <a:latin typeface="Arial"/>
                <a:ea typeface="Arial"/>
                <a:cs typeface="Arial"/>
              </a:defRPr>
            </a:lvl4pPr>
            <a:lvl5pPr>
              <a:defRPr sz="1275" b="0">
                <a:solidFill>
                  <a:srgbClr val="516779"/>
                </a:solidFill>
                <a:latin typeface="Arial"/>
                <a:ea typeface="Arial"/>
                <a:cs typeface="Arial"/>
              </a:defRPr>
            </a:lvl5pPr>
            <a:lvl6pPr>
              <a:defRPr sz="1275" b="0">
                <a:solidFill>
                  <a:srgbClr val="516779"/>
                </a:solidFill>
                <a:latin typeface="Arial"/>
                <a:ea typeface="Arial"/>
                <a:cs typeface="Arial"/>
              </a:defRPr>
            </a:lvl6pPr>
            <a:lvl7pPr>
              <a:defRPr sz="1275" b="0">
                <a:solidFill>
                  <a:srgbClr val="516779"/>
                </a:solidFill>
                <a:latin typeface="Arial"/>
                <a:ea typeface="Arial"/>
                <a:cs typeface="Arial"/>
              </a:defRPr>
            </a:lvl7pPr>
            <a:lvl8pPr>
              <a:defRPr sz="1275" b="0">
                <a:solidFill>
                  <a:srgbClr val="516779"/>
                </a:solidFill>
                <a:latin typeface="Arial"/>
                <a:ea typeface="Arial"/>
                <a:cs typeface="Arial"/>
              </a:defRPr>
            </a:lvl8pPr>
            <a:lvl9pPr>
              <a:defRPr sz="1275" b="0">
                <a:solidFill>
                  <a:srgbClr val="516779"/>
                </a:solidFill>
                <a:latin typeface="Arial"/>
                <a:ea typeface="Arial"/>
                <a:cs typeface="Arial"/>
              </a:defRPr>
            </a:lvl9pPr>
          </a:lstStyle>
          <a:p xmlns:a="http://schemas.openxmlformats.org/drawingml/2006/main">
            <a:pPr>
              <a:defRPr sz="1275" b="0">
                <a:solidFill>
                  <a:srgbClr val="516779"/>
                </a:solidFill>
                <a:latin typeface="Arial"/>
                <a:ea typeface="Arial"/>
                <a:cs typeface="Arial"/>
              </a:defRPr>
            </a:pPr>
            <a:r>
              <a:rPr sz="1275" b="0">
                <a:solidFill>
                  <a:srgbClr val="516779"/>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88979847-258D-4119-9436-24002FB5EABA}"/>
              </a:ext>
            </a:extLst>
          </p:cNvPr>
          <p:cNvSpPr>
            <a:spLocks xmlns:a="http://schemas.openxmlformats.org/drawingml/2006/main" noGrp="1"/>
          </p:cNvSpPr>
          <p:nvPr/>
        </p:nvSpPr>
        <p:spPr>
          <a:xfrm xmlns:a="http://schemas.openxmlformats.org/drawingml/2006/main">
            <a:off x="685800" y="1590675"/>
            <a:ext cx="476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700" b="1">
                <a:solidFill>
                  <a:srgbClr val="007C83"/>
                </a:solidFill>
                <a:latin typeface="Arial"/>
                <a:ea typeface="Arial"/>
                <a:cs typeface="Arial"/>
              </a:defRPr>
            </a:defPPr>
            <a:lvl1pPr>
              <a:defRPr sz="5700" b="1">
                <a:solidFill>
                  <a:srgbClr val="007C83"/>
                </a:solidFill>
                <a:latin typeface="Arial"/>
                <a:ea typeface="Arial"/>
                <a:cs typeface="Arial"/>
              </a:defRPr>
            </a:lvl1pPr>
            <a:lvl2pPr>
              <a:defRPr sz="5700" b="1">
                <a:solidFill>
                  <a:srgbClr val="007C83"/>
                </a:solidFill>
                <a:latin typeface="Arial"/>
                <a:ea typeface="Arial"/>
                <a:cs typeface="Arial"/>
              </a:defRPr>
            </a:lvl2pPr>
            <a:lvl3pPr>
              <a:defRPr sz="5700" b="1">
                <a:solidFill>
                  <a:srgbClr val="007C83"/>
                </a:solidFill>
                <a:latin typeface="Arial"/>
                <a:ea typeface="Arial"/>
                <a:cs typeface="Arial"/>
              </a:defRPr>
            </a:lvl3pPr>
            <a:lvl4pPr>
              <a:defRPr sz="5700" b="1">
                <a:solidFill>
                  <a:srgbClr val="007C83"/>
                </a:solidFill>
                <a:latin typeface="Arial"/>
                <a:ea typeface="Arial"/>
                <a:cs typeface="Arial"/>
              </a:defRPr>
            </a:lvl4pPr>
            <a:lvl5pPr>
              <a:defRPr sz="5700" b="1">
                <a:solidFill>
                  <a:srgbClr val="007C83"/>
                </a:solidFill>
                <a:latin typeface="Arial"/>
                <a:ea typeface="Arial"/>
                <a:cs typeface="Arial"/>
              </a:defRPr>
            </a:lvl5pPr>
            <a:lvl6pPr>
              <a:defRPr sz="5700" b="1">
                <a:solidFill>
                  <a:srgbClr val="007C83"/>
                </a:solidFill>
                <a:latin typeface="Arial"/>
                <a:ea typeface="Arial"/>
                <a:cs typeface="Arial"/>
              </a:defRPr>
            </a:lvl6pPr>
            <a:lvl7pPr>
              <a:defRPr sz="5700" b="1">
                <a:solidFill>
                  <a:srgbClr val="007C83"/>
                </a:solidFill>
                <a:latin typeface="Arial"/>
                <a:ea typeface="Arial"/>
                <a:cs typeface="Arial"/>
              </a:defRPr>
            </a:lvl7pPr>
            <a:lvl8pPr>
              <a:defRPr sz="5700" b="1">
                <a:solidFill>
                  <a:srgbClr val="007C83"/>
                </a:solidFill>
                <a:latin typeface="Arial"/>
                <a:ea typeface="Arial"/>
                <a:cs typeface="Arial"/>
              </a:defRPr>
            </a:lvl8pPr>
            <a:lvl9pPr>
              <a:defRPr sz="5700" b="1">
                <a:solidFill>
                  <a:srgbClr val="007C83"/>
                </a:solidFill>
                <a:latin typeface="Arial"/>
                <a:ea typeface="Arial"/>
                <a:cs typeface="Arial"/>
              </a:defRPr>
            </a:lvl9pPr>
          </a:lstStyle>
          <a:p xmlns:a="http://schemas.openxmlformats.org/drawingml/2006/main">
            <a:pPr>
              <a:defRPr sz="5700" b="1">
                <a:solidFill>
                  <a:srgbClr val="007C83"/>
                </a:solidFill>
                <a:latin typeface="Arial"/>
                <a:ea typeface="Arial"/>
                <a:cs typeface="Arial"/>
              </a:defRPr>
            </a:pPr>
            <a:r>
              <a:rPr sz="5700" b="1">
                <a:solidFill>
                  <a:srgbClr val="007C83"/>
                </a:solidFill>
                <a:latin typeface="Arial"/>
                <a:ea typeface="Arial"/>
                <a:cs typeface="Arial"/>
              </a:rPr>
              <a:t>88.2%</a:t>
            </a:r>
          </a:p>
        </p:txBody>
      </p:sp>
      <p:sp>
        <p:nvSpPr>
          <p:cNvPr id="4" name="">
            <a:extLst xmlns:a="http://schemas.openxmlformats.org/drawingml/2006/main">
              <a:ext uri="{FF2B5EF4-FFF2-40B4-BE49-F238E27FC236}">
                <a16:creationId xmlns:a16="http://schemas.microsoft.com/office/drawing/2014/main" id="{FD29D6A5-3CA9-477F-ABE1-4EDBCA1F3F0E}"/>
              </a:ext>
            </a:extLst>
          </p:cNvPr>
          <p:cNvSpPr>
            <a:spLocks xmlns:a="http://schemas.openxmlformats.org/drawingml/2006/main" noGrp="1"/>
          </p:cNvSpPr>
          <p:nvPr/>
        </p:nvSpPr>
        <p:spPr>
          <a:xfrm xmlns:a="http://schemas.openxmlformats.org/drawingml/2006/main">
            <a:off x="742950" y="265747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72E40"/>
                </a:solidFill>
                <a:latin typeface="Arial"/>
                <a:ea typeface="Arial"/>
                <a:cs typeface="Arial"/>
              </a:defRPr>
            </a:defPPr>
            <a:lvl1pPr>
              <a:defRPr sz="2175" b="0">
                <a:solidFill>
                  <a:srgbClr val="172E40"/>
                </a:solidFill>
                <a:latin typeface="Arial"/>
                <a:ea typeface="Arial"/>
                <a:cs typeface="Arial"/>
              </a:defRPr>
            </a:lvl1pPr>
            <a:lvl2pPr>
              <a:defRPr sz="2175" b="0">
                <a:solidFill>
                  <a:srgbClr val="172E40"/>
                </a:solidFill>
                <a:latin typeface="Arial"/>
                <a:ea typeface="Arial"/>
                <a:cs typeface="Arial"/>
              </a:defRPr>
            </a:lvl2pPr>
            <a:lvl3pPr>
              <a:defRPr sz="2175" b="0">
                <a:solidFill>
                  <a:srgbClr val="172E40"/>
                </a:solidFill>
                <a:latin typeface="Arial"/>
                <a:ea typeface="Arial"/>
                <a:cs typeface="Arial"/>
              </a:defRPr>
            </a:lvl3pPr>
            <a:lvl4pPr>
              <a:defRPr sz="2175" b="0">
                <a:solidFill>
                  <a:srgbClr val="172E40"/>
                </a:solidFill>
                <a:latin typeface="Arial"/>
                <a:ea typeface="Arial"/>
                <a:cs typeface="Arial"/>
              </a:defRPr>
            </a:lvl4pPr>
            <a:lvl5pPr>
              <a:defRPr sz="2175" b="0">
                <a:solidFill>
                  <a:srgbClr val="172E40"/>
                </a:solidFill>
                <a:latin typeface="Arial"/>
                <a:ea typeface="Arial"/>
                <a:cs typeface="Arial"/>
              </a:defRPr>
            </a:lvl5pPr>
            <a:lvl6pPr>
              <a:defRPr sz="2175" b="0">
                <a:solidFill>
                  <a:srgbClr val="172E40"/>
                </a:solidFill>
                <a:latin typeface="Arial"/>
                <a:ea typeface="Arial"/>
                <a:cs typeface="Arial"/>
              </a:defRPr>
            </a:lvl6pPr>
            <a:lvl7pPr>
              <a:defRPr sz="2175" b="0">
                <a:solidFill>
                  <a:srgbClr val="172E40"/>
                </a:solidFill>
                <a:latin typeface="Arial"/>
                <a:ea typeface="Arial"/>
                <a:cs typeface="Arial"/>
              </a:defRPr>
            </a:lvl7pPr>
            <a:lvl8pPr>
              <a:defRPr sz="2175" b="0">
                <a:solidFill>
                  <a:srgbClr val="172E40"/>
                </a:solidFill>
                <a:latin typeface="Arial"/>
                <a:ea typeface="Arial"/>
                <a:cs typeface="Arial"/>
              </a:defRPr>
            </a:lvl8pPr>
            <a:lvl9pPr>
              <a:defRPr sz="2175" b="0">
                <a:solidFill>
                  <a:srgbClr val="172E40"/>
                </a:solidFill>
                <a:latin typeface="Arial"/>
                <a:ea typeface="Arial"/>
                <a:cs typeface="Arial"/>
              </a:defRPr>
            </a:lvl9pPr>
          </a:lstStyle>
          <a:p xmlns:a="http://schemas.openxmlformats.org/drawingml/2006/main">
            <a:pPr>
              <a:defRPr sz="2175" b="0">
                <a:solidFill>
                  <a:srgbClr val="172E40"/>
                </a:solidFill>
                <a:latin typeface="Arial"/>
                <a:ea typeface="Arial"/>
                <a:cs typeface="Arial"/>
              </a:defRPr>
            </a:pPr>
            <a:r>
              <a:rPr sz="2175" b="0">
                <a:solidFill>
                  <a:srgbClr val="172E40"/>
                </a:solidFill>
                <a:latin typeface="Arial"/>
                <a:ea typeface="Arial"/>
                <a:cs typeface="Arial"/>
              </a:rPr>
              <a:t>PhraseBank diagnostic accuracy</a:t>
            </a:r>
          </a:p>
          <a:p xmlns:a="http://schemas.openxmlformats.org/drawingml/2006/main">
            <a:pPr>
              <a:defRPr sz="2175" b="0">
                <a:solidFill>
                  <a:srgbClr val="172E40"/>
                </a:solidFill>
                <a:latin typeface="Arial"/>
                <a:ea typeface="Arial"/>
                <a:cs typeface="Arial"/>
              </a:defRPr>
            </a:pPr>
            <a:r>
              <a:rPr sz="2175" b="0">
                <a:solidFill>
                  <a:srgbClr val="172E40"/>
                </a:solidFill>
                <a:latin typeface="Arial"/>
                <a:ea typeface="Arial"/>
                <a:cs typeface="Arial"/>
              </a:rPr>
              <a:t>Macro F1: 87.5% on 726 examples</a:t>
            </a:r>
          </a:p>
        </p:txBody>
      </p:sp>
      <p:sp>
        <p:nvSpPr>
          <p:cNvPr id="5" name="">
            <a:extLst xmlns:a="http://schemas.openxmlformats.org/drawingml/2006/main">
              <a:ext uri="{FF2B5EF4-FFF2-40B4-BE49-F238E27FC236}">
                <a16:creationId xmlns:a16="http://schemas.microsoft.com/office/drawing/2014/main" id="{1D171C54-5718-4E55-B3FB-0762629B9CE3}"/>
              </a:ext>
            </a:extLst>
          </p:cNvPr>
          <p:cNvSpPr>
            <a:spLocks xmlns:a="http://schemas.openxmlformats.org/drawingml/2006/main" noGrp="1"/>
          </p:cNvSpPr>
          <p:nvPr/>
        </p:nvSpPr>
        <p:spPr>
          <a:xfrm xmlns:a="http://schemas.openxmlformats.org/drawingml/2006/main">
            <a:off x="685800" y="382905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975700"/>
                </a:solidFill>
                <a:latin typeface="Arial"/>
                <a:ea typeface="Arial"/>
                <a:cs typeface="Arial"/>
              </a:defRPr>
            </a:defPPr>
            <a:lvl1pPr>
              <a:defRPr sz="2625" b="1">
                <a:solidFill>
                  <a:srgbClr val="975700"/>
                </a:solidFill>
                <a:latin typeface="Arial"/>
                <a:ea typeface="Arial"/>
                <a:cs typeface="Arial"/>
              </a:defRPr>
            </a:lvl1pPr>
            <a:lvl2pPr>
              <a:defRPr sz="2625" b="1">
                <a:solidFill>
                  <a:srgbClr val="975700"/>
                </a:solidFill>
                <a:latin typeface="Arial"/>
                <a:ea typeface="Arial"/>
                <a:cs typeface="Arial"/>
              </a:defRPr>
            </a:lvl2pPr>
            <a:lvl3pPr>
              <a:defRPr sz="2625" b="1">
                <a:solidFill>
                  <a:srgbClr val="975700"/>
                </a:solidFill>
                <a:latin typeface="Arial"/>
                <a:ea typeface="Arial"/>
                <a:cs typeface="Arial"/>
              </a:defRPr>
            </a:lvl3pPr>
            <a:lvl4pPr>
              <a:defRPr sz="2625" b="1">
                <a:solidFill>
                  <a:srgbClr val="975700"/>
                </a:solidFill>
                <a:latin typeface="Arial"/>
                <a:ea typeface="Arial"/>
                <a:cs typeface="Arial"/>
              </a:defRPr>
            </a:lvl4pPr>
            <a:lvl5pPr>
              <a:defRPr sz="2625" b="1">
                <a:solidFill>
                  <a:srgbClr val="975700"/>
                </a:solidFill>
                <a:latin typeface="Arial"/>
                <a:ea typeface="Arial"/>
                <a:cs typeface="Arial"/>
              </a:defRPr>
            </a:lvl5pPr>
            <a:lvl6pPr>
              <a:defRPr sz="2625" b="1">
                <a:solidFill>
                  <a:srgbClr val="975700"/>
                </a:solidFill>
                <a:latin typeface="Arial"/>
                <a:ea typeface="Arial"/>
                <a:cs typeface="Arial"/>
              </a:defRPr>
            </a:lvl6pPr>
            <a:lvl7pPr>
              <a:defRPr sz="2625" b="1">
                <a:solidFill>
                  <a:srgbClr val="975700"/>
                </a:solidFill>
                <a:latin typeface="Arial"/>
                <a:ea typeface="Arial"/>
                <a:cs typeface="Arial"/>
              </a:defRPr>
            </a:lvl7pPr>
            <a:lvl8pPr>
              <a:defRPr sz="2625" b="1">
                <a:solidFill>
                  <a:srgbClr val="975700"/>
                </a:solidFill>
                <a:latin typeface="Arial"/>
                <a:ea typeface="Arial"/>
                <a:cs typeface="Arial"/>
              </a:defRPr>
            </a:lvl8pPr>
            <a:lvl9pPr>
              <a:defRPr sz="2625" b="1">
                <a:solidFill>
                  <a:srgbClr val="975700"/>
                </a:solidFill>
                <a:latin typeface="Arial"/>
                <a:ea typeface="Arial"/>
                <a:cs typeface="Arial"/>
              </a:defRPr>
            </a:lvl9pPr>
          </a:lstStyle>
          <a:p xmlns:a="http://schemas.openxmlformats.org/drawingml/2006/main">
            <a:pPr>
              <a:defRPr sz="2625" b="1">
                <a:solidFill>
                  <a:srgbClr val="975700"/>
                </a:solidFill>
                <a:latin typeface="Arial"/>
                <a:ea typeface="Arial"/>
                <a:cs typeface="Arial"/>
              </a:defRPr>
            </a:pPr>
            <a:r>
              <a:rPr sz="2625" b="1">
                <a:solidFill>
                  <a:srgbClr val="975700"/>
                </a:solidFill>
                <a:latin typeface="Arial"/>
                <a:ea typeface="Arial"/>
                <a:cs typeface="Arial"/>
              </a:rPr>
              <a:t>Prior training exposure affects this result</a:t>
            </a:r>
          </a:p>
        </p:txBody>
      </p:sp>
      <p:sp>
        <p:nvSpPr>
          <p:cNvPr id="6" name="">
            <a:extLst xmlns:a="http://schemas.openxmlformats.org/drawingml/2006/main">
              <a:ext uri="{FF2B5EF4-FFF2-40B4-BE49-F238E27FC236}">
                <a16:creationId xmlns:a16="http://schemas.microsoft.com/office/drawing/2014/main" id="{2835E736-3EA0-48A0-B8F1-B5576D8A8D85}"/>
              </a:ext>
            </a:extLst>
          </p:cNvPr>
          <p:cNvSpPr>
            <a:spLocks xmlns:a="http://schemas.openxmlformats.org/drawingml/2006/main" noGrp="1"/>
          </p:cNvSpPr>
          <p:nvPr/>
        </p:nvSpPr>
        <p:spPr>
          <a:xfrm xmlns:a="http://schemas.openxmlformats.org/drawingml/2006/main">
            <a:off x="685800" y="4600575"/>
            <a:ext cx="10572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72E40"/>
                </a:solidFill>
                <a:latin typeface="Arial"/>
                <a:ea typeface="Arial"/>
                <a:cs typeface="Arial"/>
              </a:defRPr>
            </a:defPPr>
            <a:lvl1pPr>
              <a:defRPr sz="2175" b="0">
                <a:solidFill>
                  <a:srgbClr val="172E40"/>
                </a:solidFill>
                <a:latin typeface="Arial"/>
                <a:ea typeface="Arial"/>
                <a:cs typeface="Arial"/>
              </a:defRPr>
            </a:lvl1pPr>
            <a:lvl2pPr>
              <a:defRPr sz="2175" b="0">
                <a:solidFill>
                  <a:srgbClr val="172E40"/>
                </a:solidFill>
                <a:latin typeface="Arial"/>
                <a:ea typeface="Arial"/>
                <a:cs typeface="Arial"/>
              </a:defRPr>
            </a:lvl2pPr>
            <a:lvl3pPr>
              <a:defRPr sz="2175" b="0">
                <a:solidFill>
                  <a:srgbClr val="172E40"/>
                </a:solidFill>
                <a:latin typeface="Arial"/>
                <a:ea typeface="Arial"/>
                <a:cs typeface="Arial"/>
              </a:defRPr>
            </a:lvl3pPr>
            <a:lvl4pPr>
              <a:defRPr sz="2175" b="0">
                <a:solidFill>
                  <a:srgbClr val="172E40"/>
                </a:solidFill>
                <a:latin typeface="Arial"/>
                <a:ea typeface="Arial"/>
                <a:cs typeface="Arial"/>
              </a:defRPr>
            </a:lvl4pPr>
            <a:lvl5pPr>
              <a:defRPr sz="2175" b="0">
                <a:solidFill>
                  <a:srgbClr val="172E40"/>
                </a:solidFill>
                <a:latin typeface="Arial"/>
                <a:ea typeface="Arial"/>
                <a:cs typeface="Arial"/>
              </a:defRPr>
            </a:lvl5pPr>
            <a:lvl6pPr>
              <a:defRPr sz="2175" b="0">
                <a:solidFill>
                  <a:srgbClr val="172E40"/>
                </a:solidFill>
                <a:latin typeface="Arial"/>
                <a:ea typeface="Arial"/>
                <a:cs typeface="Arial"/>
              </a:defRPr>
            </a:lvl6pPr>
            <a:lvl7pPr>
              <a:defRPr sz="2175" b="0">
                <a:solidFill>
                  <a:srgbClr val="172E40"/>
                </a:solidFill>
                <a:latin typeface="Arial"/>
                <a:ea typeface="Arial"/>
                <a:cs typeface="Arial"/>
              </a:defRPr>
            </a:lvl7pPr>
            <a:lvl8pPr>
              <a:defRPr sz="2175" b="0">
                <a:solidFill>
                  <a:srgbClr val="172E40"/>
                </a:solidFill>
                <a:latin typeface="Arial"/>
                <a:ea typeface="Arial"/>
                <a:cs typeface="Arial"/>
              </a:defRPr>
            </a:lvl8pPr>
            <a:lvl9pPr>
              <a:defRPr sz="2175" b="0">
                <a:solidFill>
                  <a:srgbClr val="172E40"/>
                </a:solidFill>
                <a:latin typeface="Arial"/>
                <a:ea typeface="Arial"/>
                <a:cs typeface="Arial"/>
              </a:defRPr>
            </a:lvl9pPr>
          </a:lstStyle>
          <a:p xmlns:a="http://schemas.openxmlformats.org/drawingml/2006/main">
            <a:pPr>
              <a:defRPr sz="2175" b="0">
                <a:solidFill>
                  <a:srgbClr val="172E40"/>
                </a:solidFill>
                <a:latin typeface="Arial"/>
                <a:ea typeface="Arial"/>
                <a:cs typeface="Arial"/>
              </a:defRPr>
            </a:pPr>
            <a:r>
              <a:rPr sz="2175" b="0">
                <a:solidFill>
                  <a:srgbClr val="172E40"/>
                </a:solidFill>
                <a:latin typeface="Arial"/>
                <a:ea typeface="Arial"/>
                <a:cs typeface="Arial"/>
              </a:rPr>
              <a:t>A new local split cannot remove exposure during the checkpoint’s original training.</a:t>
            </a:r>
          </a:p>
          <a:p xmlns:a="http://schemas.openxmlformats.org/drawingml/2006/main">
            <a:pPr>
              <a:defRPr sz="2175" b="0">
                <a:solidFill>
                  <a:srgbClr val="172E40"/>
                </a:solidFill>
                <a:latin typeface="Arial"/>
                <a:ea typeface="Arial"/>
                <a:cs typeface="Arial"/>
              </a:defRPr>
            </a:pPr>
            <a:r>
              <a:rPr sz="2175" b="0">
                <a:solidFill>
                  <a:srgbClr val="172E40"/>
                </a:solidFill>
                <a:latin typeface="Arial"/>
                <a:ea typeface="Arial"/>
                <a:cs typeface="Arial"/>
              </a:rPr>
              <a:t>Thirty source-linked sentences await human label review.</a:t>
            </a:r>
          </a:p>
        </p:txBody>
      </p:sp>
    </p:spTree>
    <p:extLst>
      <p:ext uri="{BB962C8B-B14F-4D97-AF65-F5344CB8AC3E}">
        <p14:creationId xmlns:p14="http://schemas.microsoft.com/office/powerpoint/2010/main" val="27840994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97E1E2C-8861-459F-9550-555C11AB7AA4}"/>
              </a:ext>
            </a:extLst>
          </p:cNvPr>
          <p:cNvSpPr>
            <a:spLocks xmlns:a="http://schemas.openxmlformats.org/drawingml/2006/main" noGrp="1"/>
          </p:cNvSpPr>
          <p:nvPr/>
        </p:nvSpPr>
        <p:spPr>
          <a:xfrm xmlns:a="http://schemas.openxmlformats.org/drawingml/2006/main">
            <a:off x="685800" y="5143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2E40"/>
                </a:solidFill>
                <a:latin typeface="Arial"/>
                <a:ea typeface="Arial"/>
                <a:cs typeface="Arial"/>
              </a:defRPr>
            </a:defPPr>
            <a:lvl1pPr>
              <a:defRPr sz="3225" b="1">
                <a:solidFill>
                  <a:srgbClr val="172E40"/>
                </a:solidFill>
                <a:latin typeface="Arial"/>
                <a:ea typeface="Arial"/>
                <a:cs typeface="Arial"/>
              </a:defRPr>
            </a:lvl1pPr>
            <a:lvl2pPr>
              <a:defRPr sz="3225" b="1">
                <a:solidFill>
                  <a:srgbClr val="172E40"/>
                </a:solidFill>
                <a:latin typeface="Arial"/>
                <a:ea typeface="Arial"/>
                <a:cs typeface="Arial"/>
              </a:defRPr>
            </a:lvl2pPr>
            <a:lvl3pPr>
              <a:defRPr sz="3225" b="1">
                <a:solidFill>
                  <a:srgbClr val="172E40"/>
                </a:solidFill>
                <a:latin typeface="Arial"/>
                <a:ea typeface="Arial"/>
                <a:cs typeface="Arial"/>
              </a:defRPr>
            </a:lvl3pPr>
            <a:lvl4pPr>
              <a:defRPr sz="3225" b="1">
                <a:solidFill>
                  <a:srgbClr val="172E40"/>
                </a:solidFill>
                <a:latin typeface="Arial"/>
                <a:ea typeface="Arial"/>
                <a:cs typeface="Arial"/>
              </a:defRPr>
            </a:lvl4pPr>
            <a:lvl5pPr>
              <a:defRPr sz="3225" b="1">
                <a:solidFill>
                  <a:srgbClr val="172E40"/>
                </a:solidFill>
                <a:latin typeface="Arial"/>
                <a:ea typeface="Arial"/>
                <a:cs typeface="Arial"/>
              </a:defRPr>
            </a:lvl5pPr>
            <a:lvl6pPr>
              <a:defRPr sz="3225" b="1">
                <a:solidFill>
                  <a:srgbClr val="172E40"/>
                </a:solidFill>
                <a:latin typeface="Arial"/>
                <a:ea typeface="Arial"/>
                <a:cs typeface="Arial"/>
              </a:defRPr>
            </a:lvl6pPr>
            <a:lvl7pPr>
              <a:defRPr sz="3225" b="1">
                <a:solidFill>
                  <a:srgbClr val="172E40"/>
                </a:solidFill>
                <a:latin typeface="Arial"/>
                <a:ea typeface="Arial"/>
                <a:cs typeface="Arial"/>
              </a:defRPr>
            </a:lvl7pPr>
            <a:lvl8pPr>
              <a:defRPr sz="3225" b="1">
                <a:solidFill>
                  <a:srgbClr val="172E40"/>
                </a:solidFill>
                <a:latin typeface="Arial"/>
                <a:ea typeface="Arial"/>
                <a:cs typeface="Arial"/>
              </a:defRPr>
            </a:lvl8pPr>
            <a:lvl9pPr>
              <a:defRPr sz="3225" b="1">
                <a:solidFill>
                  <a:srgbClr val="172E40"/>
                </a:solidFill>
                <a:latin typeface="Arial"/>
                <a:ea typeface="Arial"/>
                <a:cs typeface="Arial"/>
              </a:defRPr>
            </a:lvl9pPr>
          </a:lstStyle>
          <a:p xmlns:a="http://schemas.openxmlformats.org/drawingml/2006/main">
            <a:pPr>
              <a:defRPr sz="3225" b="1">
                <a:solidFill>
                  <a:srgbClr val="172E40"/>
                </a:solidFill>
                <a:latin typeface="Arial"/>
                <a:ea typeface="Arial"/>
                <a:cs typeface="Arial"/>
              </a:defRPr>
            </a:pPr>
            <a:r>
              <a:rPr sz="3225" b="1">
                <a:solidFill>
                  <a:srgbClr val="172E40"/>
                </a:solidFill>
                <a:latin typeface="Arial"/>
                <a:ea typeface="Arial"/>
                <a:cs typeface="Arial"/>
              </a:rPr>
              <a:t>Limitations and next experiment</a:t>
            </a:r>
          </a:p>
        </p:txBody>
      </p:sp>
      <p:sp>
        <p:nvSpPr>
          <p:cNvPr id="2" name="">
            <a:extLst xmlns:a="http://schemas.openxmlformats.org/drawingml/2006/main">
              <a:ext uri="{FF2B5EF4-FFF2-40B4-BE49-F238E27FC236}">
                <a16:creationId xmlns:a16="http://schemas.microsoft.com/office/drawing/2014/main" id="{2AD0FAFF-DB47-4C42-835A-700557184247}"/>
              </a:ext>
            </a:extLst>
          </p:cNvPr>
          <p:cNvSpPr>
            <a:spLocks xmlns:a="http://schemas.openxmlformats.org/drawingml/2006/main" noGrp="1"/>
          </p:cNvSpPr>
          <p:nvPr/>
        </p:nvSpPr>
        <p:spPr>
          <a:xfrm xmlns:a="http://schemas.openxmlformats.org/drawingml/2006/main">
            <a:off x="10972800" y="6315075"/>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16779"/>
                </a:solidFill>
                <a:latin typeface="Arial"/>
                <a:ea typeface="Arial"/>
                <a:cs typeface="Arial"/>
              </a:defRPr>
            </a:defPPr>
            <a:lvl1pPr>
              <a:defRPr sz="1275" b="0">
                <a:solidFill>
                  <a:srgbClr val="516779"/>
                </a:solidFill>
                <a:latin typeface="Arial"/>
                <a:ea typeface="Arial"/>
                <a:cs typeface="Arial"/>
              </a:defRPr>
            </a:lvl1pPr>
            <a:lvl2pPr>
              <a:defRPr sz="1275" b="0">
                <a:solidFill>
                  <a:srgbClr val="516779"/>
                </a:solidFill>
                <a:latin typeface="Arial"/>
                <a:ea typeface="Arial"/>
                <a:cs typeface="Arial"/>
              </a:defRPr>
            </a:lvl2pPr>
            <a:lvl3pPr>
              <a:defRPr sz="1275" b="0">
                <a:solidFill>
                  <a:srgbClr val="516779"/>
                </a:solidFill>
                <a:latin typeface="Arial"/>
                <a:ea typeface="Arial"/>
                <a:cs typeface="Arial"/>
              </a:defRPr>
            </a:lvl3pPr>
            <a:lvl4pPr>
              <a:defRPr sz="1275" b="0">
                <a:solidFill>
                  <a:srgbClr val="516779"/>
                </a:solidFill>
                <a:latin typeface="Arial"/>
                <a:ea typeface="Arial"/>
                <a:cs typeface="Arial"/>
              </a:defRPr>
            </a:lvl4pPr>
            <a:lvl5pPr>
              <a:defRPr sz="1275" b="0">
                <a:solidFill>
                  <a:srgbClr val="516779"/>
                </a:solidFill>
                <a:latin typeface="Arial"/>
                <a:ea typeface="Arial"/>
                <a:cs typeface="Arial"/>
              </a:defRPr>
            </a:lvl5pPr>
            <a:lvl6pPr>
              <a:defRPr sz="1275" b="0">
                <a:solidFill>
                  <a:srgbClr val="516779"/>
                </a:solidFill>
                <a:latin typeface="Arial"/>
                <a:ea typeface="Arial"/>
                <a:cs typeface="Arial"/>
              </a:defRPr>
            </a:lvl6pPr>
            <a:lvl7pPr>
              <a:defRPr sz="1275" b="0">
                <a:solidFill>
                  <a:srgbClr val="516779"/>
                </a:solidFill>
                <a:latin typeface="Arial"/>
                <a:ea typeface="Arial"/>
                <a:cs typeface="Arial"/>
              </a:defRPr>
            </a:lvl7pPr>
            <a:lvl8pPr>
              <a:defRPr sz="1275" b="0">
                <a:solidFill>
                  <a:srgbClr val="516779"/>
                </a:solidFill>
                <a:latin typeface="Arial"/>
                <a:ea typeface="Arial"/>
                <a:cs typeface="Arial"/>
              </a:defRPr>
            </a:lvl8pPr>
            <a:lvl9pPr>
              <a:defRPr sz="1275" b="0">
                <a:solidFill>
                  <a:srgbClr val="516779"/>
                </a:solidFill>
                <a:latin typeface="Arial"/>
                <a:ea typeface="Arial"/>
                <a:cs typeface="Arial"/>
              </a:defRPr>
            </a:lvl9pPr>
          </a:lstStyle>
          <a:p xmlns:a="http://schemas.openxmlformats.org/drawingml/2006/main">
            <a:pPr>
              <a:defRPr sz="1275" b="0">
                <a:solidFill>
                  <a:srgbClr val="516779"/>
                </a:solidFill>
                <a:latin typeface="Arial"/>
                <a:ea typeface="Arial"/>
                <a:cs typeface="Arial"/>
              </a:defRPr>
            </a:pPr>
            <a:r>
              <a:rPr sz="1275" b="0">
                <a:solidFill>
                  <a:srgbClr val="516779"/>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FB006AE5-B1E2-4C6E-B9FA-1BAC7772CCAD}"/>
              </a:ext>
            </a:extLst>
          </p:cNvPr>
          <p:cNvSpPr>
            <a:spLocks xmlns:a="http://schemas.openxmlformats.org/drawingml/2006/main" noGrp="1"/>
          </p:cNvSpPr>
          <p:nvPr/>
        </p:nvSpPr>
        <p:spPr>
          <a:xfrm xmlns:a="http://schemas.openxmlformats.org/drawingml/2006/main">
            <a:off x="685800" y="16192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C83"/>
                </a:solidFill>
                <a:latin typeface="Arial"/>
                <a:ea typeface="Arial"/>
                <a:cs typeface="Arial"/>
              </a:defRPr>
            </a:defPPr>
            <a:lvl1pPr>
              <a:defRPr sz="2175" b="1">
                <a:solidFill>
                  <a:srgbClr val="007C83"/>
                </a:solidFill>
                <a:latin typeface="Arial"/>
                <a:ea typeface="Arial"/>
                <a:cs typeface="Arial"/>
              </a:defRPr>
            </a:lvl1pPr>
            <a:lvl2pPr>
              <a:defRPr sz="2175" b="1">
                <a:solidFill>
                  <a:srgbClr val="007C83"/>
                </a:solidFill>
                <a:latin typeface="Arial"/>
                <a:ea typeface="Arial"/>
                <a:cs typeface="Arial"/>
              </a:defRPr>
            </a:lvl2pPr>
            <a:lvl3pPr>
              <a:defRPr sz="2175" b="1">
                <a:solidFill>
                  <a:srgbClr val="007C83"/>
                </a:solidFill>
                <a:latin typeface="Arial"/>
                <a:ea typeface="Arial"/>
                <a:cs typeface="Arial"/>
              </a:defRPr>
            </a:lvl3pPr>
            <a:lvl4pPr>
              <a:defRPr sz="2175" b="1">
                <a:solidFill>
                  <a:srgbClr val="007C83"/>
                </a:solidFill>
                <a:latin typeface="Arial"/>
                <a:ea typeface="Arial"/>
                <a:cs typeface="Arial"/>
              </a:defRPr>
            </a:lvl4pPr>
            <a:lvl5pPr>
              <a:defRPr sz="2175" b="1">
                <a:solidFill>
                  <a:srgbClr val="007C83"/>
                </a:solidFill>
                <a:latin typeface="Arial"/>
                <a:ea typeface="Arial"/>
                <a:cs typeface="Arial"/>
              </a:defRPr>
            </a:lvl5pPr>
            <a:lvl6pPr>
              <a:defRPr sz="2175" b="1">
                <a:solidFill>
                  <a:srgbClr val="007C83"/>
                </a:solidFill>
                <a:latin typeface="Arial"/>
                <a:ea typeface="Arial"/>
                <a:cs typeface="Arial"/>
              </a:defRPr>
            </a:lvl6pPr>
            <a:lvl7pPr>
              <a:defRPr sz="2175" b="1">
                <a:solidFill>
                  <a:srgbClr val="007C83"/>
                </a:solidFill>
                <a:latin typeface="Arial"/>
                <a:ea typeface="Arial"/>
                <a:cs typeface="Arial"/>
              </a:defRPr>
            </a:lvl7pPr>
            <a:lvl8pPr>
              <a:defRPr sz="2175" b="1">
                <a:solidFill>
                  <a:srgbClr val="007C83"/>
                </a:solidFill>
                <a:latin typeface="Arial"/>
                <a:ea typeface="Arial"/>
                <a:cs typeface="Arial"/>
              </a:defRPr>
            </a:lvl8pPr>
            <a:lvl9pPr>
              <a:defRPr sz="2175" b="1">
                <a:solidFill>
                  <a:srgbClr val="007C83"/>
                </a:solidFill>
                <a:latin typeface="Arial"/>
                <a:ea typeface="Arial"/>
                <a:cs typeface="Arial"/>
              </a:defRPr>
            </a:lvl9pPr>
          </a:lstStyle>
          <a:p xmlns:a="http://schemas.openxmlformats.org/drawingml/2006/main">
            <a:pPr>
              <a:defRPr sz="2175" b="1">
                <a:solidFill>
                  <a:srgbClr val="007C83"/>
                </a:solidFill>
                <a:latin typeface="Arial"/>
                <a:ea typeface="Arial"/>
                <a:cs typeface="Arial"/>
              </a:defRPr>
            </a:pPr>
            <a:r>
              <a:rPr sz="2175" b="1">
                <a:solidFill>
                  <a:srgbClr val="007C83"/>
                </a:solidFill>
                <a:latin typeface="Arial"/>
                <a:ea typeface="Arial"/>
                <a:cs typeface="Arial"/>
              </a:rPr>
              <a:t>Input limits</a:t>
            </a:r>
          </a:p>
        </p:txBody>
      </p:sp>
      <p:sp>
        <p:nvSpPr>
          <p:cNvPr id="4" name="">
            <a:extLst xmlns:a="http://schemas.openxmlformats.org/drawingml/2006/main">
              <a:ext uri="{FF2B5EF4-FFF2-40B4-BE49-F238E27FC236}">
                <a16:creationId xmlns:a16="http://schemas.microsoft.com/office/drawing/2014/main" id="{02C5BE59-AA9E-475E-8941-461AA8638C0A}"/>
              </a:ext>
            </a:extLst>
          </p:cNvPr>
          <p:cNvSpPr>
            <a:spLocks xmlns:a="http://schemas.openxmlformats.org/drawingml/2006/main" noGrp="1"/>
          </p:cNvSpPr>
          <p:nvPr/>
        </p:nvSpPr>
        <p:spPr>
          <a:xfrm xmlns:a="http://schemas.openxmlformats.org/drawingml/2006/main">
            <a:off x="685800" y="20669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72E40"/>
                </a:solidFill>
                <a:latin typeface="Arial"/>
                <a:ea typeface="Arial"/>
                <a:cs typeface="Arial"/>
              </a:defRPr>
            </a:defPPr>
            <a:lvl1pPr>
              <a:defRPr sz="1950" b="0">
                <a:solidFill>
                  <a:srgbClr val="172E40"/>
                </a:solidFill>
                <a:latin typeface="Arial"/>
                <a:ea typeface="Arial"/>
                <a:cs typeface="Arial"/>
              </a:defRPr>
            </a:lvl1pPr>
            <a:lvl2pPr>
              <a:defRPr sz="1950" b="0">
                <a:solidFill>
                  <a:srgbClr val="172E40"/>
                </a:solidFill>
                <a:latin typeface="Arial"/>
                <a:ea typeface="Arial"/>
                <a:cs typeface="Arial"/>
              </a:defRPr>
            </a:lvl2pPr>
            <a:lvl3pPr>
              <a:defRPr sz="1950" b="0">
                <a:solidFill>
                  <a:srgbClr val="172E40"/>
                </a:solidFill>
                <a:latin typeface="Arial"/>
                <a:ea typeface="Arial"/>
                <a:cs typeface="Arial"/>
              </a:defRPr>
            </a:lvl3pPr>
            <a:lvl4pPr>
              <a:defRPr sz="1950" b="0">
                <a:solidFill>
                  <a:srgbClr val="172E40"/>
                </a:solidFill>
                <a:latin typeface="Arial"/>
                <a:ea typeface="Arial"/>
                <a:cs typeface="Arial"/>
              </a:defRPr>
            </a:lvl4pPr>
            <a:lvl5pPr>
              <a:defRPr sz="1950" b="0">
                <a:solidFill>
                  <a:srgbClr val="172E40"/>
                </a:solidFill>
                <a:latin typeface="Arial"/>
                <a:ea typeface="Arial"/>
                <a:cs typeface="Arial"/>
              </a:defRPr>
            </a:lvl5pPr>
            <a:lvl6pPr>
              <a:defRPr sz="1950" b="0">
                <a:solidFill>
                  <a:srgbClr val="172E40"/>
                </a:solidFill>
                <a:latin typeface="Arial"/>
                <a:ea typeface="Arial"/>
                <a:cs typeface="Arial"/>
              </a:defRPr>
            </a:lvl6pPr>
            <a:lvl7pPr>
              <a:defRPr sz="1950" b="0">
                <a:solidFill>
                  <a:srgbClr val="172E40"/>
                </a:solidFill>
                <a:latin typeface="Arial"/>
                <a:ea typeface="Arial"/>
                <a:cs typeface="Arial"/>
              </a:defRPr>
            </a:lvl7pPr>
            <a:lvl8pPr>
              <a:defRPr sz="1950" b="0">
                <a:solidFill>
                  <a:srgbClr val="172E40"/>
                </a:solidFill>
                <a:latin typeface="Arial"/>
                <a:ea typeface="Arial"/>
                <a:cs typeface="Arial"/>
              </a:defRPr>
            </a:lvl8pPr>
            <a:lvl9pPr>
              <a:defRPr sz="1950" b="0">
                <a:solidFill>
                  <a:srgbClr val="172E40"/>
                </a:solidFill>
                <a:latin typeface="Arial"/>
                <a:ea typeface="Arial"/>
                <a:cs typeface="Arial"/>
              </a:defRPr>
            </a:lvl9pPr>
          </a:lstStyle>
          <a:p xmlns:a="http://schemas.openxmlformats.org/drawingml/2006/main">
            <a:pPr>
              <a:defRPr sz="1950" b="0">
                <a:solidFill>
                  <a:srgbClr val="172E40"/>
                </a:solidFill>
                <a:latin typeface="Arial"/>
                <a:ea typeface="Arial"/>
                <a:cs typeface="Arial"/>
              </a:defRPr>
            </a:pPr>
            <a:r>
              <a:rPr sz="1950" b="0">
                <a:solidFill>
                  <a:srgbClr val="172E40"/>
                </a:solidFill>
                <a:latin typeface="Arial"/>
                <a:ea typeface="Arial"/>
                <a:cs typeface="Arial"/>
              </a:rPr>
              <a:t>English financial sentences are the intended domain. Mixed statements and missing context can change the label.</a:t>
            </a:r>
          </a:p>
        </p:txBody>
      </p:sp>
      <p:sp>
        <p:nvSpPr>
          <p:cNvPr id="5" name="">
            <a:extLst xmlns:a="http://schemas.openxmlformats.org/drawingml/2006/main">
              <a:ext uri="{FF2B5EF4-FFF2-40B4-BE49-F238E27FC236}">
                <a16:creationId xmlns:a16="http://schemas.microsoft.com/office/drawing/2014/main" id="{9FF173FC-E684-497A-8709-B95A4925FE5F}"/>
              </a:ext>
            </a:extLst>
          </p:cNvPr>
          <p:cNvSpPr>
            <a:spLocks xmlns:a="http://schemas.openxmlformats.org/drawingml/2006/main" noGrp="1"/>
          </p:cNvSpPr>
          <p:nvPr/>
        </p:nvSpPr>
        <p:spPr>
          <a:xfrm xmlns:a="http://schemas.openxmlformats.org/drawingml/2006/main">
            <a:off x="685800" y="32385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C83"/>
                </a:solidFill>
                <a:latin typeface="Arial"/>
                <a:ea typeface="Arial"/>
                <a:cs typeface="Arial"/>
              </a:defRPr>
            </a:defPPr>
            <a:lvl1pPr>
              <a:defRPr sz="2175" b="1">
                <a:solidFill>
                  <a:srgbClr val="007C83"/>
                </a:solidFill>
                <a:latin typeface="Arial"/>
                <a:ea typeface="Arial"/>
                <a:cs typeface="Arial"/>
              </a:defRPr>
            </a:lvl1pPr>
            <a:lvl2pPr>
              <a:defRPr sz="2175" b="1">
                <a:solidFill>
                  <a:srgbClr val="007C83"/>
                </a:solidFill>
                <a:latin typeface="Arial"/>
                <a:ea typeface="Arial"/>
                <a:cs typeface="Arial"/>
              </a:defRPr>
            </a:lvl2pPr>
            <a:lvl3pPr>
              <a:defRPr sz="2175" b="1">
                <a:solidFill>
                  <a:srgbClr val="007C83"/>
                </a:solidFill>
                <a:latin typeface="Arial"/>
                <a:ea typeface="Arial"/>
                <a:cs typeface="Arial"/>
              </a:defRPr>
            </a:lvl3pPr>
            <a:lvl4pPr>
              <a:defRPr sz="2175" b="1">
                <a:solidFill>
                  <a:srgbClr val="007C83"/>
                </a:solidFill>
                <a:latin typeface="Arial"/>
                <a:ea typeface="Arial"/>
                <a:cs typeface="Arial"/>
              </a:defRPr>
            </a:lvl4pPr>
            <a:lvl5pPr>
              <a:defRPr sz="2175" b="1">
                <a:solidFill>
                  <a:srgbClr val="007C83"/>
                </a:solidFill>
                <a:latin typeface="Arial"/>
                <a:ea typeface="Arial"/>
                <a:cs typeface="Arial"/>
              </a:defRPr>
            </a:lvl5pPr>
            <a:lvl6pPr>
              <a:defRPr sz="2175" b="1">
                <a:solidFill>
                  <a:srgbClr val="007C83"/>
                </a:solidFill>
                <a:latin typeface="Arial"/>
                <a:ea typeface="Arial"/>
                <a:cs typeface="Arial"/>
              </a:defRPr>
            </a:lvl6pPr>
            <a:lvl7pPr>
              <a:defRPr sz="2175" b="1">
                <a:solidFill>
                  <a:srgbClr val="007C83"/>
                </a:solidFill>
                <a:latin typeface="Arial"/>
                <a:ea typeface="Arial"/>
                <a:cs typeface="Arial"/>
              </a:defRPr>
            </a:lvl7pPr>
            <a:lvl8pPr>
              <a:defRPr sz="2175" b="1">
                <a:solidFill>
                  <a:srgbClr val="007C83"/>
                </a:solidFill>
                <a:latin typeface="Arial"/>
                <a:ea typeface="Arial"/>
                <a:cs typeface="Arial"/>
              </a:defRPr>
            </a:lvl8pPr>
            <a:lvl9pPr>
              <a:defRPr sz="2175" b="1">
                <a:solidFill>
                  <a:srgbClr val="007C83"/>
                </a:solidFill>
                <a:latin typeface="Arial"/>
                <a:ea typeface="Arial"/>
                <a:cs typeface="Arial"/>
              </a:defRPr>
            </a:lvl9pPr>
          </a:lstStyle>
          <a:p xmlns:a="http://schemas.openxmlformats.org/drawingml/2006/main">
            <a:pPr>
              <a:defRPr sz="2175" b="1">
                <a:solidFill>
                  <a:srgbClr val="007C83"/>
                </a:solidFill>
                <a:latin typeface="Arial"/>
                <a:ea typeface="Arial"/>
                <a:cs typeface="Arial"/>
              </a:defRPr>
            </a:pPr>
            <a:r>
              <a:rPr sz="2175" b="1">
                <a:solidFill>
                  <a:srgbClr val="007C83"/>
                </a:solidFill>
                <a:latin typeface="Arial"/>
                <a:ea typeface="Arial"/>
                <a:cs typeface="Arial"/>
              </a:rPr>
              <a:t>Evidence limits</a:t>
            </a:r>
          </a:p>
        </p:txBody>
      </p:sp>
      <p:sp>
        <p:nvSpPr>
          <p:cNvPr id="6" name="">
            <a:extLst xmlns:a="http://schemas.openxmlformats.org/drawingml/2006/main">
              <a:ext uri="{FF2B5EF4-FFF2-40B4-BE49-F238E27FC236}">
                <a16:creationId xmlns:a16="http://schemas.microsoft.com/office/drawing/2014/main" id="{524C4FAD-77AB-4A7D-9DDB-64614DAC7FD4}"/>
              </a:ext>
            </a:extLst>
          </p:cNvPr>
          <p:cNvSpPr>
            <a:spLocks xmlns:a="http://schemas.openxmlformats.org/drawingml/2006/main" noGrp="1"/>
          </p:cNvSpPr>
          <p:nvPr/>
        </p:nvSpPr>
        <p:spPr>
          <a:xfrm xmlns:a="http://schemas.openxmlformats.org/drawingml/2006/main">
            <a:off x="685800" y="36861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72E40"/>
                </a:solidFill>
                <a:latin typeface="Arial"/>
                <a:ea typeface="Arial"/>
                <a:cs typeface="Arial"/>
              </a:defRPr>
            </a:defPPr>
            <a:lvl1pPr>
              <a:defRPr sz="1950" b="0">
                <a:solidFill>
                  <a:srgbClr val="172E40"/>
                </a:solidFill>
                <a:latin typeface="Arial"/>
                <a:ea typeface="Arial"/>
                <a:cs typeface="Arial"/>
              </a:defRPr>
            </a:lvl1pPr>
            <a:lvl2pPr>
              <a:defRPr sz="1950" b="0">
                <a:solidFill>
                  <a:srgbClr val="172E40"/>
                </a:solidFill>
                <a:latin typeface="Arial"/>
                <a:ea typeface="Arial"/>
                <a:cs typeface="Arial"/>
              </a:defRPr>
            </a:lvl2pPr>
            <a:lvl3pPr>
              <a:defRPr sz="1950" b="0">
                <a:solidFill>
                  <a:srgbClr val="172E40"/>
                </a:solidFill>
                <a:latin typeface="Arial"/>
                <a:ea typeface="Arial"/>
                <a:cs typeface="Arial"/>
              </a:defRPr>
            </a:lvl3pPr>
            <a:lvl4pPr>
              <a:defRPr sz="1950" b="0">
                <a:solidFill>
                  <a:srgbClr val="172E40"/>
                </a:solidFill>
                <a:latin typeface="Arial"/>
                <a:ea typeface="Arial"/>
                <a:cs typeface="Arial"/>
              </a:defRPr>
            </a:lvl4pPr>
            <a:lvl5pPr>
              <a:defRPr sz="1950" b="0">
                <a:solidFill>
                  <a:srgbClr val="172E40"/>
                </a:solidFill>
                <a:latin typeface="Arial"/>
                <a:ea typeface="Arial"/>
                <a:cs typeface="Arial"/>
              </a:defRPr>
            </a:lvl5pPr>
            <a:lvl6pPr>
              <a:defRPr sz="1950" b="0">
                <a:solidFill>
                  <a:srgbClr val="172E40"/>
                </a:solidFill>
                <a:latin typeface="Arial"/>
                <a:ea typeface="Arial"/>
                <a:cs typeface="Arial"/>
              </a:defRPr>
            </a:lvl6pPr>
            <a:lvl7pPr>
              <a:defRPr sz="1950" b="0">
                <a:solidFill>
                  <a:srgbClr val="172E40"/>
                </a:solidFill>
                <a:latin typeface="Arial"/>
                <a:ea typeface="Arial"/>
                <a:cs typeface="Arial"/>
              </a:defRPr>
            </a:lvl7pPr>
            <a:lvl8pPr>
              <a:defRPr sz="1950" b="0">
                <a:solidFill>
                  <a:srgbClr val="172E40"/>
                </a:solidFill>
                <a:latin typeface="Arial"/>
                <a:ea typeface="Arial"/>
                <a:cs typeface="Arial"/>
              </a:defRPr>
            </a:lvl8pPr>
            <a:lvl9pPr>
              <a:defRPr sz="1950" b="0">
                <a:solidFill>
                  <a:srgbClr val="172E40"/>
                </a:solidFill>
                <a:latin typeface="Arial"/>
                <a:ea typeface="Arial"/>
                <a:cs typeface="Arial"/>
              </a:defRPr>
            </a:lvl9pPr>
          </a:lstStyle>
          <a:p xmlns:a="http://schemas.openxmlformats.org/drawingml/2006/main">
            <a:pPr>
              <a:defRPr sz="1950" b="0">
                <a:solidFill>
                  <a:srgbClr val="172E40"/>
                </a:solidFill>
                <a:latin typeface="Arial"/>
                <a:ea typeface="Arial"/>
                <a:cs typeface="Arial"/>
              </a:defRPr>
            </a:pPr>
            <a:r>
              <a:rPr sz="1950" b="0">
                <a:solidFill>
                  <a:srgbClr val="172E40"/>
                </a:solidFill>
                <a:latin typeface="Arial"/>
                <a:ea typeface="Arial"/>
                <a:cs typeface="Arial"/>
              </a:rPr>
              <a:t>Random PhraseBank partitions do not establish performance on future news. Model scores lack calibration.</a:t>
            </a:r>
          </a:p>
        </p:txBody>
      </p:sp>
      <p:sp>
        <p:nvSpPr>
          <p:cNvPr id="7" name="">
            <a:extLst xmlns:a="http://schemas.openxmlformats.org/drawingml/2006/main">
              <a:ext uri="{FF2B5EF4-FFF2-40B4-BE49-F238E27FC236}">
                <a16:creationId xmlns:a16="http://schemas.microsoft.com/office/drawing/2014/main" id="{28DAC81B-FD1A-40F0-AAA0-87633949C1A9}"/>
              </a:ext>
            </a:extLst>
          </p:cNvPr>
          <p:cNvSpPr>
            <a:spLocks xmlns:a="http://schemas.openxmlformats.org/drawingml/2006/main" noGrp="1"/>
          </p:cNvSpPr>
          <p:nvPr/>
        </p:nvSpPr>
        <p:spPr>
          <a:xfrm xmlns:a="http://schemas.openxmlformats.org/drawingml/2006/main">
            <a:off x="685800" y="48577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C83"/>
                </a:solidFill>
                <a:latin typeface="Arial"/>
                <a:ea typeface="Arial"/>
                <a:cs typeface="Arial"/>
              </a:defRPr>
            </a:defPPr>
            <a:lvl1pPr>
              <a:defRPr sz="2175" b="1">
                <a:solidFill>
                  <a:srgbClr val="007C83"/>
                </a:solidFill>
                <a:latin typeface="Arial"/>
                <a:ea typeface="Arial"/>
                <a:cs typeface="Arial"/>
              </a:defRPr>
            </a:lvl1pPr>
            <a:lvl2pPr>
              <a:defRPr sz="2175" b="1">
                <a:solidFill>
                  <a:srgbClr val="007C83"/>
                </a:solidFill>
                <a:latin typeface="Arial"/>
                <a:ea typeface="Arial"/>
                <a:cs typeface="Arial"/>
              </a:defRPr>
            </a:lvl2pPr>
            <a:lvl3pPr>
              <a:defRPr sz="2175" b="1">
                <a:solidFill>
                  <a:srgbClr val="007C83"/>
                </a:solidFill>
                <a:latin typeface="Arial"/>
                <a:ea typeface="Arial"/>
                <a:cs typeface="Arial"/>
              </a:defRPr>
            </a:lvl3pPr>
            <a:lvl4pPr>
              <a:defRPr sz="2175" b="1">
                <a:solidFill>
                  <a:srgbClr val="007C83"/>
                </a:solidFill>
                <a:latin typeface="Arial"/>
                <a:ea typeface="Arial"/>
                <a:cs typeface="Arial"/>
              </a:defRPr>
            </a:lvl4pPr>
            <a:lvl5pPr>
              <a:defRPr sz="2175" b="1">
                <a:solidFill>
                  <a:srgbClr val="007C83"/>
                </a:solidFill>
                <a:latin typeface="Arial"/>
                <a:ea typeface="Arial"/>
                <a:cs typeface="Arial"/>
              </a:defRPr>
            </a:lvl5pPr>
            <a:lvl6pPr>
              <a:defRPr sz="2175" b="1">
                <a:solidFill>
                  <a:srgbClr val="007C83"/>
                </a:solidFill>
                <a:latin typeface="Arial"/>
                <a:ea typeface="Arial"/>
                <a:cs typeface="Arial"/>
              </a:defRPr>
            </a:lvl6pPr>
            <a:lvl7pPr>
              <a:defRPr sz="2175" b="1">
                <a:solidFill>
                  <a:srgbClr val="007C83"/>
                </a:solidFill>
                <a:latin typeface="Arial"/>
                <a:ea typeface="Arial"/>
                <a:cs typeface="Arial"/>
              </a:defRPr>
            </a:lvl7pPr>
            <a:lvl8pPr>
              <a:defRPr sz="2175" b="1">
                <a:solidFill>
                  <a:srgbClr val="007C83"/>
                </a:solidFill>
                <a:latin typeface="Arial"/>
                <a:ea typeface="Arial"/>
                <a:cs typeface="Arial"/>
              </a:defRPr>
            </a:lvl8pPr>
            <a:lvl9pPr>
              <a:defRPr sz="2175" b="1">
                <a:solidFill>
                  <a:srgbClr val="007C83"/>
                </a:solidFill>
                <a:latin typeface="Arial"/>
                <a:ea typeface="Arial"/>
                <a:cs typeface="Arial"/>
              </a:defRPr>
            </a:lvl9pPr>
          </a:lstStyle>
          <a:p xmlns:a="http://schemas.openxmlformats.org/drawingml/2006/main">
            <a:pPr>
              <a:defRPr sz="2175" b="1">
                <a:solidFill>
                  <a:srgbClr val="007C83"/>
                </a:solidFill>
                <a:latin typeface="Arial"/>
                <a:ea typeface="Arial"/>
                <a:cs typeface="Arial"/>
              </a:defRPr>
            </a:pPr>
            <a:r>
              <a:rPr sz="2175" b="1">
                <a:solidFill>
                  <a:srgbClr val="007C83"/>
                </a:solidFill>
                <a:latin typeface="Arial"/>
                <a:ea typeface="Arial"/>
                <a:cs typeface="Arial"/>
              </a:rPr>
              <a:t>Next experiment</a:t>
            </a:r>
          </a:p>
        </p:txBody>
      </p:sp>
      <p:sp>
        <p:nvSpPr>
          <p:cNvPr id="8" name="">
            <a:extLst xmlns:a="http://schemas.openxmlformats.org/drawingml/2006/main">
              <a:ext uri="{FF2B5EF4-FFF2-40B4-BE49-F238E27FC236}">
                <a16:creationId xmlns:a16="http://schemas.microsoft.com/office/drawing/2014/main" id="{83DC7C03-69D6-4462-B7C2-75203B288935}"/>
              </a:ext>
            </a:extLst>
          </p:cNvPr>
          <p:cNvSpPr>
            <a:spLocks xmlns:a="http://schemas.openxmlformats.org/drawingml/2006/main" noGrp="1"/>
          </p:cNvSpPr>
          <p:nvPr/>
        </p:nvSpPr>
        <p:spPr>
          <a:xfrm xmlns:a="http://schemas.openxmlformats.org/drawingml/2006/main">
            <a:off x="685800" y="53054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72E40"/>
                </a:solidFill>
                <a:latin typeface="Arial"/>
                <a:ea typeface="Arial"/>
                <a:cs typeface="Arial"/>
              </a:defRPr>
            </a:defPPr>
            <a:lvl1pPr>
              <a:defRPr sz="1950" b="0">
                <a:solidFill>
                  <a:srgbClr val="172E40"/>
                </a:solidFill>
                <a:latin typeface="Arial"/>
                <a:ea typeface="Arial"/>
                <a:cs typeface="Arial"/>
              </a:defRPr>
            </a:lvl1pPr>
            <a:lvl2pPr>
              <a:defRPr sz="1950" b="0">
                <a:solidFill>
                  <a:srgbClr val="172E40"/>
                </a:solidFill>
                <a:latin typeface="Arial"/>
                <a:ea typeface="Arial"/>
                <a:cs typeface="Arial"/>
              </a:defRPr>
            </a:lvl2pPr>
            <a:lvl3pPr>
              <a:defRPr sz="1950" b="0">
                <a:solidFill>
                  <a:srgbClr val="172E40"/>
                </a:solidFill>
                <a:latin typeface="Arial"/>
                <a:ea typeface="Arial"/>
                <a:cs typeface="Arial"/>
              </a:defRPr>
            </a:lvl3pPr>
            <a:lvl4pPr>
              <a:defRPr sz="1950" b="0">
                <a:solidFill>
                  <a:srgbClr val="172E40"/>
                </a:solidFill>
                <a:latin typeface="Arial"/>
                <a:ea typeface="Arial"/>
                <a:cs typeface="Arial"/>
              </a:defRPr>
            </a:lvl4pPr>
            <a:lvl5pPr>
              <a:defRPr sz="1950" b="0">
                <a:solidFill>
                  <a:srgbClr val="172E40"/>
                </a:solidFill>
                <a:latin typeface="Arial"/>
                <a:ea typeface="Arial"/>
                <a:cs typeface="Arial"/>
              </a:defRPr>
            </a:lvl5pPr>
            <a:lvl6pPr>
              <a:defRPr sz="1950" b="0">
                <a:solidFill>
                  <a:srgbClr val="172E40"/>
                </a:solidFill>
                <a:latin typeface="Arial"/>
                <a:ea typeface="Arial"/>
                <a:cs typeface="Arial"/>
              </a:defRPr>
            </a:lvl6pPr>
            <a:lvl7pPr>
              <a:defRPr sz="1950" b="0">
                <a:solidFill>
                  <a:srgbClr val="172E40"/>
                </a:solidFill>
                <a:latin typeface="Arial"/>
                <a:ea typeface="Arial"/>
                <a:cs typeface="Arial"/>
              </a:defRPr>
            </a:lvl7pPr>
            <a:lvl8pPr>
              <a:defRPr sz="1950" b="0">
                <a:solidFill>
                  <a:srgbClr val="172E40"/>
                </a:solidFill>
                <a:latin typeface="Arial"/>
                <a:ea typeface="Arial"/>
                <a:cs typeface="Arial"/>
              </a:defRPr>
            </a:lvl8pPr>
            <a:lvl9pPr>
              <a:defRPr sz="1950" b="0">
                <a:solidFill>
                  <a:srgbClr val="172E40"/>
                </a:solidFill>
                <a:latin typeface="Arial"/>
                <a:ea typeface="Arial"/>
                <a:cs typeface="Arial"/>
              </a:defRPr>
            </a:lvl9pPr>
          </a:lstStyle>
          <a:p xmlns:a="http://schemas.openxmlformats.org/drawingml/2006/main">
            <a:pPr>
              <a:defRPr sz="1950" b="0">
                <a:solidFill>
                  <a:srgbClr val="172E40"/>
                </a:solidFill>
                <a:latin typeface="Arial"/>
                <a:ea typeface="Arial"/>
                <a:cs typeface="Arial"/>
              </a:defRPr>
            </a:pPr>
            <a:r>
              <a:rPr sz="1950" b="0">
                <a:solidFill>
                  <a:srgbClr val="172E40"/>
                </a:solidFill>
                <a:latin typeface="Arial"/>
                <a:ea typeface="Arial"/>
                <a:cs typeface="Arial"/>
              </a:rPr>
              <a:t>Freeze source-linked human labels on new financial statements, then evaluate both models once.</a:t>
            </a:r>
          </a:p>
        </p:txBody>
      </p:sp>
    </p:spTree>
    <p:extLst>
      <p:ext uri="{BB962C8B-B14F-4D97-AF65-F5344CB8AC3E}">
        <p14:creationId xmlns:p14="http://schemas.microsoft.com/office/powerpoint/2010/main" val="1714044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2026-10-28T21:25:49.0240000Z</dcterms:created>
  <dcterms:modified xsi:type="dcterms:W3CDTF">2026-10-28T21:25:49.0240000Z</dcterms:modified>
</coreProperties>
</file>