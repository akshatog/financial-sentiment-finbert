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04b492359f4fef" /><Relationship Type="http://schemas.openxmlformats.org/officeDocument/2006/relationships/extended-properties" Target="/docProps/app.xml" Id="R9edd7abe5584443d" /><Relationship Type="http://schemas.openxmlformats.org/officeDocument/2006/relationships/officeDocument" Target="/ppt/presentation.xml" Id="R8b7f50238cc241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cf60456b5b41b4"/>
  </p:sldMasterIdLst>
  <p:notesMasterIdLst>
    <p:notesMasterId xmlns:r="http://schemas.openxmlformats.org/officeDocument/2006/relationships" r:id="R37523261f7624760"/>
  </p:notesMasterIdLst>
  <p:sldIdLst>
    <p:sldId xmlns:r="http://schemas.openxmlformats.org/officeDocument/2006/relationships" id="256" r:id="R6474a4e4c20d436b"/>
    <p:sldId xmlns:r="http://schemas.openxmlformats.org/officeDocument/2006/relationships" id="257" r:id="R2452a5cb309d49ca"/>
    <p:sldId xmlns:r="http://schemas.openxmlformats.org/officeDocument/2006/relationships" id="258" r:id="R25f21caab8594c15"/>
    <p:sldId xmlns:r="http://schemas.openxmlformats.org/officeDocument/2006/relationships" id="259" r:id="Rf8fd1eb77f75459e"/>
    <p:sldId xmlns:r="http://schemas.openxmlformats.org/officeDocument/2006/relationships" id="260" r:id="Rb0f6bbe2ad8c4ec9"/>
    <p:sldId xmlns:r="http://schemas.openxmlformats.org/officeDocument/2006/relationships" id="261" r:id="Rcad43f379d194a5a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961e9d004245ee" /><Relationship Type="http://schemas.openxmlformats.org/officeDocument/2006/relationships/slideMaster" Target="/ppt/slideMasters/slideMaster1.xml" Id="R8dcf60456b5b41b4" /><Relationship Type="http://schemas.openxmlformats.org/officeDocument/2006/relationships/notesMaster" Target="/ppt/notesMasters/notesMaster1.xml" Id="R37523261f7624760" /><Relationship Type="http://schemas.openxmlformats.org/officeDocument/2006/relationships/presProps" Target="/ppt/presProps.xml" Id="R5c26acdc1ac44940" /><Relationship Type="http://schemas.openxmlformats.org/officeDocument/2006/relationships/viewProps" Target="/ppt/viewProps.xml" Id="Rd42cf9b9386748a1" /><Relationship Type="http://schemas.openxmlformats.org/officeDocument/2006/relationships/tableStyles" Target="/ppt/tableStyles.xml" Id="Rf62e0d02b03041e0" /><Relationship Type="http://schemas.openxmlformats.org/officeDocument/2006/relationships/slide" Target="/ppt/slides/slide1.xml" Id="R6474a4e4c20d436b" /><Relationship Type="http://schemas.openxmlformats.org/officeDocument/2006/relationships/slide" Target="/ppt/slides/slide2.xml" Id="R2452a5cb309d49ca" /><Relationship Type="http://schemas.openxmlformats.org/officeDocument/2006/relationships/slide" Target="/ppt/slides/slide3.xml" Id="R25f21caab8594c15" /><Relationship Type="http://schemas.openxmlformats.org/officeDocument/2006/relationships/slide" Target="/ppt/slides/slide4.xml" Id="Rf8fd1eb77f75459e" /><Relationship Type="http://schemas.openxmlformats.org/officeDocument/2006/relationships/slide" Target="/ppt/slides/slide5.xml" Id="Rb0f6bbe2ad8c4ec9" /><Relationship Type="http://schemas.openxmlformats.org/officeDocument/2006/relationships/slide" Target="/ppt/slides/slide6.xml" Id="Rcad43f379d194a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e217585de840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odeDoc Teal">
  <a:themeElements>
    <a:clrScheme name="CodeDoc Teal">
      <a:dk1>
        <a:srgbClr val="1B2A2F"/>
      </a:dk1>
      <a:lt1>
        <a:srgbClr val="FFFFFF"/>
      </a:lt1>
      <a:dk2>
        <a:srgbClr val="0B3C49"/>
      </a:dk2>
      <a:lt2>
        <a:srgbClr val="EAF4F4"/>
      </a:lt2>
      <a:accent1>
        <a:srgbClr val="028090"/>
      </a:accent1>
      <a:accent2>
        <a:srgbClr val="02C39A"/>
      </a:accent2>
      <a:accent3>
        <a:srgbClr val="F2A541"/>
      </a:accent3>
      <a:accent4>
        <a:srgbClr val="C8553D"/>
      </a:accent4>
      <a:accent5>
        <a:srgbClr val="4F5B66"/>
      </a:accent5>
      <a:accent6>
        <a:srgbClr val="00A896"/>
      </a:accent6>
      <a:hlink>
        <a:srgbClr val="028090"/>
      </a:hlink>
      <a:folHlink>
        <a:srgbClr val="4F5B66"/>
      </a:folHlink>
    </a:clrScheme>
    <a:fontScheme name="CodeDoc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deDoc Te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417fb8a96543b5" /><Relationship Type="http://schemas.openxmlformats.org/officeDocument/2006/relationships/notesMaster" Target="/ppt/notesMasters/notesMaster1.xml" Id="Rc07a9669a36644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3df199676643e4" /><Relationship Type="http://schemas.openxmlformats.org/officeDocument/2006/relationships/notesMaster" Target="/ppt/notesMasters/notesMaster1.xml" Id="R498b3f55eca04b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6c2bae11bd431b" /><Relationship Type="http://schemas.openxmlformats.org/officeDocument/2006/relationships/notesMaster" Target="/ppt/notesMasters/notesMaster1.xml" Id="R0aed0d6752794c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2c34b51c754a18" /><Relationship Type="http://schemas.openxmlformats.org/officeDocument/2006/relationships/notesMaster" Target="/ppt/notesMasters/notesMaster1.xml" Id="Rc9d6a17042fe4e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43940282e84bf6" /><Relationship Type="http://schemas.openxmlformats.org/officeDocument/2006/relationships/notesMaster" Target="/ppt/notesMasters/notesMaster1.xml" Id="R8cf7ebba549d45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47bca90c9641db" /><Relationship Type="http://schemas.openxmlformats.org/officeDocument/2006/relationships/notesMaster" Target="/ppt/notesMasters/notesMaster1.xml" Id="R5eff19ccdaf34e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Financial News Sentiment Analysis Using FinBERT. Akshat Agarwal, 202401100100028, CS-5A. Faculty: Kriti Sharma. KIET Group of Institutions, Ghaziabad. Live app: https://financial-sentiment-akshatog.streamlit.app/ GitHub: https://github.com/akshatog/financial-sentiment-finbert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uses yiyanghkust/finbert-pretrain, a finance-domain pretrained BERT model, and fully fine-tunes its encoder and a three-class classification head on the saved training split. All 109,754,115 parameters are trainable. An attention-query weight changes after training. Source: https://huggingface.co/yiyanghkust/finbert-pretrain . Evidence: models/finbert_finetuned/training_manifest.json. This is distinct from the published ProsusAI/finbert sentiment checkpoint.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source: https://huggingface.co/datasets/takala/financial_phrasebank . Raw 4,846 rows; six matching duplicates removed; four conflicting-label rows quarantined. Clean 4,836 rows. Seed 42 splits: 3,385 / 725 / 726, with zero normalized overlap. C=2 selected on validation macro F1. Evidence: outputs/dataset_audit.json and models/baseline_metadata.json.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come from outputs/evaluation.json and outputs/finetuning/evaluation.json. Majority, TF-IDF and student fine-tuned FinBERT use the same 726-row test split. Student model accuracy: 0.8512396694214877; macro F1: 0.8446063720591761. Gains over TF-IDF are descriptive percentage-point differences, not a statistical significance claim. Separate Prosus reference has known PhraseBank sentiment-training exposure and is not a fair unseen-data benchmark. Unpublished pretraining overlap for HKUST is not established.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models/finbert_finetuned/training_history.json and training_manifest.json. Per-epoch validation macro F1: epoch 1 81.40% at step 212, epoch 2 81.92% at step 424, epoch 3 81.87% at step 636. Best checkpoint: models/finbert_finetuned/checkpoints/checkpoint-424. The final history entry re-evaluates restored checkpoint 424 and must not replace the original epoch-3 result. Run elapsed time 470.172 seconds, 636 optimizer steps, Tesla T4. Independent human review of new examples remains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4 mapping: BERT encoder architecture, self-attention, WordPiece tokenization, the data-to-fine-tuning pipeline and applied text sentiment analysis. Full supervised fine-tuning updates all BERT parameters. Live app: https://financial-sentiment-akshatog.streamlit.app/ GitHub: https://github.com/akshatog/financial-sentiment-finbert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2a2b2ea8340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91f8c6d9746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585353845c43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c71f2a6eb425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_DAR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7930117-94D7-4680-B990-7B6033D4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</p:sp>
    </p:spTree>
  </p:cSld>
</p:sldLayout>
</file>

<file path=ppt/slideLayouts/slideLayout3.xml><?xml version="1.0" encoding="utf-8"?>
<p:sldLayout xmlns:p="http://schemas.openxmlformats.org/presentationml/2006/main" preserve="1">
  <p:cSld name="CONTENT_L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08633F0-13CB-4032-8BDD-AC8C108E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9380C11-E36D-4C0F-89EE-2A5294B6A82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F5B6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1003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9159F06-3A16-498F-8F47-EBA58458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CDEF106-22A4-4FD0-924D-B55E8040749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B8D4D8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1004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0f4122f5754106" /><Relationship Type="http://schemas.openxmlformats.org/officeDocument/2006/relationships/slideLayout" Target="/ppt/slideLayouts/slideLayout1.xml" Id="R64bae69be0504bf7" /><Relationship Type="http://schemas.openxmlformats.org/officeDocument/2006/relationships/slideLayout" Target="/ppt/slideLayouts/slideLayout2.xml" Id="R387efdd834894bd4" /><Relationship Type="http://schemas.openxmlformats.org/officeDocument/2006/relationships/slideLayout" Target="/ppt/slideLayouts/slideLayout3.xml" Id="R301f652479464226" /><Relationship Type="http://schemas.openxmlformats.org/officeDocument/2006/relationships/slideLayout" Target="/ppt/slideLayouts/slideLayout4.xml" Id="R8054c68987894be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59B031E-7B2B-4A0F-AFBA-AFE0F6E0CAC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F5B6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bae69be0504bf7"/>
    <p:sldLayoutId xmlns:r="http://schemas.openxmlformats.org/officeDocument/2006/relationships" id="2147483650" r:id="R387efdd834894bd4"/>
    <p:sldLayoutId xmlns:r="http://schemas.openxmlformats.org/officeDocument/2006/relationships" id="2147483651" r:id="R301f652479464226"/>
    <p:sldLayoutId xmlns:r="http://schemas.openxmlformats.org/officeDocument/2006/relationships" id="2147483652" r:id="R8054c68987894be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odeDoc Teal">
  <a:themeElements>
    <a:clrScheme name="CodeDoc Teal">
      <a:dk1>
        <a:srgbClr val="1B2A2F"/>
      </a:dk1>
      <a:lt1>
        <a:srgbClr val="FFFFFF"/>
      </a:lt1>
      <a:dk2>
        <a:srgbClr val="0B3C49"/>
      </a:dk2>
      <a:lt2>
        <a:srgbClr val="EAF4F4"/>
      </a:lt2>
      <a:accent1>
        <a:srgbClr val="028090"/>
      </a:accent1>
      <a:accent2>
        <a:srgbClr val="02C39A"/>
      </a:accent2>
      <a:accent3>
        <a:srgbClr val="F2A541"/>
      </a:accent3>
      <a:accent4>
        <a:srgbClr val="C8553D"/>
      </a:accent4>
      <a:accent5>
        <a:srgbClr val="4F5B66"/>
      </a:accent5>
      <a:accent6>
        <a:srgbClr val="00A896"/>
      </a:accent6>
      <a:hlink>
        <a:srgbClr val="028090"/>
      </a:hlink>
      <a:folHlink>
        <a:srgbClr val="4F5B66"/>
      </a:folHlink>
    </a:clrScheme>
    <a:fontScheme name="CodeDoc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deDoc Te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f45ed4cf944cee" /><Relationship Type="http://schemas.openxmlformats.org/officeDocument/2006/relationships/notesSlide" Target="/ppt/notesSlides/notesSlide1.xml" Id="R52121f75a7ce4b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974ac7e5434524" /><Relationship Type="http://schemas.openxmlformats.org/officeDocument/2006/relationships/notesSlide" Target="/ppt/notesSlides/notesSlide2.xml" Id="Rddefadfd68a643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6e473fd82f14675" /><Relationship Type="http://schemas.openxmlformats.org/officeDocument/2006/relationships/notesSlide" Target="/ppt/notesSlides/notesSlide3.xml" Id="Re1d9e7c3be1647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11b3f6c7674446" /><Relationship Type="http://schemas.openxmlformats.org/officeDocument/2006/relationships/notesSlide" Target="/ppt/notesSlides/notesSlide4.xml" Id="Rcb991fc151b347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aee68db0ad4441" /><Relationship Type="http://schemas.openxmlformats.org/officeDocument/2006/relationships/notesSlide" Target="/ppt/notesSlides/notesSlide5.xml" Id="Raf6127c08d0a45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030c81bf630475b" /><Relationship Type="http://schemas.openxmlformats.org/officeDocument/2006/relationships/hyperlink" Target="https://financial-sentiment-akshatog.streamlit.app/" TargetMode="External" Id="Rd7eb7943bddf45b3" /><Relationship Type="http://schemas.openxmlformats.org/officeDocument/2006/relationships/notesSlide" Target="/ppt/notesSlides/notesSlide6.xml" Id="R1702a75f1b4d485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5924F28-3134-4D0B-8A8D-A077C068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384048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l"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Financial News</a:t>
            </a:r>
            <a:endParaRPr sz="4800"/>
          </a:p>
          <a:p xmlns:a="http://schemas.openxmlformats.org/drawingml/2006/main">
            <a:pPr marL="0" indent="0" algn="l"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Sentiment Analysis</a:t>
            </a:r>
            <a:endParaRPr sz="4800"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7103D06-0192-42ED-B9A2-703ADEA3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3840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accent2"/>
                </a:solidFill>
              </a:rPr>
              <a:t>Using FinBERT</a:t>
            </a:r>
            <a:endParaRPr sz="2200"/>
          </a:p>
        </p:txBody>
      </p:sp>
      <p:sp>
        <p:nvSpPr>
          <p:cNvPr id="4" name="IntroCard1">
            <a:extLst xmlns:a="http://schemas.openxmlformats.org/drawingml/2006/main">
              <a:ext uri="{FF2B5EF4-FFF2-40B4-BE49-F238E27FC236}">
                <a16:creationId xmlns:a16="http://schemas.microsoft.com/office/drawing/2014/main" id="{15CA4E75-20D9-479F-962E-A0687DCD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02920"/>
            <a:ext cx="4023360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chemeClr val="bg1">
              <a:alpha val="12000"/>
            </a:schemeClr>
          </a:solidFill>
        </p:spPr>
      </p:sp>
      <p:sp>
        <p:nvSpPr>
          <p:cNvPr id="5" name="IntroText1">
            <a:extLst xmlns:a="http://schemas.openxmlformats.org/drawingml/2006/main">
              <a:ext uri="{FF2B5EF4-FFF2-40B4-BE49-F238E27FC236}">
                <a16:creationId xmlns:a16="http://schemas.microsoft.com/office/drawing/2014/main" id="{5548F6D8-24A0-48E6-9A91-316CB42A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576072"/>
            <a:ext cx="365760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accent2"/>
                </a:solidFill>
              </a:rPr>
              <a:t>Task: </a:t>
            </a:r>
            <a:r>
              <a:rPr sz="1400">
                <a:solidFill>
                  <a:schemeClr val="bg1"/>
                </a:solidFill>
              </a:rPr>
              <a:t>Classifies short English financial text as positive, negative or neutral.</a:t>
            </a:r>
            <a:endParaRPr sz="1400"/>
          </a:p>
        </p:txBody>
      </p:sp>
      <p:sp>
        <p:nvSpPr>
          <p:cNvPr id="6" name="IntroCard2">
            <a:extLst xmlns:a="http://schemas.openxmlformats.org/drawingml/2006/main">
              <a:ext uri="{FF2B5EF4-FFF2-40B4-BE49-F238E27FC236}">
                <a16:creationId xmlns:a16="http://schemas.microsoft.com/office/drawing/2014/main" id="{6A4B6383-165C-45B4-940C-673ED115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554480"/>
            <a:ext cx="4023360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chemeClr val="bg1">
              <a:alpha val="12000"/>
            </a:schemeClr>
          </a:solidFill>
        </p:spPr>
      </p:sp>
      <p:sp>
        <p:nvSpPr>
          <p:cNvPr id="7" name="IntroText2">
            <a:extLst xmlns:a="http://schemas.openxmlformats.org/drawingml/2006/main">
              <a:ext uri="{FF2B5EF4-FFF2-40B4-BE49-F238E27FC236}">
                <a16:creationId xmlns:a16="http://schemas.microsoft.com/office/drawing/2014/main" id="{C3EE8423-7878-4E6F-9666-A552E01F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27632"/>
            <a:ext cx="365760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accent2"/>
                </a:solidFill>
              </a:rPr>
              <a:t>Model: </a:t>
            </a:r>
            <a:r>
              <a:rPr sz="1400">
                <a:solidFill>
                  <a:schemeClr val="bg1"/>
                </a:solidFill>
              </a:rPr>
              <a:t>HKUST FinBERT with full supervised fine-tuning on the project training split.</a:t>
            </a:r>
            <a:endParaRPr sz="1400"/>
          </a:p>
        </p:txBody>
      </p:sp>
      <p:sp>
        <p:nvSpPr>
          <p:cNvPr id="8" name="IntroCard3">
            <a:extLst xmlns:a="http://schemas.openxmlformats.org/drawingml/2006/main">
              <a:ext uri="{FF2B5EF4-FFF2-40B4-BE49-F238E27FC236}">
                <a16:creationId xmlns:a16="http://schemas.microsoft.com/office/drawing/2014/main" id="{40610A32-3703-4A30-8961-8CB1C103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06040"/>
            <a:ext cx="4023360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chemeClr val="bg1">
              <a:alpha val="12000"/>
            </a:schemeClr>
          </a:solidFill>
        </p:spPr>
      </p:sp>
      <p:sp>
        <p:nvSpPr>
          <p:cNvPr id="9" name="IntroText3">
            <a:extLst xmlns:a="http://schemas.openxmlformats.org/drawingml/2006/main">
              <a:ext uri="{FF2B5EF4-FFF2-40B4-BE49-F238E27FC236}">
                <a16:creationId xmlns:a16="http://schemas.microsoft.com/office/drawing/2014/main" id="{57FCE5BA-D98D-43B3-989B-D3C11583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79192"/>
            <a:ext cx="365760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accent2"/>
                </a:solidFill>
              </a:rPr>
              <a:t>Stack: </a:t>
            </a:r>
            <a:r>
              <a:rPr sz="1400">
                <a:solidFill>
                  <a:schemeClr val="bg1"/>
                </a:solidFill>
              </a:rPr>
              <a:t>Python, Transformers, PyTorch, scikit-learn and Streamlit.</a:t>
            </a:r>
            <a:endParaRPr sz="1400"/>
          </a:p>
        </p:txBody>
      </p:sp>
      <p:sp>
        <p:nvSpPr>
          <p:cNvPr id="10" name="IntroCard4">
            <a:extLst xmlns:a="http://schemas.openxmlformats.org/drawingml/2006/main">
              <a:ext uri="{FF2B5EF4-FFF2-40B4-BE49-F238E27FC236}">
                <a16:creationId xmlns:a16="http://schemas.microsoft.com/office/drawing/2014/main" id="{E377F59F-4EC1-430C-8EE5-FE2746A9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57600"/>
            <a:ext cx="4023360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chemeClr val="bg1">
              <a:alpha val="12000"/>
            </a:schemeClr>
          </a:solidFill>
        </p:spPr>
      </p:sp>
      <p:sp>
        <p:nvSpPr>
          <p:cNvPr id="11" name="IntroText4">
            <a:extLst xmlns:a="http://schemas.openxmlformats.org/drawingml/2006/main">
              <a:ext uri="{FF2B5EF4-FFF2-40B4-BE49-F238E27FC236}">
                <a16:creationId xmlns:a16="http://schemas.microsoft.com/office/drawing/2014/main" id="{20A7DA80-E31D-4410-87F0-E87FFE56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30752"/>
            <a:ext cx="365760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accent2"/>
                </a:solidFill>
              </a:rPr>
              <a:t>Objective: </a:t>
            </a:r>
            <a:r>
              <a:rPr sz="1400">
                <a:solidFill>
                  <a:schemeClr val="bg1"/>
                </a:solidFill>
              </a:rPr>
              <a:t>Compare a fine-tuned Transformer against majority and TF-IDF baselines on the same test split.</a:t>
            </a:r>
            <a:endParaRPr sz="1400"/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D529F-4427-4D64-B0CE-E5120A59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46120"/>
            <a:ext cx="384048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Akshat Agarwal</a:t>
            </a:r>
          </a:p>
          <a:p xmlns:a="http://schemas.openxmlformats.org/drawingml/2006/main">
            <a: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Roll No. 202401100100028, CS-5A</a:t>
            </a:r>
          </a:p>
          <a:p xmlns:a="http://schemas.openxmlformats.org/drawingml/2006/main">
            <a: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Faculty: Kriti Sharma</a:t>
            </a:r>
          </a:p>
          <a:p xmlns:a="http://schemas.openxmlformats.org/drawingml/2006/main">
            <a: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KIET Group of Institutions, Ghaziabad</a:t>
            </a:r>
          </a:p>
        </p:txBody>
      </p:sp>
    </p:spTree>
    <p:extLst>
      <p:ext uri="{BB962C8B-B14F-4D97-AF65-F5344CB8AC3E}">
        <p14:creationId xmlns:p14="http://schemas.microsoft.com/office/powerpoint/2010/main" val="13763066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50FEE8C-6388-4907-B0AE-403B9DD4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chemeClr val="tx2"/>
                </a:solidFill>
              </a:rPr>
              <a:t>How the Transformer Works</a:t>
            </a:r>
            <a:endParaRPr sz="3400"/>
          </a:p>
        </p:txBody>
      </p:sp>
      <p:sp>
        <p:nvSpPr>
          <p:cNvPr id="3" name="FlowBox1">
            <a:extLst xmlns:a="http://schemas.openxmlformats.org/drawingml/2006/main">
              <a:ext uri="{FF2B5EF4-FFF2-40B4-BE49-F238E27FC236}">
                <a16:creationId xmlns:a16="http://schemas.microsoft.com/office/drawing/2014/main" id="{7C6AEEC9-D351-4B82-93AD-B4369E54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141732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3C49"/>
          </a:solidFill>
        </p:spPr>
      </p:sp>
      <p:sp>
        <p:nvSpPr>
          <p:cNvPr id="4" name="FlowText1">
            <a:extLst xmlns:a="http://schemas.openxmlformats.org/drawingml/2006/main">
              <a:ext uri="{FF2B5EF4-FFF2-40B4-BE49-F238E27FC236}">
                <a16:creationId xmlns:a16="http://schemas.microsoft.com/office/drawing/2014/main" id="{D8A333D0-BABD-4257-A523-837D9730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0"/>
            <a:ext cx="13258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Financial Text</a:t>
            </a:r>
            <a:endParaRPr sz="1400"/>
          </a:p>
        </p:txBody>
      </p:sp>
      <p:sp>
        <p:nvSpPr>
          <p:cNvPr id="5" name="FlowArrow1">
            <a:extLst xmlns:a="http://schemas.openxmlformats.org/drawingml/2006/main">
              <a:ext uri="{FF2B5EF4-FFF2-40B4-BE49-F238E27FC236}">
                <a16:creationId xmlns:a16="http://schemas.microsoft.com/office/drawing/2014/main" id="{CB80B2FB-00B8-420A-9D63-64A27E6F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417320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6" name="FlowBox2">
            <a:extLst xmlns:a="http://schemas.openxmlformats.org/drawingml/2006/main">
              <a:ext uri="{FF2B5EF4-FFF2-40B4-BE49-F238E27FC236}">
                <a16:creationId xmlns:a16="http://schemas.microsoft.com/office/drawing/2014/main" id="{4436A177-9215-4C6E-A6C4-C3037317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84" y="1188720"/>
            <a:ext cx="141732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7" name="FlowText2">
            <a:extLst xmlns:a="http://schemas.openxmlformats.org/drawingml/2006/main">
              <a:ext uri="{FF2B5EF4-FFF2-40B4-BE49-F238E27FC236}">
                <a16:creationId xmlns:a16="http://schemas.microsoft.com/office/drawing/2014/main" id="{5A0BA3EF-6A53-47C4-8C39-848EF127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704" y="1188720"/>
            <a:ext cx="13258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Tokenization</a:t>
            </a:r>
            <a:endParaRPr sz="1400"/>
          </a:p>
        </p:txBody>
      </p:sp>
      <p:sp>
        <p:nvSpPr>
          <p:cNvPr id="8" name="FlowArrow2">
            <a:extLst xmlns:a="http://schemas.openxmlformats.org/drawingml/2006/main">
              <a:ext uri="{FF2B5EF4-FFF2-40B4-BE49-F238E27FC236}">
                <a16:creationId xmlns:a16="http://schemas.microsoft.com/office/drawing/2014/main" id="{DF65A8CF-61FE-48A4-827F-28BEFFFA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24" y="1417320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9" name="FlowBox3">
            <a:extLst xmlns:a="http://schemas.openxmlformats.org/drawingml/2006/main">
              <a:ext uri="{FF2B5EF4-FFF2-40B4-BE49-F238E27FC236}">
                <a16:creationId xmlns:a16="http://schemas.microsoft.com/office/drawing/2014/main" id="{F2D9E9F4-C97A-474E-8434-64B30806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1188720"/>
            <a:ext cx="141732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0" name="FlowText3">
            <a:extLst xmlns:a="http://schemas.openxmlformats.org/drawingml/2006/main">
              <a:ext uri="{FF2B5EF4-FFF2-40B4-BE49-F238E27FC236}">
                <a16:creationId xmlns:a16="http://schemas.microsoft.com/office/drawing/2014/main" id="{8B5DC5FF-79CF-4556-8504-4A338D9A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1188720"/>
            <a:ext cx="13258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BERT Encoder</a:t>
            </a:r>
            <a:endParaRPr sz="1400"/>
          </a:p>
        </p:txBody>
      </p:sp>
      <p:sp>
        <p:nvSpPr>
          <p:cNvPr id="11" name="FlowArrow3">
            <a:extLst xmlns:a="http://schemas.openxmlformats.org/drawingml/2006/main">
              <a:ext uri="{FF2B5EF4-FFF2-40B4-BE49-F238E27FC236}">
                <a16:creationId xmlns:a16="http://schemas.microsoft.com/office/drawing/2014/main" id="{8B00CB0F-63F1-422F-A8D8-53EC7CE3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1417320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12" name="FlowBox4">
            <a:extLst xmlns:a="http://schemas.openxmlformats.org/drawingml/2006/main">
              <a:ext uri="{FF2B5EF4-FFF2-40B4-BE49-F238E27FC236}">
                <a16:creationId xmlns:a16="http://schemas.microsoft.com/office/drawing/2014/main" id="{5993F371-8B67-48C8-9FE4-66E96F22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1188720"/>
            <a:ext cx="141732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3" name="FlowText4">
            <a:extLst xmlns:a="http://schemas.openxmlformats.org/drawingml/2006/main">
              <a:ext uri="{FF2B5EF4-FFF2-40B4-BE49-F238E27FC236}">
                <a16:creationId xmlns:a16="http://schemas.microsoft.com/office/drawing/2014/main" id="{A3DF7F3D-1785-4844-A337-4C01F542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1188720"/>
            <a:ext cx="13258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Classification Head</a:t>
            </a:r>
            <a:endParaRPr sz="1400"/>
          </a:p>
        </p:txBody>
      </p:sp>
      <p:sp>
        <p:nvSpPr>
          <p:cNvPr id="14" name="FlowArrow4">
            <a:extLst xmlns:a="http://schemas.openxmlformats.org/drawingml/2006/main">
              <a:ext uri="{FF2B5EF4-FFF2-40B4-BE49-F238E27FC236}">
                <a16:creationId xmlns:a16="http://schemas.microsoft.com/office/drawing/2014/main" id="{5997DD3E-1EEE-43C9-BFE3-97AC31D4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1417320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15" name="FlowBox5">
            <a:extLst xmlns:a="http://schemas.openxmlformats.org/drawingml/2006/main">
              <a:ext uri="{FF2B5EF4-FFF2-40B4-BE49-F238E27FC236}">
                <a16:creationId xmlns:a16="http://schemas.microsoft.com/office/drawing/2014/main" id="{D7B3F839-24B5-4EB0-B600-8A58E674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188720"/>
            <a:ext cx="141732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3C49"/>
          </a:solidFill>
        </p:spPr>
      </p:sp>
      <p:sp>
        <p:nvSpPr>
          <p:cNvPr id="16" name="FlowText5">
            <a:extLst xmlns:a="http://schemas.openxmlformats.org/drawingml/2006/main">
              <a:ext uri="{FF2B5EF4-FFF2-40B4-BE49-F238E27FC236}">
                <a16:creationId xmlns:a16="http://schemas.microsoft.com/office/drawing/2014/main" id="{19BBF10E-5308-423B-92D6-8E482926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1188720"/>
            <a:ext cx="13258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Sentiment Label</a:t>
            </a:r>
            <a:endParaRPr sz="1400"/>
          </a:p>
        </p:txBody>
      </p:sp>
      <p:sp>
        <p:nvSpPr>
          <p:cNvPr id="17" name="StepCard1">
            <a:extLst xmlns:a="http://schemas.openxmlformats.org/drawingml/2006/main">
              <a:ext uri="{FF2B5EF4-FFF2-40B4-BE49-F238E27FC236}">
                <a16:creationId xmlns:a16="http://schemas.microsoft.com/office/drawing/2014/main" id="{4541C07C-22E5-4405-B6E1-E6AC0669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884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18" name="StepText1">
            <a:extLst xmlns:a="http://schemas.openxmlformats.org/drawingml/2006/main">
              <a:ext uri="{FF2B5EF4-FFF2-40B4-BE49-F238E27FC236}">
                <a16:creationId xmlns:a16="http://schemas.microsoft.com/office/drawing/2014/main" id="{F8E88299-5C98-444D-8E94-D70B2706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22860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chemeClr val="tx2"/>
                </a:solidFill>
              </a:rPr>
              <a:t>Tokenization</a:t>
            </a:r>
            <a:endParaRPr sz="16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chemeClr val="tx1"/>
                </a:solidFill>
              </a:rPr>
              <a:t>Converts financial text into WordPiece token IDs.</a:t>
            </a:r>
            <a:endParaRPr sz="1600"/>
          </a:p>
        </p:txBody>
      </p:sp>
      <p:sp>
        <p:nvSpPr>
          <p:cNvPr id="19" name="StepCard2">
            <a:extLst xmlns:a="http://schemas.openxmlformats.org/drawingml/2006/main">
              <a:ext uri="{FF2B5EF4-FFF2-40B4-BE49-F238E27FC236}">
                <a16:creationId xmlns:a16="http://schemas.microsoft.com/office/drawing/2014/main" id="{A53D673B-E5FA-4046-AC45-549C2E63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4884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20" name="StepText2">
            <a:extLst xmlns:a="http://schemas.openxmlformats.org/drawingml/2006/main">
              <a:ext uri="{FF2B5EF4-FFF2-40B4-BE49-F238E27FC236}">
                <a16:creationId xmlns:a16="http://schemas.microsoft.com/office/drawing/2014/main" id="{0D3B0575-841A-4374-AF69-04B7396E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2860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chemeClr val="tx2"/>
                </a:solidFill>
              </a:rPr>
              <a:t>Encoder</a:t>
            </a:r>
            <a:endParaRPr sz="16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chemeClr val="tx1"/>
                </a:solidFill>
              </a:rPr>
              <a:t>Uses self-attention to represent words in their surrounding context.</a:t>
            </a:r>
            <a:endParaRPr sz="1600"/>
          </a:p>
        </p:txBody>
      </p:sp>
      <p:sp>
        <p:nvSpPr>
          <p:cNvPr id="21" name="StepCard3">
            <a:extLst xmlns:a="http://schemas.openxmlformats.org/drawingml/2006/main">
              <a:ext uri="{FF2B5EF4-FFF2-40B4-BE49-F238E27FC236}">
                <a16:creationId xmlns:a16="http://schemas.microsoft.com/office/drawing/2014/main" id="{D218F308-58D2-4C52-B05B-E311FA91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14884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22" name="StepText3">
            <a:extLst xmlns:a="http://schemas.openxmlformats.org/drawingml/2006/main">
              <a:ext uri="{FF2B5EF4-FFF2-40B4-BE49-F238E27FC236}">
                <a16:creationId xmlns:a16="http://schemas.microsoft.com/office/drawing/2014/main" id="{8A025A14-0861-4880-8762-11EB930E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86000"/>
            <a:ext cx="22860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chemeClr val="tx2"/>
                </a:solidFill>
              </a:rPr>
              <a:t>Classification head</a:t>
            </a:r>
            <a:endParaRPr sz="16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chemeClr val="tx1"/>
                </a:solidFill>
              </a:rPr>
              <a:t>Maps the encoded statement to three sentiment logits.</a:t>
            </a:r>
            <a:endParaRPr sz="1600"/>
          </a:p>
        </p:txBody>
      </p:sp>
      <p:sp>
        <p:nvSpPr>
          <p:cNvPr id="23" name="StepCard4">
            <a:extLst xmlns:a="http://schemas.openxmlformats.org/drawingml/2006/main">
              <a:ext uri="{FF2B5EF4-FFF2-40B4-BE49-F238E27FC236}">
                <a16:creationId xmlns:a16="http://schemas.microsoft.com/office/drawing/2014/main" id="{5AEA9DEA-1915-4E97-88B5-9107A3A9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402336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24" name="StepText4">
            <a:extLst xmlns:a="http://schemas.openxmlformats.org/drawingml/2006/main">
              <a:ext uri="{FF2B5EF4-FFF2-40B4-BE49-F238E27FC236}">
                <a16:creationId xmlns:a16="http://schemas.microsoft.com/office/drawing/2014/main" id="{1DB70A7B-2E27-467E-90A1-2D594691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3657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chemeClr val="tx2"/>
                </a:solidFill>
              </a:rPr>
              <a:t>Full fine-tuning</a:t>
            </a:r>
            <a:endParaRPr sz="16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chemeClr val="tx1"/>
                </a:solidFill>
              </a:rPr>
              <a:t>Updates all BERT weights and the classification head using labeled training sentences.</a:t>
            </a:r>
            <a:endParaRPr sz="1600"/>
          </a:p>
        </p:txBody>
      </p:sp>
      <p:sp>
        <p:nvSpPr>
          <p:cNvPr id="25" name="StepCard5">
            <a:extLst xmlns:a="http://schemas.openxmlformats.org/drawingml/2006/main">
              <a:ext uri="{FF2B5EF4-FFF2-40B4-BE49-F238E27FC236}">
                <a16:creationId xmlns:a16="http://schemas.microsoft.com/office/drawing/2014/main" id="{968158F2-4DFB-49FA-BFE1-9642F4C9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11880"/>
            <a:ext cx="402336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26" name="StepText5">
            <a:extLst xmlns:a="http://schemas.openxmlformats.org/drawingml/2006/main">
              <a:ext uri="{FF2B5EF4-FFF2-40B4-BE49-F238E27FC236}">
                <a16:creationId xmlns:a16="http://schemas.microsoft.com/office/drawing/2014/main" id="{041299DE-EBBA-4E67-A3E9-7C0718D8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49040"/>
            <a:ext cx="3657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chemeClr val="tx2"/>
                </a:solidFill>
              </a:rPr>
              <a:t>Inference</a:t>
            </a:r>
            <a:endParaRPr sz="16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chemeClr val="tx1"/>
                </a:solidFill>
              </a:rPr>
              <a:t>Softmax produces three model scores. The highest named score selects the sentiment label.</a:t>
            </a:r>
            <a:endParaRPr sz="1600"/>
          </a:p>
        </p:txBody>
      </p:sp>
      <p:sp>
        <p:nvSpPr>
          <p:cNvPr id="2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D568E10-4A41-4C7F-A9E7-3EACC1A9A56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F5B6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4046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2B08C05-027D-47B9-AD0C-BDA9A452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chemeClr val="tx2"/>
                </a:solidFill>
              </a:rPr>
              <a:t>Training Pipeline: Three Model Routes</a:t>
            </a:r>
            <a:endParaRPr sz="3400"/>
          </a:p>
        </p:txBody>
      </p:sp>
      <p:graphicFrame>
        <p:nvGraphicFramePr>
          <p:cNvPr id="4" name="ExperimentTable">
            <a:extLst xmlns:a="http://schemas.openxmlformats.org/drawingml/2006/main">
              <a:ext uri="{FF2B5EF4-FFF2-40B4-BE49-F238E27FC236}">
                <a16:creationId xmlns:a16="http://schemas.microsoft.com/office/drawing/2014/main" id="{41725F9D-B092-44EE-A833-5F0ED1DD8BCD}"/>
              </a:ext>
            </a:extLst>
          </p:cNvPr>
          <p:cNvGraphicFramePr/>
          <p:nvPr/>
        </p:nvGraphicFramePr>
        <p:xfrm>
          <a:off xmlns:a="http://schemas.openxmlformats.org/drawingml/2006/main" x="457200" y="109728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828800"/>
                <a:gridCol w="2194560"/>
                <a:gridCol w="23774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Setting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Majority baseline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TF-IDF + logistic regression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Student fine-tuned FinBERT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Representation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Class frequency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Word unigrams + bigrams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Contextual BERT features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Training here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Training-label counts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3,385 training rows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3,385 rows, full fine-tuning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Selection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Neutral majority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C = 2 on validation macro F1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Epoch 2 on validation macro F1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Main purpose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Simple reference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Conventional baseline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Main application model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" name="ChangeCard1">
            <a:extLst xmlns:a="http://schemas.openxmlformats.org/drawingml/2006/main">
              <a:ext uri="{FF2B5EF4-FFF2-40B4-BE49-F238E27FC236}">
                <a16:creationId xmlns:a16="http://schemas.microsoft.com/office/drawing/2014/main" id="{8D60E8AD-C5CF-414A-955D-3EC532F5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4680"/>
            <a:ext cx="402336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5" name="ChangeText1">
            <a:extLst xmlns:a="http://schemas.openxmlformats.org/drawingml/2006/main">
              <a:ext uri="{FF2B5EF4-FFF2-40B4-BE49-F238E27FC236}">
                <a16:creationId xmlns:a16="http://schemas.microsoft.com/office/drawing/2014/main" id="{7C395AAB-E933-478A-B5CD-A60D7997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73552"/>
            <a:ext cx="3657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chemeClr val="tx2"/>
                </a:solidFill>
              </a:rPr>
              <a:t>Fine-tuning configuration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>
                <a:solidFill>
                  <a:schemeClr val="tx1"/>
                </a:solidFill>
              </a:rPr>
              <a:t>3 epochs, learning rate 2e-5, max length 128. Effective batch size 16 with FP16 on a Tesla T4.</a:t>
            </a:r>
            <a:endParaRPr sz="1400"/>
          </a:p>
        </p:txBody>
      </p:sp>
      <p:sp>
        <p:nvSpPr>
          <p:cNvPr id="6" name="ChangeCard2">
            <a:extLst xmlns:a="http://schemas.openxmlformats.org/drawingml/2006/main">
              <a:ext uri="{FF2B5EF4-FFF2-40B4-BE49-F238E27FC236}">
                <a16:creationId xmlns:a16="http://schemas.microsoft.com/office/drawing/2014/main" id="{E73C118A-E6B0-4A0B-A9C1-772E995E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154680"/>
            <a:ext cx="402336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7" name="ChangeText2">
            <a:extLst xmlns:a="http://schemas.openxmlformats.org/drawingml/2006/main">
              <a:ext uri="{FF2B5EF4-FFF2-40B4-BE49-F238E27FC236}">
                <a16:creationId xmlns:a16="http://schemas.microsoft.com/office/drawing/2014/main" id="{9BD7235F-9E81-4513-8D13-2045069F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73552"/>
            <a:ext cx="3657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chemeClr val="tx2"/>
                </a:solidFill>
              </a:rPr>
              <a:t>Checkpoint selection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>
                <a:solidFill>
                  <a:schemeClr val="tx1"/>
                </a:solidFill>
              </a:rPr>
              <a:t>725 validation rows select checkpoint 424 at epoch 2. The test split stays outside training and selection.</a:t>
            </a:r>
            <a:endParaRPr sz="1400"/>
          </a:p>
        </p:txBody>
      </p:sp>
      <p:sp>
        <p:nvSpPr>
          <p:cNvPr id="8" name="Footnote">
            <a:extLst xmlns:a="http://schemas.openxmlformats.org/drawingml/2006/main">
              <a:ext uri="{FF2B5EF4-FFF2-40B4-BE49-F238E27FC236}">
                <a16:creationId xmlns:a16="http://schemas.microsoft.com/office/drawing/2014/main" id="{5B693A44-ECBA-48F8-8314-42B2339A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6280"/>
            <a:ext cx="7680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chemeClr val="accent5"/>
                </a:solidFill>
              </a:rPr>
              <a:t>PhraseBank: 4,836 clean rows. Train / validation / test: 3,385 / 725 / 726. Seed 42.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174FDB7-D1C0-4FB8-914F-F94E9C7EBD1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F5B6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545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0D59A39-F4E9-4E77-98FC-18FD45FF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chemeClr val="tx2"/>
                </a:solidFill>
              </a:rPr>
              <a:t>Evaluation Results and Comparison</a:t>
            </a:r>
            <a:endParaRPr sz="3400"/>
          </a:p>
        </p:txBody>
      </p:sp>
      <p:sp>
        <p:nvSpPr>
          <p:cNvPr id="3" name="ResultCard1">
            <a:extLst xmlns:a="http://schemas.openxmlformats.org/drawingml/2006/main">
              <a:ext uri="{FF2B5EF4-FFF2-40B4-BE49-F238E27FC236}">
                <a16:creationId xmlns:a16="http://schemas.microsoft.com/office/drawing/2014/main" id="{BD9B5A7C-BF82-42CE-8563-4F31758C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256032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6EAEC"/>
          </a:solidFill>
        </p:spPr>
      </p:sp>
      <p:sp>
        <p:nvSpPr>
          <p:cNvPr id="4" name="ResultName1">
            <a:extLst xmlns:a="http://schemas.openxmlformats.org/drawingml/2006/main">
              <a:ext uri="{FF2B5EF4-FFF2-40B4-BE49-F238E27FC236}">
                <a16:creationId xmlns:a16="http://schemas.microsoft.com/office/drawing/2014/main" id="{A249DB0D-CBB6-46A4-AA86-CF8E6343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6187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4F5B66"/>
                </a:solidFill>
              </a:rPr>
              <a:t>Majority baseline</a:t>
            </a:r>
            <a:endParaRPr sz="1400"/>
          </a:p>
        </p:txBody>
      </p:sp>
      <p:sp>
        <p:nvSpPr>
          <p:cNvPr id="5" name="RougeStat1">
            <a:extLst xmlns:a="http://schemas.openxmlformats.org/drawingml/2006/main">
              <a:ext uri="{FF2B5EF4-FFF2-40B4-BE49-F238E27FC236}">
                <a16:creationId xmlns:a16="http://schemas.microsoft.com/office/drawing/2014/main" id="{C288DE09-AE90-4375-9DA0-FCC677C0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F5B66"/>
                </a:solidFill>
              </a:rPr>
              <a:t>Accuracy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4F5B66"/>
                </a:solidFill>
              </a:rPr>
              <a:t>59.37%</a:t>
            </a:r>
            <a:endParaRPr sz="1100"/>
          </a:p>
        </p:txBody>
      </p:sp>
      <p:sp>
        <p:nvSpPr>
          <p:cNvPr id="6" name="BleuStat1">
            <a:extLst xmlns:a="http://schemas.openxmlformats.org/drawingml/2006/main">
              <a:ext uri="{FF2B5EF4-FFF2-40B4-BE49-F238E27FC236}">
                <a16:creationId xmlns:a16="http://schemas.microsoft.com/office/drawing/2014/main" id="{C5AA5898-F929-408C-8764-82DFCF54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645920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F5B66"/>
                </a:solidFill>
              </a:rPr>
              <a:t>Macro F1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4F5B66"/>
                </a:solidFill>
              </a:rPr>
              <a:t>24.83%</a:t>
            </a:r>
            <a:endParaRPr sz="1100"/>
          </a:p>
        </p:txBody>
      </p:sp>
      <p:sp>
        <p:nvSpPr>
          <p:cNvPr id="7" name="ResultTag1">
            <a:extLst xmlns:a="http://schemas.openxmlformats.org/drawingml/2006/main">
              <a:ext uri="{FF2B5EF4-FFF2-40B4-BE49-F238E27FC236}">
                <a16:creationId xmlns:a16="http://schemas.microsoft.com/office/drawing/2014/main" id="{BDAC90F0-8BE2-4AF9-B0BF-1089A736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219456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ResultTagText1">
            <a:extLst xmlns:a="http://schemas.openxmlformats.org/drawingml/2006/main">
              <a:ext uri="{FF2B5EF4-FFF2-40B4-BE49-F238E27FC236}">
                <a16:creationId xmlns:a16="http://schemas.microsoft.com/office/drawing/2014/main" id="{F303B891-C45F-426D-A551-5BF747DF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2194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B2A2F"/>
                </a:solidFill>
              </a:rPr>
              <a:t>Simple reference</a:t>
            </a:r>
            <a:endParaRPr sz="1100"/>
          </a:p>
        </p:txBody>
      </p:sp>
      <p:sp>
        <p:nvSpPr>
          <p:cNvPr id="9" name="ResultCard2">
            <a:extLst xmlns:a="http://schemas.openxmlformats.org/drawingml/2006/main">
              <a:ext uri="{FF2B5EF4-FFF2-40B4-BE49-F238E27FC236}">
                <a16:creationId xmlns:a16="http://schemas.microsoft.com/office/drawing/2014/main" id="{936EFA49-B8B0-4A9F-AB04-5E33E4ED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143000"/>
            <a:ext cx="256032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10" name="ResultName2">
            <a:extLst xmlns:a="http://schemas.openxmlformats.org/drawingml/2006/main">
              <a:ext uri="{FF2B5EF4-FFF2-40B4-BE49-F238E27FC236}">
                <a16:creationId xmlns:a16="http://schemas.microsoft.com/office/drawing/2014/main" id="{0BC34DC3-1E09-4858-B381-85C27113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26187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>
                <a:solidFill>
                  <a:srgbClr val="0B3C49"/>
                </a:solidFill>
              </a:defRPr>
            </a:defPPr>
            <a:lvl1pPr>
              <a:defRPr>
                <a:solidFill>
                  <a:srgbClr val="0B3C49"/>
                </a:solidFill>
              </a:defRPr>
            </a:lvl1pPr>
            <a:lvl2pPr>
              <a:defRPr>
                <a:solidFill>
                  <a:srgbClr val="0B3C49"/>
                </a:solidFill>
              </a:defRPr>
            </a:lvl2pPr>
            <a:lvl3pPr>
              <a:defRPr>
                <a:solidFill>
                  <a:srgbClr val="0B3C49"/>
                </a:solidFill>
              </a:defRPr>
            </a:lvl3pPr>
            <a:lvl4pPr>
              <a:defRPr>
                <a:solidFill>
                  <a:srgbClr val="0B3C49"/>
                </a:solidFill>
              </a:defRPr>
            </a:lvl4pPr>
            <a:lvl5pPr>
              <a:defRPr>
                <a:solidFill>
                  <a:srgbClr val="0B3C49"/>
                </a:solidFill>
              </a:defRPr>
            </a:lvl5pPr>
            <a:lvl6pPr>
              <a:defRPr>
                <a:solidFill>
                  <a:srgbClr val="0B3C49"/>
                </a:solidFill>
              </a:defRPr>
            </a:lvl6pPr>
            <a:lvl7pPr>
              <a:defRPr>
                <a:solidFill>
                  <a:srgbClr val="0B3C49"/>
                </a:solidFill>
              </a:defRPr>
            </a:lvl7pPr>
            <a:lvl8pPr>
              <a:defRPr>
                <a:solidFill>
                  <a:srgbClr val="0B3C49"/>
                </a:solidFill>
              </a:defRPr>
            </a:lvl8pPr>
            <a:lvl9pPr>
              <a:defRPr>
                <a:solidFill>
                  <a:srgbClr val="0B3C49"/>
                </a:solidFill>
              </a:defRPr>
            </a:lvl9pPr>
          </a:lstStyle>
          <a:p xmlns:a="http://schemas.openxmlformats.org/drawingml/2006/main">
            <a:pPr marL="0" indent="0">
              <a:buNone/>
              <a:defRPr>
                <a:solidFill>
                  <a:srgbClr val="0B3C49"/>
                </a:solidFill>
              </a:defRPr>
            </a:pPr>
            <a:r>
              <a:rPr sz="1400" b="1">
                <a:solidFill>
                  <a:srgbClr val="0B3C49"/>
                </a:solidFill>
              </a:rPr>
              <a:t>Trained TF-IDF + LR</a:t>
            </a:r>
            <a:endParaRPr sz="1400"/>
          </a:p>
        </p:txBody>
      </p:sp>
      <p:sp>
        <p:nvSpPr>
          <p:cNvPr id="11" name="RougeStat2">
            <a:extLst xmlns:a="http://schemas.openxmlformats.org/drawingml/2006/main">
              <a:ext uri="{FF2B5EF4-FFF2-40B4-BE49-F238E27FC236}">
                <a16:creationId xmlns:a16="http://schemas.microsoft.com/office/drawing/2014/main" id="{E64782D4-F2CE-4322-B63A-43E98BA7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45920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>
                <a:solidFill>
                  <a:srgbClr val="0B3C49"/>
                </a:solidFill>
              </a:defRPr>
            </a:defPPr>
            <a:lvl1pPr>
              <a:defRPr>
                <a:solidFill>
                  <a:srgbClr val="0B3C49"/>
                </a:solidFill>
              </a:defRPr>
            </a:lvl1pPr>
            <a:lvl2pPr>
              <a:defRPr>
                <a:solidFill>
                  <a:srgbClr val="0B3C49"/>
                </a:solidFill>
              </a:defRPr>
            </a:lvl2pPr>
            <a:lvl3pPr>
              <a:defRPr>
                <a:solidFill>
                  <a:srgbClr val="0B3C49"/>
                </a:solidFill>
              </a:defRPr>
            </a:lvl3pPr>
            <a:lvl4pPr>
              <a:defRPr>
                <a:solidFill>
                  <a:srgbClr val="0B3C49"/>
                </a:solidFill>
              </a:defRPr>
            </a:lvl4pPr>
            <a:lvl5pPr>
              <a:defRPr>
                <a:solidFill>
                  <a:srgbClr val="0B3C49"/>
                </a:solidFill>
              </a:defRPr>
            </a:lvl5pPr>
            <a:lvl6pPr>
              <a:defRPr>
                <a:solidFill>
                  <a:srgbClr val="0B3C49"/>
                </a:solidFill>
              </a:defRPr>
            </a:lvl6pPr>
            <a:lvl7pPr>
              <a:defRPr>
                <a:solidFill>
                  <a:srgbClr val="0B3C49"/>
                </a:solidFill>
              </a:defRPr>
            </a:lvl7pPr>
            <a:lvl8pPr>
              <a:defRPr>
                <a:solidFill>
                  <a:srgbClr val="0B3C49"/>
                </a:solidFill>
              </a:defRPr>
            </a:lvl8pPr>
            <a:lvl9pPr>
              <a:defRPr>
                <a:solidFill>
                  <a:srgbClr val="0B3C49"/>
                </a:solidFill>
              </a:defRPr>
            </a:lvl9pPr>
          </a:lstStyle>
          <a:p xmlns:a="http://schemas.openxmlformats.org/drawingml/2006/main">
            <a:pPr marL="0" indent="0">
              <a:buNone/>
              <a:defRPr>
                <a:solidFill>
                  <a:srgbClr val="0B3C49"/>
                </a:solidFill>
              </a:defRPr>
            </a:pPr>
            <a:r>
              <a:rPr sz="1100">
                <a:solidFill>
                  <a:srgbClr val="0B3C49"/>
                </a:solidFill>
              </a:rPr>
              <a:t>Accuracy</a:t>
            </a:r>
            <a:endParaRPr sz="1100"/>
          </a:p>
          <a:p xmlns:a="http://schemas.openxmlformats.org/drawingml/2006/main">
            <a:pPr marL="0" indent="0">
              <a:buNone/>
              <a:defRPr>
                <a:solidFill>
                  <a:srgbClr val="0B3C49"/>
                </a:solidFill>
              </a:defRPr>
            </a:pPr>
            <a:r>
              <a:rPr sz="2600" b="1">
                <a:solidFill>
                  <a:srgbClr val="0B3C49"/>
                </a:solidFill>
              </a:rPr>
              <a:t>75.76%</a:t>
            </a:r>
            <a:endParaRPr sz="1100"/>
          </a:p>
        </p:txBody>
      </p:sp>
      <p:sp>
        <p:nvSpPr>
          <p:cNvPr id="12" name="BleuStat2">
            <a:extLst xmlns:a="http://schemas.openxmlformats.org/drawingml/2006/main">
              <a:ext uri="{FF2B5EF4-FFF2-40B4-BE49-F238E27FC236}">
                <a16:creationId xmlns:a16="http://schemas.microsoft.com/office/drawing/2014/main" id="{9DAFD809-8597-446C-9E3F-E180D5A5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>
                <a:solidFill>
                  <a:srgbClr val="0B3C49"/>
                </a:solidFill>
              </a:defRPr>
            </a:defPPr>
            <a:lvl1pPr>
              <a:defRPr>
                <a:solidFill>
                  <a:srgbClr val="0B3C49"/>
                </a:solidFill>
              </a:defRPr>
            </a:lvl1pPr>
            <a:lvl2pPr>
              <a:defRPr>
                <a:solidFill>
                  <a:srgbClr val="0B3C49"/>
                </a:solidFill>
              </a:defRPr>
            </a:lvl2pPr>
            <a:lvl3pPr>
              <a:defRPr>
                <a:solidFill>
                  <a:srgbClr val="0B3C49"/>
                </a:solidFill>
              </a:defRPr>
            </a:lvl3pPr>
            <a:lvl4pPr>
              <a:defRPr>
                <a:solidFill>
                  <a:srgbClr val="0B3C49"/>
                </a:solidFill>
              </a:defRPr>
            </a:lvl4pPr>
            <a:lvl5pPr>
              <a:defRPr>
                <a:solidFill>
                  <a:srgbClr val="0B3C49"/>
                </a:solidFill>
              </a:defRPr>
            </a:lvl5pPr>
            <a:lvl6pPr>
              <a:defRPr>
                <a:solidFill>
                  <a:srgbClr val="0B3C49"/>
                </a:solidFill>
              </a:defRPr>
            </a:lvl6pPr>
            <a:lvl7pPr>
              <a:defRPr>
                <a:solidFill>
                  <a:srgbClr val="0B3C49"/>
                </a:solidFill>
              </a:defRPr>
            </a:lvl7pPr>
            <a:lvl8pPr>
              <a:defRPr>
                <a:solidFill>
                  <a:srgbClr val="0B3C49"/>
                </a:solidFill>
              </a:defRPr>
            </a:lvl8pPr>
            <a:lvl9pPr>
              <a:defRPr>
                <a:solidFill>
                  <a:srgbClr val="0B3C49"/>
                </a:solidFill>
              </a:defRPr>
            </a:lvl9pPr>
          </a:lstStyle>
          <a:p xmlns:a="http://schemas.openxmlformats.org/drawingml/2006/main">
            <a:pPr marL="0" indent="0">
              <a:buNone/>
              <a:defRPr>
                <a:solidFill>
                  <a:srgbClr val="0B3C49"/>
                </a:solidFill>
              </a:defRPr>
            </a:pPr>
            <a:r>
              <a:rPr sz="1100">
                <a:solidFill>
                  <a:srgbClr val="0B3C49"/>
                </a:solidFill>
              </a:rPr>
              <a:t>Macro F1</a:t>
            </a:r>
            <a:endParaRPr sz="1100"/>
          </a:p>
          <a:p xmlns:a="http://schemas.openxmlformats.org/drawingml/2006/main">
            <a:pPr marL="0" indent="0">
              <a:buNone/>
              <a:defRPr>
                <a:solidFill>
                  <a:srgbClr val="0B3C49"/>
                </a:solidFill>
              </a:defRPr>
            </a:pPr>
            <a:r>
              <a:rPr sz="2600" b="1">
                <a:solidFill>
                  <a:srgbClr val="0B3C49"/>
                </a:solidFill>
              </a:rPr>
              <a:t>71.94%</a:t>
            </a:r>
            <a:endParaRPr sz="1100"/>
          </a:p>
        </p:txBody>
      </p:sp>
      <p:sp>
        <p:nvSpPr>
          <p:cNvPr id="13" name="ResultTag2">
            <a:extLst xmlns:a="http://schemas.openxmlformats.org/drawingml/2006/main">
              <a:ext uri="{FF2B5EF4-FFF2-40B4-BE49-F238E27FC236}">
                <a16:creationId xmlns:a16="http://schemas.microsoft.com/office/drawing/2014/main" id="{99233478-38FC-427B-9F48-4FE52539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606040"/>
            <a:ext cx="219456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ResultTagText2">
            <a:extLst xmlns:a="http://schemas.openxmlformats.org/drawingml/2006/main">
              <a:ext uri="{FF2B5EF4-FFF2-40B4-BE49-F238E27FC236}">
                <a16:creationId xmlns:a16="http://schemas.microsoft.com/office/drawing/2014/main" id="{D05A86BA-7957-4B14-B673-F6BB18EA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606040"/>
            <a:ext cx="2194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B3C49"/>
                </a:solidFill>
              </a:rPr>
              <a:t>Conventional baseline</a:t>
            </a:r>
            <a:endParaRPr sz="1100"/>
          </a:p>
        </p:txBody>
      </p:sp>
      <p:sp>
        <p:nvSpPr>
          <p:cNvPr id="15" name="ResultCard3">
            <a:extLst xmlns:a="http://schemas.openxmlformats.org/drawingml/2006/main">
              <a:ext uri="{FF2B5EF4-FFF2-40B4-BE49-F238E27FC236}">
                <a16:creationId xmlns:a16="http://schemas.microsoft.com/office/drawing/2014/main" id="{5B055FDF-F96F-43C2-A988-EDE25ED4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143000"/>
            <a:ext cx="256032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6" name="ResultName3">
            <a:extLst xmlns:a="http://schemas.openxmlformats.org/drawingml/2006/main">
              <a:ext uri="{FF2B5EF4-FFF2-40B4-BE49-F238E27FC236}">
                <a16:creationId xmlns:a16="http://schemas.microsoft.com/office/drawing/2014/main" id="{A3B96F3E-4469-4EC2-A691-D72F77C6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6187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Fine-tuned FinBERT</a:t>
            </a:r>
            <a:endParaRPr sz="1400"/>
          </a:p>
        </p:txBody>
      </p:sp>
      <p:sp>
        <p:nvSpPr>
          <p:cNvPr id="17" name="RougeStat3">
            <a:extLst xmlns:a="http://schemas.openxmlformats.org/drawingml/2006/main">
              <a:ext uri="{FF2B5EF4-FFF2-40B4-BE49-F238E27FC236}">
                <a16:creationId xmlns:a16="http://schemas.microsoft.com/office/drawing/2014/main" id="{07487240-9D1B-4563-92A0-99859804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100">
                <a:solidFill>
                  <a:srgbClr val="FFFFFF"/>
                </a:solidFill>
              </a:rPr>
              <a:t>Accuracy</a:t>
            </a:r>
            <a:endParaRPr sz="1100"/>
          </a:p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2600" b="1">
                <a:solidFill>
                  <a:srgbClr val="FFFFFF"/>
                </a:solidFill>
              </a:rPr>
              <a:t>85.12%</a:t>
            </a:r>
            <a:endParaRPr sz="1100"/>
          </a:p>
        </p:txBody>
      </p:sp>
      <p:sp>
        <p:nvSpPr>
          <p:cNvPr id="18" name="BleuStat3">
            <a:extLst xmlns:a="http://schemas.openxmlformats.org/drawingml/2006/main">
              <a:ext uri="{FF2B5EF4-FFF2-40B4-BE49-F238E27FC236}">
                <a16:creationId xmlns:a16="http://schemas.microsoft.com/office/drawing/2014/main" id="{4CC3AC00-4D8D-496E-8073-8D2BB511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645920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100">
                <a:solidFill>
                  <a:srgbClr val="FFFFFF"/>
                </a:solidFill>
              </a:rPr>
              <a:t>Macro F1</a:t>
            </a:r>
            <a:endParaRPr sz="1100"/>
          </a:p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2600" b="1">
                <a:solidFill>
                  <a:srgbClr val="FFFFFF"/>
                </a:solidFill>
              </a:rPr>
              <a:t>84.46%</a:t>
            </a:r>
            <a:endParaRPr sz="1100"/>
          </a:p>
        </p:txBody>
      </p:sp>
      <p:sp>
        <p:nvSpPr>
          <p:cNvPr id="19" name="ResultTag3">
            <a:extLst xmlns:a="http://schemas.openxmlformats.org/drawingml/2006/main">
              <a:ext uri="{FF2B5EF4-FFF2-40B4-BE49-F238E27FC236}">
                <a16:creationId xmlns:a16="http://schemas.microsoft.com/office/drawing/2014/main" id="{4CF5060E-5728-4975-9DA8-6C11B5CF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06040"/>
            <a:ext cx="219456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ResultTagText3">
            <a:extLst xmlns:a="http://schemas.openxmlformats.org/drawingml/2006/main">
              <a:ext uri="{FF2B5EF4-FFF2-40B4-BE49-F238E27FC236}">
                <a16:creationId xmlns:a16="http://schemas.microsoft.com/office/drawing/2014/main" id="{CD9AFFBA-B713-42B8-B36E-437B9636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06040"/>
            <a:ext cx="2194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B3C49"/>
                </a:solidFill>
              </a:rPr>
              <a:t>Selected checkpoint</a:t>
            </a:r>
            <a:endParaRPr sz="1100"/>
          </a:p>
        </p:txBody>
      </p:sp>
      <p:sp>
        <p:nvSpPr>
          <p:cNvPr id="2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9B9067B4-54B7-41A5-8DE8-AEE83085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8229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400" b="1">
                <a:solidFill>
                  <a:schemeClr val="tx1"/>
                </a:solidFill>
              </a:rPr>
              <a:t>Test split:</a:t>
            </a:r>
            <a:r>
              <a:rPr sz="1400" b="1">
                <a:solidFill>
                  <a:schemeClr val="tx1"/>
                </a:solidFill>
              </a:rPr>
              <a:t> </a:t>
            </a:r>
            <a:r>
              <a:rPr sz="1400">
                <a:solidFill>
                  <a:schemeClr val="tx1"/>
                </a:solidFill>
              </a:rPr>
              <a:t>726 sentences, excluded from training and checkpoint selection.</a:t>
            </a:r>
            <a:endParaRPr sz="14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400" b="1">
                <a:solidFill>
                  <a:schemeClr val="tx1"/>
                </a:solidFill>
              </a:rPr>
              <a:t>Fine-tuned gain:</a:t>
            </a:r>
            <a:r>
              <a:rPr sz="1400" b="1">
                <a:solidFill>
                  <a:schemeClr val="tx1"/>
                </a:solidFill>
              </a:rPr>
              <a:t> </a:t>
            </a:r>
            <a:r>
              <a:rPr sz="1400">
                <a:solidFill>
                  <a:schemeClr val="tx1"/>
                </a:solidFill>
              </a:rPr>
              <a:t>+9.37 percentage points accuracy and +12.52 points macro F1 over TF-IDF.</a:t>
            </a:r>
            <a:endParaRPr sz="14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400" b="1">
                <a:solidFill>
                  <a:schemeClr val="tx1"/>
                </a:solidFill>
              </a:rPr>
              <a:t>Separate reference:</a:t>
            </a:r>
            <a:r>
              <a:rPr sz="1400" b="1">
                <a:solidFill>
                  <a:schemeClr val="tx1"/>
                </a:solidFill>
              </a:rPr>
              <a:t> </a:t>
            </a:r>
            <a:r>
              <a:rPr sz="1400">
                <a:solidFill>
                  <a:schemeClr val="tx1"/>
                </a:solidFill>
              </a:rPr>
              <a:t>Prosus scores 88.15% / 87.51% with prior PhraseBank training. This is not a fair benchmark.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54F823E-8B66-4354-A1A5-EC52577B4C0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F5B6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02015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AEDE63-4D62-48BD-8256-F8406146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chemeClr val="tx2"/>
                </a:solidFill>
              </a:rPr>
              <a:t>Fine-Tuning and Checkpoint Selection</a:t>
            </a:r>
            <a:endParaRPr sz="3400"/>
          </a:p>
        </p:txBody>
      </p:sp>
      <p:graphicFrame>
        <p:nvGraphicFramePr>
          <p:cNvPr id="6" name="OutputComparisonTable">
            <a:extLst xmlns:a="http://schemas.openxmlformats.org/drawingml/2006/main">
              <a:ext uri="{FF2B5EF4-FFF2-40B4-BE49-F238E27FC236}">
                <a16:creationId xmlns:a16="http://schemas.microsoft.com/office/drawing/2014/main" id="{AE6C3272-CFF5-48D0-A8DC-FF4B1C3EBC28}"/>
              </a:ext>
            </a:extLst>
          </p:cNvPr>
          <p:cNvGraphicFramePr/>
          <p:nvPr/>
        </p:nvGraphicFramePr>
        <p:xfrm>
          <a:off xmlns:a="http://schemas.openxmlformats.org/drawingml/2006/main" x="457200" y="109728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2743200"/>
                <a:gridCol w="329184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Stage / setting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Recorded value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 / outcome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Epoch 1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81.40% validation macro F1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Optimizer step 212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Epoch 2 (selected)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81.92% validation macro F1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Optimizer step 424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Epoch 3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81.87% validation macro F1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Optimizer step 636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Full fine-tuning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109.75M trainable parameters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BERT encoder and classifier updated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Compute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Tesla T4, about 7 min 50 sec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636 optimizer steps across 3 epochs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KeyObservationCard">
            <a:extLst xmlns:a="http://schemas.openxmlformats.org/drawingml/2006/main">
              <a:ext uri="{FF2B5EF4-FFF2-40B4-BE49-F238E27FC236}">
                <a16:creationId xmlns:a16="http://schemas.microsoft.com/office/drawing/2014/main" id="{8095CE7B-5010-4EC5-99DE-03E06014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8229600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5" name="KeyObservation">
            <a:extLst xmlns:a="http://schemas.openxmlformats.org/drawingml/2006/main">
              <a:ext uri="{FF2B5EF4-FFF2-40B4-BE49-F238E27FC236}">
                <a16:creationId xmlns:a16="http://schemas.microsoft.com/office/drawing/2014/main" id="{1E2BE7BE-31C2-4639-8A81-BADBF3AD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9040"/>
            <a:ext cx="7772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2"/>
                </a:solidFill>
              </a:rPr>
              <a:t>Key observation: </a:t>
            </a:r>
            <a:r>
              <a:rPr sz="1400">
                <a:solidFill>
                  <a:schemeClr val="tx1"/>
                </a:solidFill>
              </a:rPr>
              <a:t>validation macro F1 peaks at epoch 2. We restore checkpoint 424 before testing. Results describe one seeded split, so broader generalization needs independent examples.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68507A3-714C-46D6-8920-88EC94AB265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F5B6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06982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4B079D9-BFC2-4135-A706-57F3968B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chemeClr val="bg1"/>
                </a:solidFill>
              </a:rPr>
              <a:t>Conclusion and Unit Mapping</a:t>
            </a:r>
            <a:endParaRPr sz="3400"/>
          </a:p>
        </p:txBody>
      </p:sp>
      <p:sp>
        <p:nvSpPr>
          <p:cNvPr id="3" name="ConceptsPanel">
            <a:extLst xmlns:a="http://schemas.openxmlformats.org/drawingml/2006/main">
              <a:ext uri="{FF2B5EF4-FFF2-40B4-BE49-F238E27FC236}">
                <a16:creationId xmlns:a16="http://schemas.microsoft.com/office/drawing/2014/main" id="{2C3669C7-A1BB-4327-B5AF-E6EFE581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566160" cy="352044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chemeClr val="bg1">
              <a:alpha val="12000"/>
            </a:schemeClr>
          </a:solidFill>
        </p:spPr>
      </p:sp>
      <p:sp>
        <p:nvSpPr>
          <p:cNvPr id="4" name="ConceptsText">
            <a:extLst xmlns:a="http://schemas.openxmlformats.org/drawingml/2006/main">
              <a:ext uri="{FF2B5EF4-FFF2-40B4-BE49-F238E27FC236}">
                <a16:creationId xmlns:a16="http://schemas.microsoft.com/office/drawing/2014/main" id="{43E41AB4-5F8C-4F9B-A8E4-E41261CC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0160"/>
            <a:ext cx="3154680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600" b="1">
                <a:solidFill>
                  <a:schemeClr val="accent2"/>
                </a:solidFill>
              </a:rPr>
              <a:t>Concepts demonstrated</a:t>
            </a:r>
            <a:endParaRPr sz="16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chemeClr val="bg1"/>
                </a:solidFill>
              </a:rPr>
              <a:t>Transformer encoder architecture and self-attention</a:t>
            </a:r>
            <a:endParaRPr sz="16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chemeClr val="bg1"/>
                </a:solidFill>
              </a:rPr>
              <a:t>WordPiece tokenization and input preparation</a:t>
            </a:r>
            <a:endParaRPr sz="16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chemeClr val="bg1"/>
                </a:solidFill>
              </a:rPr>
              <a:t>Full supervised fine-tuning of a pretrained BERT</a:t>
            </a:r>
            <a:endParaRPr sz="16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chemeClr val="bg1"/>
                </a:solidFill>
              </a:rPr>
              <a:t>Accuracy, macro F1 and confusion matrices</a:t>
            </a:r>
            <a:endParaRPr sz="16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chemeClr val="bg1"/>
                </a:solidFill>
              </a:rPr>
              <a:t>Streamlit integration for text and CSV analysis</a:t>
            </a:r>
            <a:endParaRPr sz="1600"/>
          </a:p>
        </p:txBody>
      </p:sp>
      <p:sp>
        <p:nvSpPr>
          <p:cNvPr id="5" name="ConclusionPanel">
            <a:extLst xmlns:a="http://schemas.openxmlformats.org/drawingml/2006/main">
              <a:ext uri="{FF2B5EF4-FFF2-40B4-BE49-F238E27FC236}">
                <a16:creationId xmlns:a16="http://schemas.microsoft.com/office/drawing/2014/main" id="{90821742-C6AF-4947-8154-DAC5BA0A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143000"/>
            <a:ext cx="4480560" cy="201168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chemeClr val="bg1">
              <a:alpha val="12000"/>
            </a:schemeClr>
          </a:solidFill>
        </p:spPr>
      </p:sp>
      <p:sp>
        <p:nvSpPr>
          <p:cNvPr id="6" name="ConclusionText">
            <a:extLst xmlns:a="http://schemas.openxmlformats.org/drawingml/2006/main">
              <a:ext uri="{FF2B5EF4-FFF2-40B4-BE49-F238E27FC236}">
                <a16:creationId xmlns:a16="http://schemas.microsoft.com/office/drawing/2014/main" id="{1EDE2FE1-850D-4001-BF57-9CD329C3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261872"/>
            <a:ext cx="4114800" cy="1783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chemeClr val="accent2"/>
                </a:solidFill>
              </a:rPr>
              <a:t>Conclusion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Fine-tuned FinBERT reaches 85.12% accuracy and 84.46% macro F1 on 726 test sentences. It improves accuracy by 9.37 percentage points over TF-IDF on the same split.</a:t>
            </a:r>
            <a:endParaRPr sz="1600"/>
          </a:p>
        </p:txBody>
      </p:sp>
      <p:sp>
        <p:nvSpPr>
          <p:cNvPr id="7" name="FuturePanel">
            <a:extLst xmlns:a="http://schemas.openxmlformats.org/drawingml/2006/main">
              <a:ext uri="{FF2B5EF4-FFF2-40B4-BE49-F238E27FC236}">
                <a16:creationId xmlns:a16="http://schemas.microsoft.com/office/drawing/2014/main" id="{D9418098-43A4-4C16-8E7C-132148DA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291840"/>
            <a:ext cx="4480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chemeClr val="bg1">
              <a:alpha val="12000"/>
            </a:schemeClr>
          </a:solidFill>
        </p:spPr>
      </p:sp>
      <p:sp>
        <p:nvSpPr>
          <p:cNvPr id="8" name="FutureText">
            <a:extLst xmlns:a="http://schemas.openxmlformats.org/drawingml/2006/main">
              <a:ext uri="{FF2B5EF4-FFF2-40B4-BE49-F238E27FC236}">
                <a16:creationId xmlns:a16="http://schemas.microsoft.com/office/drawing/2014/main" id="{5B3CEB23-8CC2-4DD7-925F-88694D0D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383280"/>
            <a:ext cx="41148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chemeClr val="accent3"/>
                </a:solidFill>
              </a:rPr>
              <a:t>Future scope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Evaluate new human-reviewed sentences. Study mixed sentiment and score calibration.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  <a:hlinkClick xmlns:r="http://schemas.openxmlformats.org/officeDocument/2006/relationships" r:id="Rd7eb7943bddf45b3"/>
              </a:rPr>
              <a:t>Live demo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46448B3-58CF-43E1-BE00-771CC3235CF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B8D4D8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9526348"/>
      </p:ext>
    </p:extLst>
  </p:cSld>
</p:sld>
</file>

<file path=ppt/theme/theme1.xml><?xml version="1.0" encoding="utf-8"?>
<a:theme xmlns:a="http://schemas.openxmlformats.org/drawingml/2006/main" name="CodeDoc Teal">
  <a:themeElements>
    <a:clrScheme name="CodeDoc Teal">
      <a:dk1>
        <a:srgbClr val="1B2A2F"/>
      </a:dk1>
      <a:lt1>
        <a:srgbClr val="FFFFFF"/>
      </a:lt1>
      <a:dk2>
        <a:srgbClr val="0B3C49"/>
      </a:dk2>
      <a:lt2>
        <a:srgbClr val="EAF4F4"/>
      </a:lt2>
      <a:accent1>
        <a:srgbClr val="028090"/>
      </a:accent1>
      <a:accent2>
        <a:srgbClr val="02C39A"/>
      </a:accent2>
      <a:accent3>
        <a:srgbClr val="F2A541"/>
      </a:accent3>
      <a:accent4>
        <a:srgbClr val="C8553D"/>
      </a:accent4>
      <a:accent5>
        <a:srgbClr val="4F5B66"/>
      </a:accent5>
      <a:accent6>
        <a:srgbClr val="00A896"/>
      </a:accent6>
      <a:hlink>
        <a:srgbClr val="028090"/>
      </a:hlink>
      <a:folHlink>
        <a:srgbClr val="4F5B66"/>
      </a:folHlink>
    </a:clrScheme>
    <a:fontScheme name="CodeDoc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deDoc Te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2026-10-29T09:09:18.0180000Z</dcterms:created>
  <dcterms:modified xsi:type="dcterms:W3CDTF">2026-10-29T09:09:18.0180000Z</dcterms:modified>
</coreProperties>
</file>